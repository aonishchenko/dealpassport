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4cb973145f4a0a" /><Relationship Type="http://schemas.openxmlformats.org/officeDocument/2006/relationships/extended-properties" Target="/docProps/app.xml" Id="R33e2e6ea905e41b2" /><Relationship Type="http://schemas.openxmlformats.org/officeDocument/2006/relationships/officeDocument" Target="/ppt/presentation.xml" Id="R59fd3a937dc743a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89618db76314ed1"/>
  </p:sldMasterIdLst>
  <p:notesMasterIdLst>
    <p:notesMasterId xmlns:r="http://schemas.openxmlformats.org/officeDocument/2006/relationships" r:id="R972ba58d72ff4a52"/>
  </p:notesMasterIdLst>
  <p:sldIdLst>
    <p:sldId xmlns:r="http://schemas.openxmlformats.org/officeDocument/2006/relationships" id="256" r:id="Reec5399dcd62493b"/>
    <p:sldId xmlns:r="http://schemas.openxmlformats.org/officeDocument/2006/relationships" id="257" r:id="R859f34def3074cdf"/>
    <p:sldId xmlns:r="http://schemas.openxmlformats.org/officeDocument/2006/relationships" id="258" r:id="Rffd79663ab5b458a"/>
    <p:sldId xmlns:r="http://schemas.openxmlformats.org/officeDocument/2006/relationships" id="259" r:id="R7b5035e4e64e463f"/>
    <p:sldId xmlns:r="http://schemas.openxmlformats.org/officeDocument/2006/relationships" id="260" r:id="R09e1db3d580f4f41"/>
    <p:sldId xmlns:r="http://schemas.openxmlformats.org/officeDocument/2006/relationships" id="261" r:id="R10c2fafe9f09477c"/>
    <p:sldId xmlns:r="http://schemas.openxmlformats.org/officeDocument/2006/relationships" id="262" r:id="R4ead297771d14eac"/>
  </p:sldIdLst>
  <p:sldSz cx="18288000" cy="10287000"/>
  <p:notesSz cx="6858000" cy="9144000"/>
  <p:embeddedFontLst>
    <p:embeddedFont>
      <p:font typeface="Instrument Sans"/>
      <p:regular xmlns:r="http://schemas.openxmlformats.org/officeDocument/2006/relationships" r:id="Rfa6eb84b7ab74dde"/>
      <p:bold xmlns:r="http://schemas.openxmlformats.org/officeDocument/2006/relationships" r:id="R94b462dacbc745ef"/>
      <p:italic xmlns:r="http://schemas.openxmlformats.org/officeDocument/2006/relationships" r:id="R5016ebdc1daf4942"/>
      <p:boldItalic xmlns:r="http://schemas.openxmlformats.org/officeDocument/2006/relationships" r:id="R9b816164085a4c22"/>
    </p:embeddedFont>
    <p:embeddedFont>
      <p:font typeface="Inter Tight"/>
      <p:regular xmlns:r="http://schemas.openxmlformats.org/officeDocument/2006/relationships" r:id="Rb328b005b8b346be"/>
      <p:bold xmlns:r="http://schemas.openxmlformats.org/officeDocument/2006/relationships" r:id="R1d8a739af2fa4037"/>
      <p:italic xmlns:r="http://schemas.openxmlformats.org/officeDocument/2006/relationships" r:id="Rb2735492ff28499c"/>
      <p:boldItalic xmlns:r="http://schemas.openxmlformats.org/officeDocument/2006/relationships" r:id="Rda6905047cec45d9"/>
    </p:embeddedFont>
    <p:embeddedFont>
      <p:font typeface="JetBrains Mono"/>
      <p:regular xmlns:r="http://schemas.openxmlformats.org/officeDocument/2006/relationships" r:id="Rb7c877a993d5435b"/>
      <p:bold xmlns:r="http://schemas.openxmlformats.org/officeDocument/2006/relationships" r:id="Rabf23001e0654acf"/>
      <p:italic xmlns:r="http://schemas.openxmlformats.org/officeDocument/2006/relationships" r:id="R6fa4a43e7a5c416c"/>
      <p:boldItalic xmlns:r="http://schemas.openxmlformats.org/officeDocument/2006/relationships" r:id="R6e81a2b9812144be"/>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be586f95954f4ada" /><Relationship Type="http://schemas.openxmlformats.org/officeDocument/2006/relationships/slideMaster" Target="/ppt/slideMasters/slideMaster1.xml" Id="Ra89618db76314ed1" /><Relationship Type="http://schemas.openxmlformats.org/officeDocument/2006/relationships/notesMaster" Target="/ppt/notesMasters/notesMaster1.xml" Id="R972ba58d72ff4a52" /><Relationship Type="http://schemas.openxmlformats.org/officeDocument/2006/relationships/presProps" Target="/ppt/presProps.xml" Id="Rf8e84f425526412a" /><Relationship Type="http://schemas.openxmlformats.org/officeDocument/2006/relationships/viewProps" Target="/ppt/viewProps.xml" Id="R2f326dbab4a449fb" /><Relationship Type="http://schemas.openxmlformats.org/officeDocument/2006/relationships/tableStyles" Target="/ppt/tableStyles.xml" Id="R0ac1f7c578a54f9a" /><Relationship Type="http://schemas.openxmlformats.org/officeDocument/2006/relationships/font" Target="/ppt/fonts/font.dat" Id="Rfa6eb84b7ab74dde" /><Relationship Type="http://schemas.openxmlformats.org/officeDocument/2006/relationships/font" Target="/ppt/fonts/font2.dat" Id="R94b462dacbc745ef" /><Relationship Type="http://schemas.openxmlformats.org/officeDocument/2006/relationships/font" Target="/ppt/fonts/font3.dat" Id="R5016ebdc1daf4942" /><Relationship Type="http://schemas.openxmlformats.org/officeDocument/2006/relationships/font" Target="/ppt/fonts/font4.dat" Id="R9b816164085a4c22" /><Relationship Type="http://schemas.openxmlformats.org/officeDocument/2006/relationships/font" Target="/ppt/fonts/font5.dat" Id="Rb328b005b8b346be" /><Relationship Type="http://schemas.openxmlformats.org/officeDocument/2006/relationships/font" Target="/ppt/fonts/font6.dat" Id="R1d8a739af2fa4037" /><Relationship Type="http://schemas.openxmlformats.org/officeDocument/2006/relationships/font" Target="/ppt/fonts/font7.dat" Id="Rb2735492ff28499c" /><Relationship Type="http://schemas.openxmlformats.org/officeDocument/2006/relationships/font" Target="/ppt/fonts/font8.dat" Id="Rda6905047cec45d9" /><Relationship Type="http://schemas.openxmlformats.org/officeDocument/2006/relationships/font" Target="/ppt/fonts/font9.dat" Id="Rb7c877a993d5435b" /><Relationship Type="http://schemas.openxmlformats.org/officeDocument/2006/relationships/font" Target="/ppt/fonts/font10.dat" Id="Rabf23001e0654acf" /><Relationship Type="http://schemas.openxmlformats.org/officeDocument/2006/relationships/font" Target="/ppt/fonts/font11.dat" Id="R6fa4a43e7a5c416c" /><Relationship Type="http://schemas.openxmlformats.org/officeDocument/2006/relationships/font" Target="/ppt/fonts/font12.dat" Id="R6e81a2b9812144be" /><Relationship Type="http://schemas.openxmlformats.org/officeDocument/2006/relationships/slide" Target="/ppt/slides/slide1.xml" Id="Reec5399dcd62493b" /><Relationship Type="http://schemas.openxmlformats.org/officeDocument/2006/relationships/slide" Target="/ppt/slides/slide2.xml" Id="R859f34def3074cdf" /><Relationship Type="http://schemas.openxmlformats.org/officeDocument/2006/relationships/slide" Target="/ppt/slides/slide3.xml" Id="Rffd79663ab5b458a" /><Relationship Type="http://schemas.openxmlformats.org/officeDocument/2006/relationships/slide" Target="/ppt/slides/slide4.xml" Id="R7b5035e4e64e463f" /><Relationship Type="http://schemas.openxmlformats.org/officeDocument/2006/relationships/slide" Target="/ppt/slides/slide5.xml" Id="R09e1db3d580f4f41" /><Relationship Type="http://schemas.openxmlformats.org/officeDocument/2006/relationships/slide" Target="/ppt/slides/slide6.xml" Id="R10c2fafe9f09477c" /><Relationship Type="http://schemas.openxmlformats.org/officeDocument/2006/relationships/slide" Target="/ppt/slides/slide7.xml" Id="R4ead297771d14e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56e322c98d46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66b913067f4e3b" /><Relationship Type="http://schemas.openxmlformats.org/officeDocument/2006/relationships/notesMaster" Target="/ppt/notesMasters/notesMaster1.xml" Id="R31cc606ebda84d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375afbf68b45bd" /><Relationship Type="http://schemas.openxmlformats.org/officeDocument/2006/relationships/notesMaster" Target="/ppt/notesMasters/notesMaster1.xml" Id="R26b26ec8bef74d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0c2d6b988043aa" /><Relationship Type="http://schemas.openxmlformats.org/officeDocument/2006/relationships/notesMaster" Target="/ppt/notesMasters/notesMaster1.xml" Id="R4b7ada7ec1db4c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b875c4ab934c1e" /><Relationship Type="http://schemas.openxmlformats.org/officeDocument/2006/relationships/notesMaster" Target="/ppt/notesMasters/notesMaster1.xml" Id="R08638e6b7d5e42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44a4bee43b4c80" /><Relationship Type="http://schemas.openxmlformats.org/officeDocument/2006/relationships/notesMaster" Target="/ppt/notesMasters/notesMaster1.xml" Id="R89b2321adaf34b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ca034c2ff84c61" /><Relationship Type="http://schemas.openxmlformats.org/officeDocument/2006/relationships/notesMaster" Target="/ppt/notesMasters/notesMaster1.xml" Id="Rb261f3103f6146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b40c13017d433f" /><Relationship Type="http://schemas.openxmlformats.org/officeDocument/2006/relationships/notesMaster" Target="/ppt/notesMasters/notesMaster1.xml" Id="Re4a0c116b5bc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 EasyAI / Oleksiy Onishchenko, solo builder. Live demo: https://dealpassport.aonishchenko33.workers.dev. Repository: https://github.com/aonishchenko/dealpassport.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 pre-event Deal Passport code, designs or assets. Third-party tools and educational verifier are attributed in docs/THIRD_PARTY.md. Original work retains its root license; dependencies retain their respective licenses.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seller requires €750,000. A synthetic financial issuer certifies a private €900,000 credential. The browser proves issuer membership and the threshold without placing the balance or witness onchain. The authorized property issuer attests AUTHORIZED_TO_MARKET for this deal, which does not assert ownership, title or planning approval. Both consents and fresh qualification checks are necessary before the Worker returns the synthetic dossier.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Target customers: licensed Portuguese brokers and off-market property platforms. Price hypothesis selected by Oleksiy: €89 per month OR per-verification fees, as alternatives. Per-verification price, demand and willingness to pay remain unvalidated. No paying customers, secured pilot, measured savings or revenue are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home sales totaling €41.2 billion in 2025. All home sales are market context, not Deal Passport TAM. Source: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Comparison of adjacent published offers with the implemented synthetic MVP; not an exhaustive market search or worldwide novelty proof.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reviewed 25–26 October 2026: https://realopen.com/get-started — free crypto proof-of-funds letter discloses the verified balance; https://integralayer.com/ — Asset Passport enriched with data and external attestors; https://www.merkao.io/ — counterparty verification, NDAs, data rooms and vendor-reported 250+ verified professionals. These signals support interest in the surrounding category; they do not validate Deal Passport demand, uniqueness, willingness to pay or revenue. See docs/COMPETITOR_CONTEXT.md.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Live demo: https://dealpassport.aonishchenko33.workers.dev. React/TypeScript interface, browser snarkjs Groth16 prover, Circom circuit, Rust/Soroban BN254 contracts, Cloudflare Worker and D1. Proof generation and initial Testnet transactions can take longer on other devices or networks.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continuation. Planned production architecture based on Deal_Passport_HackMeridian_Build_Spec.md and docs/PRODUCTION_ARCHITECTURE.md. Oleksiy requested one technology per purpose and nested boxes for the functional sections. Selected for the architecture: Didit for identity workflows, Reclaim for verifiable financial source evidence, Predial Online for Portuguese property records, ACTA for credential infrastructure, and Rust/Arkworks compiled to WebAssembly for local Groth16/BN254 proving. These are design choices for post-MVP implementation, not claims of connected services or commercial partnerships. Reclaim source coverage must be validated against the chosen financial portal. Predial Online supplies registry evidence for a qualified reviewer; no automated seller-authority API is implied. ACTA integration must preserve the issuer-bound eligibility relation. Arkworks browser/Soroban compatibility and final licensing require verification before implementation is complete.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React is one interface block. Cloudflare Workers hosts buyer verification, seller verification and deal access with D1 metadata and encrypted documents in R2. Inner boxes identify logical responsibilities, not separate deployments. Identity alone does not establish marketing authority. Private proving executes on the user's device. Stellar Mainnet/Soroban checks credential roots, revocation, proof validity, qualification and consent. The API reads current policy before document disclosure. User wallets authorize transactions; issuer keys need managed rotation and access control. Production renewal allows a new valid proof for the same deal under a versioned replay policy.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Primary references checked 26 October 2026: https://docs.didit.me/ ; https://docs.reclaimprotocol.org/ ; https://www.predialonline.pt/PredialOnline/ ; https://acta.build/ ; https://github.com/arkworks-rs/groth16 ; https://developers.stellar.org/docs/build/apps/zk . This slide describes the intended production system. The preceding workflow slide describes the implemented Testnet product. Production integrations, security review and proving migration remain post-MVP.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EasyAI / Oleksiy Onishchenko, solo participant. Worked out the idea, designed the architecture and implemented the Testnet MVP and demo. Oleksiy performs reviews, corrections and submission. CV-supplied background: 25+ years in software, fintech/cloud systems, solo production marketplaces, former 3Commas Engineering Manager and OpenCascade R&amp;D Engineering Director. Personal contact details omitted. AI tooling: ChatGPT for planning and specification, Codex for engineering, debugging, verification and presentation/demo materials.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SVG illustrations were authored for this update. PNG versions are deterministic renders; no stock photos or generated real-property imagery are presented as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0d56411b5d4a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9c87bc0b494c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5ea75b65774a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62d90fe86b4d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8ed3dceaef45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9c9757f361435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bc419513ce247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26d8f526b294cc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7f36466a1cf4c6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c9fb9efa96f4bb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d5a1ff17fe94244"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735c8e7ea04aca" /><Relationship Type="http://schemas.openxmlformats.org/officeDocument/2006/relationships/slideLayout" Target="/ppt/slideLayouts/slideLayout1.xml" Id="Re2d4c5db47074ab6" /><Relationship Type="http://schemas.openxmlformats.org/officeDocument/2006/relationships/slideLayout" Target="/ppt/slideLayouts/slideLayout2.xml" Id="R5ad2784d5039413f" /><Relationship Type="http://schemas.openxmlformats.org/officeDocument/2006/relationships/slideLayout" Target="/ppt/slideLayouts/slideLayout3.xml" Id="R55d36549c69a4777" /><Relationship Type="http://schemas.openxmlformats.org/officeDocument/2006/relationships/slideLayout" Target="/ppt/slideLayouts/slideLayout4.xml" Id="R5855c98fe3b544a3" /><Relationship Type="http://schemas.openxmlformats.org/officeDocument/2006/relationships/slideLayout" Target="/ppt/slideLayouts/slideLayout5.xml" Id="Rfe665c648af14d66" /><Relationship Type="http://schemas.openxmlformats.org/officeDocument/2006/relationships/slideLayout" Target="/ppt/slideLayouts/slideLayout6.xml" Id="Rcc06f011a29940a5" /><Relationship Type="http://schemas.openxmlformats.org/officeDocument/2006/relationships/slideLayout" Target="/ppt/slideLayouts/slideLayout7.xml" Id="R0f4a2ded0e924d85" /><Relationship Type="http://schemas.openxmlformats.org/officeDocument/2006/relationships/slideLayout" Target="/ppt/slideLayouts/slideLayout8.xml" Id="R223e36afed4b4bc3" /><Relationship Type="http://schemas.openxmlformats.org/officeDocument/2006/relationships/slideLayout" Target="/ppt/slideLayouts/slideLayout9.xml" Id="Rc0ae4709001d4cf4" /><Relationship Type="http://schemas.openxmlformats.org/officeDocument/2006/relationships/slideLayout" Target="/ppt/slideLayouts/slideLayout10.xml" Id="Rf453d0930fec45d4" /><Relationship Type="http://schemas.openxmlformats.org/officeDocument/2006/relationships/slideLayout" Target="/ppt/slideLayouts/slideLayout11.xml" Id="R61031535a2464ba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2d4c5db47074ab6"/>
    <p:sldLayoutId xmlns:r="http://schemas.openxmlformats.org/officeDocument/2006/relationships" id="2147483650" r:id="R5ad2784d5039413f"/>
    <p:sldLayoutId xmlns:r="http://schemas.openxmlformats.org/officeDocument/2006/relationships" id="2147483651" r:id="R55d36549c69a4777"/>
    <p:sldLayoutId xmlns:r="http://schemas.openxmlformats.org/officeDocument/2006/relationships" id="2147483652" r:id="R5855c98fe3b544a3"/>
    <p:sldLayoutId xmlns:r="http://schemas.openxmlformats.org/officeDocument/2006/relationships" id="2147483653" r:id="Rfe665c648af14d66"/>
    <p:sldLayoutId xmlns:r="http://schemas.openxmlformats.org/officeDocument/2006/relationships" id="2147483654" r:id="Rcc06f011a29940a5"/>
    <p:sldLayoutId xmlns:r="http://schemas.openxmlformats.org/officeDocument/2006/relationships" id="2147483655" r:id="R0f4a2ded0e924d85"/>
    <p:sldLayoutId xmlns:r="http://schemas.openxmlformats.org/officeDocument/2006/relationships" id="2147483656" r:id="R223e36afed4b4bc3"/>
    <p:sldLayoutId xmlns:r="http://schemas.openxmlformats.org/officeDocument/2006/relationships" id="2147483657" r:id="Rc0ae4709001d4cf4"/>
    <p:sldLayoutId xmlns:r="http://schemas.openxmlformats.org/officeDocument/2006/relationships" id="2147483658" r:id="Rf453d0930fec45d4"/>
    <p:sldLayoutId xmlns:r="http://schemas.openxmlformats.org/officeDocument/2006/relationships" id="2147483659" r:id="R61031535a2464ba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be87205a5048e5" /><Relationship Type="http://schemas.openxmlformats.org/officeDocument/2006/relationships/image" Target="/ppt/media/image.png" Id="R504a9f2b49824254" /><Relationship Type="http://schemas.openxmlformats.org/officeDocument/2006/relationships/image" Target="/ppt/media/image2.png" Id="R9102a37b2af249a7" /><Relationship Type="http://schemas.openxmlformats.org/officeDocument/2006/relationships/image" Target="/ppt/media/image3.png" Id="R393634d3dc874869" /><Relationship Type="http://schemas.openxmlformats.org/officeDocument/2006/relationships/image" Target="/ppt/media/image4.png" Id="R1fd3bbe096964221" /><Relationship Type="http://schemas.openxmlformats.org/officeDocument/2006/relationships/notesSlide" Target="/ppt/notesSlides/notesSlide1.xml" Id="R1803ccf58e5c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798374c59a4fe3" /><Relationship Type="http://schemas.openxmlformats.org/officeDocument/2006/relationships/image" Target="/ppt/media/image5.png" Id="Rfe395c7913b940f0" /><Relationship Type="http://schemas.openxmlformats.org/officeDocument/2006/relationships/image" Target="/ppt/media/image6.png" Id="R8768b893588340fe" /><Relationship Type="http://schemas.openxmlformats.org/officeDocument/2006/relationships/notesSlide" Target="/ppt/notesSlides/notesSlide2.xml" Id="Rf2413e6d630641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36a04c41464522" /><Relationship Type="http://schemas.openxmlformats.org/officeDocument/2006/relationships/image" Target="/ppt/media/image5.png" Id="Rdbb3a23629174106" /><Relationship Type="http://schemas.openxmlformats.org/officeDocument/2006/relationships/image" Target="/ppt/media/image7.png" Id="Rd0e33872aa4b4eb0" /><Relationship Type="http://schemas.openxmlformats.org/officeDocument/2006/relationships/notesSlide" Target="/ppt/notesSlides/notesSlide3.xml" Id="R4adfedbc955647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a1bcfec7934010" /><Relationship Type="http://schemas.openxmlformats.org/officeDocument/2006/relationships/image" Target="/ppt/media/image5.png" Id="Rf500a5b519294798" /><Relationship Type="http://schemas.openxmlformats.org/officeDocument/2006/relationships/image" Target="/ppt/media/image8.png" Id="Rb4640c381d004a4a" /><Relationship Type="http://schemas.openxmlformats.org/officeDocument/2006/relationships/image" Target="/ppt/media/image9.png" Id="Rd6b3beb180a8471e" /><Relationship Type="http://schemas.openxmlformats.org/officeDocument/2006/relationships/notesSlide" Target="/ppt/notesSlides/notesSlide4.xml" Id="R9d3e590fed3f45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54ae23cfc84d0f" /><Relationship Type="http://schemas.openxmlformats.org/officeDocument/2006/relationships/image" Target="/ppt/media/image5.png" Id="R9a6276d3966b4c7d" /><Relationship Type="http://schemas.openxmlformats.org/officeDocument/2006/relationships/image" Target="/ppt/media/image10.png" Id="R9253bf348e43441e" /><Relationship Type="http://schemas.openxmlformats.org/officeDocument/2006/relationships/notesSlide" Target="/ppt/notesSlides/notesSlide5.xml" Id="Ra92f8f56597e4c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bb1ab1f76c4f6f" /><Relationship Type="http://schemas.openxmlformats.org/officeDocument/2006/relationships/image" Target="/ppt/media/image5.png" Id="Ra992e43935804533" /><Relationship Type="http://schemas.openxmlformats.org/officeDocument/2006/relationships/notesSlide" Target="/ppt/notesSlides/notesSlide6.xml" Id="R1ecf3f341aee4f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2341237cc34bc7" /><Relationship Type="http://schemas.openxmlformats.org/officeDocument/2006/relationships/image" Target="/ppt/media/image5.png" Id="R959c1ff6a0c643b4" /><Relationship Type="http://schemas.openxmlformats.org/officeDocument/2006/relationships/image" Target="/ppt/media/image11.png" Id="R97564349efb34b21" /><Relationship Type="http://schemas.openxmlformats.org/officeDocument/2006/relationships/notesSlide" Target="/ppt/notesSlides/notesSlide7.xml" Id="R57671f1ac542451a"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07</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3A8345B2-D721-4673-B9D0-85E2010CE34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04a9f2b49824254">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711C9C7D-931C-46AA-8D91-5DF4B9F30B2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02a37b2af249a7">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84731AE2-E29C-4856-8BB6-01240978D9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3634d3dc874869">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TESTNET MVP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qualification. Mutual consent. Real Testnet.</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pic>
        <p:nvPicPr>
          <p:cNvPr id="104" name="">
            <a:extLst xmlns:a="http://schemas.openxmlformats.org/drawingml/2006/main">
              <a:ext uri="{FF2B5EF4-FFF2-40B4-BE49-F238E27FC236}">
                <a16:creationId xmlns:a16="http://schemas.microsoft.com/office/drawing/2014/main" id="{27E062A5-891B-4E2B-8C68-49F98CF03675}"/>
              </a:ext>
            </a:extLst>
          </p:cNvPr>
          <p:cNvPicPr>
            <a:picLocks xmlns:a="http://schemas.openxmlformats.org/drawingml/2006/main" noChangeAspect="1"/>
          </p:cNvPicPr>
          <p:nvPr/>
        </p:nvPicPr>
        <p:blipFill>
          <a:blip xmlns:r="http://schemas.openxmlformats.org/officeDocument/2006/relationships" xmlns:a="http://schemas.openxmlformats.org/drawingml/2006/main" r:embed="R1fd3bbe096964221"/>
          <a:stretch xmlns:a="http://schemas.openxmlformats.org/drawingml/2006/main"/>
        </p:blipFill>
        <p:spPr>
          <a:xfrm xmlns:a="http://schemas.openxmlformats.org/drawingml/2006/main">
            <a:off x="12287250" y="1735949"/>
            <a:ext cx="5238750" cy="4090951"/>
          </a:xfrm>
          <a:prstGeom xmlns:a="http://schemas.openxmlformats.org/drawingml/2006/main" prst="rect">
            <a:avLst/>
          </a:prstGeom>
        </p:spPr>
      </p:pic>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07</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passports. Mutual consent. One private introduction.</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while keeping the exact balance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issuer-attested marketing authority for this deal.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both passports and both consents unlock the dossier.</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€900k buyer qualifies; underfunded and expired credentials fail.</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The dossier opens only after both participants consent.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1F094157-5231-4F73-8250-073271F581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395c7913b940f0">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25" name="">
            <a:extLst xmlns:a="http://schemas.openxmlformats.org/drawingml/2006/main">
              <a:ext uri="{FF2B5EF4-FFF2-40B4-BE49-F238E27FC236}">
                <a16:creationId xmlns:a16="http://schemas.microsoft.com/office/drawing/2014/main" id="{54230C8F-3594-4E35-AB41-E3E0E5F7DE66}"/>
              </a:ext>
            </a:extLst>
          </p:cNvPr>
          <p:cNvPicPr>
            <a:picLocks xmlns:a="http://schemas.openxmlformats.org/drawingml/2006/main" noChangeAspect="1"/>
          </p:cNvPicPr>
          <p:nvPr/>
        </p:nvPicPr>
        <p:blipFill>
          <a:blip xmlns:r="http://schemas.openxmlformats.org/officeDocument/2006/relationships" xmlns:a="http://schemas.openxmlformats.org/drawingml/2006/main" r:embed="R8768b893588340fe"/>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55F7A952-C6C5-4620-BE9B-80344DD9733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bb3a23629174106">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47" name="">
            <a:extLst xmlns:a="http://schemas.openxmlformats.org/drawingml/2006/main">
              <a:ext uri="{FF2B5EF4-FFF2-40B4-BE49-F238E27FC236}">
                <a16:creationId xmlns:a16="http://schemas.microsoft.com/office/drawing/2014/main" id="{0166CA71-8BDC-47B3-9E34-2E017198AE8B}"/>
              </a:ext>
            </a:extLst>
          </p:cNvPr>
          <p:cNvPicPr>
            <a:picLocks xmlns:a="http://schemas.openxmlformats.org/drawingml/2006/main" noChangeAspect="1"/>
          </p:cNvPicPr>
          <p:nvPr/>
        </p:nvPicPr>
        <p:blipFill>
          <a:blip xmlns:r="http://schemas.openxmlformats.org/officeDocument/2006/relationships" xmlns:a="http://schemas.openxmlformats.org/drawingml/2006/main" r:embed="Rd0e33872aa4b4eb0"/>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133475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Existing services validate parts of the same private-deal workflow</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a private buyer proof and one enforceable mutual policy.</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A2459CE4-D238-4969-8CD8-7918DC720B4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00a5b519294798">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85FD963F-7BE1-4013-8A59-74FB2F7D2EA9}"/>
              </a:ext>
            </a:extLst>
          </p:cNvPr>
          <p:cNvGraphicFramePr/>
          <p:nvPr/>
        </p:nvGraphicFramePr>
        <p:xfrm>
          <a:off xmlns:a="http://schemas.openxmlformats.org/drawingml/2006/main" x="914400" y="4709160"/>
          <a:ext xmlns:a="http://schemas.openxmlformats.org/drawingml/2006/main" cx="11334750" cy="2686050"/>
        </p:xfrm>
        <a:graphic xmlns:a="http://schemas.openxmlformats.org/drawingml/2006/main">
          <a:graphicData uri="http://schemas.openxmlformats.org/drawingml/2006/table">
            <a:tbl>
              <a:tblPr firstRow="0" bandRow="0"/>
              <a:tblGrid>
                <a:gridCol w="1905000"/>
                <a:gridCol w="4286250"/>
                <a:gridCol w="5143500"/>
              </a:tblGrid>
              <a:tr h="514350">
                <a:tc>
                  <a:txBody>
                    <a:bodyPr lIns="133350" tIns="76200" rIns="133350" bIns="76200">
                      <a:noAutofit/>
                    </a:bodyPr>
                    <a:lstStyle/>
                    <a:p>
                      <a:r>
                        <a:rPr sz="1875"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Our implemented MVP</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Crypto funds letter</a:t>
                      </a:r>
                    </a:p>
                    <a:p>
                      <a:r>
                        <a:rPr sz="1875" b="0">
                          <a:solidFill>
                            <a:srgbClr val="2A2A2A"/>
                          </a:solidFill>
                          <a:latin typeface="Instrument Sans"/>
                          <a:ea typeface="Instrument Sans"/>
                          <a:cs typeface="Instrument Sans"/>
                        </a:rPr>
                        <a:t>Reveals verified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Issuer-bound threshold proof</a:t>
                      </a:r>
                    </a:p>
                    <a:p>
                      <a:r>
                        <a:rPr sz="1875" b="0">
                          <a:solidFill>
                            <a:srgbClr val="2A2A2A"/>
                          </a:solidFill>
                          <a:latin typeface="Instrument Sans"/>
                          <a:ea typeface="Instrument Sans"/>
                          <a:cs typeface="Instrument Sans"/>
                        </a:rPr>
                        <a:t>Hides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Attested property data</a:t>
                      </a:r>
                    </a:p>
                    <a:p>
                      <a:r>
                        <a:rPr sz="1875"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Deal-specific authority claim</a:t>
                      </a:r>
                    </a:p>
                    <a:p>
                      <a:r>
                        <a:rPr sz="1875" b="0">
                          <a:solidFill>
                            <a:srgbClr val="2A2A2A"/>
                          </a:solidFill>
                          <a:latin typeface="Instrument Sans"/>
                          <a:ea typeface="Instrument Sans"/>
                          <a:cs typeface="Instrument Sans"/>
                        </a:rPr>
                        <a:t>From an authorized issuer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Verified counterparties</a:t>
                      </a:r>
                    </a:p>
                    <a:p>
                      <a:r>
                        <a:rPr sz="1875" b="0">
                          <a:solidFill>
                            <a:srgbClr val="2A2A2A"/>
                          </a:solidFill>
                          <a:latin typeface="Instrument Sans"/>
                          <a:ea typeface="Instrument Sans"/>
                          <a:cs typeface="Instrument Sans"/>
                        </a:rPr>
                        <a:t>NDAs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Stellar-enforced qualification</a:t>
                      </a:r>
                    </a:p>
                    <a:p>
                      <a:r>
                        <a:rPr sz="1875" b="0">
                          <a:solidFill>
                            <a:srgbClr val="2A2A2A"/>
                          </a:solidFill>
                          <a:latin typeface="Instrument Sans"/>
                          <a:ea typeface="Instrument Sans"/>
                          <a:cs typeface="Instrument Sans"/>
                        </a:rPr>
                        <a:t>And mutual disclosure consent</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pic>
        <p:nvPicPr>
          <p:cNvPr id="148" name="">
            <a:extLst xmlns:a="http://schemas.openxmlformats.org/drawingml/2006/main">
              <a:ext uri="{FF2B5EF4-FFF2-40B4-BE49-F238E27FC236}">
                <a16:creationId xmlns:a16="http://schemas.microsoft.com/office/drawing/2014/main" id="{5FCF5CD3-637E-4A2B-B7E3-8F8F596B2951}"/>
              </a:ext>
            </a:extLst>
          </p:cNvPr>
          <p:cNvPicPr>
            <a:picLocks xmlns:a="http://schemas.openxmlformats.org/drawingml/2006/main" noChangeAspect="1"/>
          </p:cNvPicPr>
          <p:nvPr/>
        </p:nvPicPr>
        <p:blipFill>
          <a:blip xmlns:r="http://schemas.openxmlformats.org/officeDocument/2006/relationships" xmlns:a="http://schemas.openxmlformats.org/drawingml/2006/main" r:embed="Rb4640c381d004a4a"/>
          <a:stretch xmlns:a="http://schemas.openxmlformats.org/drawingml/2006/main"/>
        </p:blipFill>
        <p:spPr>
          <a:xfrm xmlns:a="http://schemas.openxmlformats.org/drawingml/2006/main">
            <a:off x="12893040" y="4023360"/>
            <a:ext cx="4480560" cy="3480435"/>
          </a:xfrm>
          <a:prstGeom xmlns:a="http://schemas.openxmlformats.org/drawingml/2006/main" prst="rect">
            <a:avLst/>
          </a:prstGeom>
        </p:spPr>
      </p:pic>
      <p:pic>
        <p:nvPicPr>
          <p:cNvPr id="149" name="">
            <a:extLst xmlns:a="http://schemas.openxmlformats.org/drawingml/2006/main">
              <a:ext uri="{FF2B5EF4-FFF2-40B4-BE49-F238E27FC236}">
                <a16:creationId xmlns:a16="http://schemas.microsoft.com/office/drawing/2014/main" id="{DE16C1A4-26DE-4FB7-AD04-00A825E5A897}"/>
              </a:ext>
            </a:extLst>
          </p:cNvPr>
          <p:cNvPicPr>
            <a:picLocks xmlns:a="http://schemas.openxmlformats.org/drawingml/2006/main" noChangeAspect="1"/>
          </p:cNvPicPr>
          <p:nvPr/>
        </p:nvPicPr>
        <p:blipFill>
          <a:blip xmlns:r="http://schemas.openxmlformats.org/officeDocument/2006/relationships" xmlns:a="http://schemas.openxmlformats.org/drawingml/2006/main" r:embed="Rd6b3beb180a8471e"/>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SYSTEM ARCHITECTURE</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VERIFIED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Buyer proof, seller authority and consent are live on Testnet</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Browser generates a genuine Groth16 eligibility proof.</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Stellar verifies the proof and the property issuer’s authority.</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Both parties consent; the API rechecks current chain state.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Underfunding, expiry, forgery, replay and revoked access fail.</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1.6–2.6s browser proof observed on this demo device.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Live operation history and public Testnet receipts.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E78D601C-1DC2-4A0F-A47B-63F62608BF7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6276d3966b4c7d">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Unaudited demo setup</a:t>
            </a:r>
          </a:p>
        </p:txBody>
      </p:sp>
      <p:pic>
        <p:nvPicPr>
          <p:cNvPr id="169" name="">
            <a:extLst xmlns:a="http://schemas.openxmlformats.org/drawingml/2006/main">
              <a:ext uri="{FF2B5EF4-FFF2-40B4-BE49-F238E27FC236}">
                <a16:creationId xmlns:a16="http://schemas.microsoft.com/office/drawing/2014/main" id="{ACE76BBB-57DE-47D0-A03D-E3536AB75F32}"/>
              </a:ext>
            </a:extLst>
          </p:cNvPr>
          <p:cNvPicPr>
            <a:picLocks xmlns:a="http://schemas.openxmlformats.org/drawingml/2006/main" noChangeAspect="1"/>
          </p:cNvPicPr>
          <p:nvPr/>
        </p:nvPicPr>
        <p:blipFill>
          <a:blip xmlns:r="http://schemas.openxmlformats.org/officeDocument/2006/relationships" xmlns:a="http://schemas.openxmlformats.org/drawingml/2006/main" r:embed="R9253bf348e43441e"/>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324100"/>
            <a:ext cx="164592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7125" b="1">
                <a:solidFill>
                  <a:srgbClr val="0F0F0F"/>
                </a:solidFill>
                <a:latin typeface="Inter Tight"/>
                <a:ea typeface="Inter Tight"/>
                <a:cs typeface="Inter Tight"/>
              </a:defRPr>
            </a:defPPr>
            <a:lvl1pPr>
              <a:buNone/>
              <a:defRPr sz="8100" b="1">
                <a:solidFill>
                  <a:srgbClr val="0F0F0F"/>
                </a:solidFill>
                <a:latin typeface="Inter Tight"/>
                <a:ea typeface="Inter Tight"/>
                <a:cs typeface="Inter Tight"/>
              </a:defRPr>
            </a:lvl1pPr>
            <a:lvl2pPr>
              <a:buNone/>
              <a:defRPr sz="8100" b="1">
                <a:solidFill>
                  <a:srgbClr val="0F0F0F"/>
                </a:solidFill>
                <a:latin typeface="Inter Tight"/>
                <a:ea typeface="Inter Tight"/>
                <a:cs typeface="Inter Tight"/>
              </a:defRPr>
            </a:lvl2pPr>
            <a:lvl3pPr>
              <a:buNone/>
              <a:defRPr sz="8100" b="1">
                <a:solidFill>
                  <a:srgbClr val="0F0F0F"/>
                </a:solidFill>
                <a:latin typeface="Inter Tight"/>
                <a:ea typeface="Inter Tight"/>
                <a:cs typeface="Inter Tight"/>
              </a:defRPr>
            </a:lvl3pPr>
            <a:lvl4pPr>
              <a:buNone/>
              <a:defRPr sz="8100" b="1">
                <a:solidFill>
                  <a:srgbClr val="0F0F0F"/>
                </a:solidFill>
                <a:latin typeface="Inter Tight"/>
                <a:ea typeface="Inter Tight"/>
                <a:cs typeface="Inter Tight"/>
              </a:defRPr>
            </a:lvl4pPr>
            <a:lvl5pPr>
              <a:buNone/>
              <a:defRPr sz="8100" b="1">
                <a:solidFill>
                  <a:srgbClr val="0F0F0F"/>
                </a:solidFill>
                <a:latin typeface="Inter Tight"/>
                <a:ea typeface="Inter Tight"/>
                <a:cs typeface="Inter Tight"/>
              </a:defRPr>
            </a:lvl5pPr>
            <a:lvl6pPr>
              <a:buNone/>
              <a:defRPr sz="8100" b="1">
                <a:solidFill>
                  <a:srgbClr val="0F0F0F"/>
                </a:solidFill>
                <a:latin typeface="Inter Tight"/>
                <a:ea typeface="Inter Tight"/>
                <a:cs typeface="Inter Tight"/>
              </a:defRPr>
            </a:lvl6pPr>
            <a:lvl7pPr>
              <a:buNone/>
              <a:defRPr sz="8100" b="1">
                <a:solidFill>
                  <a:srgbClr val="0F0F0F"/>
                </a:solidFill>
                <a:latin typeface="Inter Tight"/>
                <a:ea typeface="Inter Tight"/>
                <a:cs typeface="Inter Tight"/>
              </a:defRPr>
            </a:lvl7pPr>
            <a:lvl8pPr>
              <a:buNone/>
              <a:defRPr sz="8100" b="1">
                <a:solidFill>
                  <a:srgbClr val="0F0F0F"/>
                </a:solidFill>
                <a:latin typeface="Inter Tight"/>
                <a:ea typeface="Inter Tight"/>
                <a:cs typeface="Inter Tight"/>
              </a:defRPr>
            </a:lvl8pPr>
            <a:lvl9pPr>
              <a:buNone/>
              <a:defRPr sz="8100" b="1">
                <a:solidFill>
                  <a:srgbClr val="0F0F0F"/>
                </a:solidFill>
                <a:latin typeface="Inter Tight"/>
                <a:ea typeface="Inter Tight"/>
                <a:cs typeface="Inter Tight"/>
              </a:defRPr>
            </a:lvl9pPr>
          </a:lstStyle>
          <a:p xmlns:a="http://schemas.openxmlformats.org/drawingml/2006/main">
            <a:pPr marL="0" marR="0" lvl="0" indent="0" algn="l">
              <a:spcBef>
                <a:spcPts val="0"/>
              </a:spcBef>
              <a:spcAft>
                <a:spcPts val="0"/>
              </a:spcAft>
              <a:buNone/>
              <a:defRPr sz="7125" b="1">
                <a:solidFill>
                  <a:srgbClr val="0F0F0F"/>
                </a:solidFill>
                <a:latin typeface="Inter Tight"/>
                <a:ea typeface="Inter Tight"/>
                <a:cs typeface="Inter Tight"/>
              </a:defRPr>
            </a:pPr>
            <a:r>
              <a:rPr sz="7125" b="1" i="0" u="none" strike="noStrike" cap="none">
                <a:solidFill>
                  <a:srgbClr val="0F0F0F"/>
                </a:solidFill>
                <a:latin typeface="Inter Tight"/>
                <a:ea typeface="Inter Tight"/>
                <a:cs typeface="Inter Tight"/>
              </a:rPr>
              <a:t>PRODUCTION ARCHITECTURE</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044C2305-C39E-44D0-AE40-88E8F59DD42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992e43935804533">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Production architecture canvas">
            <a:extLst xmlns:a="http://schemas.openxmlformats.org/drawingml/2006/main">
              <a:ext uri="{FF2B5EF4-FFF2-40B4-BE49-F238E27FC236}">
                <a16:creationId xmlns:a16="http://schemas.microsoft.com/office/drawing/2014/main" id="{51BA9C72-C476-4925-B9FB-695EED212BF6}"/>
              </a:ext>
            </a:extLst>
          </p:cNvPr>
          <p:cNvSpPr>
            <a:spLocks xmlns:a="http://schemas.openxmlformats.org/drawingml/2006/main" noGrp="1"/>
          </p:cNvSpPr>
          <p:nvPr/>
        </p:nvSpPr>
        <p:spPr>
          <a:xfrm xmlns:a="http://schemas.openxmlformats.org/drawingml/2006/main">
            <a:off x="914400" y="3476625"/>
            <a:ext cx="16459200" cy="5536276"/>
          </a:xfrm>
          <a:prstGeom xmlns:a="http://schemas.openxmlformats.org/drawingml/2006/main" prst="rect">
            <a:avLst/>
          </a:prstGeom>
          <a:solidFill xmlns:a="http://schemas.openxmlformats.org/drawingml/2006/main">
            <a:srgbClr val="F7F6F2"/>
          </a:solidFill>
          <a:ln xmlns:a="http://schemas.openxmlformats.org/drawingml/2006/main" w="0">
            <a:noFill/>
          </a:ln>
        </p:spPr>
      </p:sp>
      <p:sp>
        <p:nvSpPr>
          <p:cNvPr id="169" name="Architecture flow 1">
            <a:extLst xmlns:a="http://schemas.openxmlformats.org/drawingml/2006/main">
              <a:ext uri="{FF2B5EF4-FFF2-40B4-BE49-F238E27FC236}">
                <a16:creationId xmlns:a16="http://schemas.microsoft.com/office/drawing/2014/main" id="{0E1EC73F-5F43-4169-AAC4-9E73A231A296}"/>
              </a:ext>
            </a:extLst>
          </p:cNvPr>
          <p:cNvSpPr>
            <a:spLocks xmlns:a="http://schemas.openxmlformats.org/drawingml/2006/main" noGrp="1"/>
          </p:cNvSpPr>
          <p:nvPr/>
        </p:nvSpPr>
        <p:spPr>
          <a:xfrm xmlns:a="http://schemas.openxmlformats.org/drawingml/2006/main">
            <a:off x="3532909" y="6783428"/>
            <a:ext cx="972589" cy="7481"/>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18704">
            <a:solidFill>
              <a:srgbClr val="343B42"/>
            </a:solidFill>
          </a:ln>
        </p:spPr>
      </p:sp>
      <p:sp>
        <p:nvSpPr>
          <p:cNvPr id="170" name="Flow arrow">
            <a:extLst xmlns:a="http://schemas.openxmlformats.org/drawingml/2006/main">
              <a:ext uri="{FF2B5EF4-FFF2-40B4-BE49-F238E27FC236}">
                <a16:creationId xmlns:a16="http://schemas.microsoft.com/office/drawing/2014/main" id="{59C5EFF4-4542-425B-A64F-CF802F252767}"/>
              </a:ext>
            </a:extLst>
          </p:cNvPr>
          <p:cNvSpPr>
            <a:spLocks xmlns:a="http://schemas.openxmlformats.org/drawingml/2006/main" noGrp="1"/>
          </p:cNvSpPr>
          <p:nvPr/>
        </p:nvSpPr>
        <p:spPr>
          <a:xfrm xmlns:a="http://schemas.openxmlformats.org/drawingml/2006/main">
            <a:off x="4428961" y="6736502"/>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1" name="Architecture flow 2">
            <a:extLst xmlns:a="http://schemas.openxmlformats.org/drawingml/2006/main">
              <a:ext uri="{FF2B5EF4-FFF2-40B4-BE49-F238E27FC236}">
                <a16:creationId xmlns:a16="http://schemas.microsoft.com/office/drawing/2014/main" id="{20ABD115-4DE1-434B-8F1D-52E3E6DC650C}"/>
              </a:ext>
            </a:extLst>
          </p:cNvPr>
          <p:cNvSpPr>
            <a:spLocks xmlns:a="http://schemas.openxmlformats.org/drawingml/2006/main" noGrp="1"/>
          </p:cNvSpPr>
          <p:nvPr/>
        </p:nvSpPr>
        <p:spPr>
          <a:xfrm xmlns:a="http://schemas.openxmlformats.org/drawingml/2006/main">
            <a:off x="7872153" y="5085138"/>
            <a:ext cx="7481" cy="561109"/>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8704">
            <a:solidFill>
              <a:srgbClr val="343B42"/>
            </a:solidFill>
          </a:ln>
        </p:spPr>
      </p:sp>
      <p:sp>
        <p:nvSpPr>
          <p:cNvPr id="172" name="Flow arrow">
            <a:extLst xmlns:a="http://schemas.openxmlformats.org/drawingml/2006/main">
              <a:ext uri="{FF2B5EF4-FFF2-40B4-BE49-F238E27FC236}">
                <a16:creationId xmlns:a16="http://schemas.microsoft.com/office/drawing/2014/main" id="{7B42552A-981D-4662-8F08-94C55905F3D5}"/>
              </a:ext>
            </a:extLst>
          </p:cNvPr>
          <p:cNvSpPr>
            <a:spLocks xmlns:a="http://schemas.openxmlformats.org/drawingml/2006/main" noGrp="1"/>
          </p:cNvSpPr>
          <p:nvPr/>
        </p:nvSpPr>
        <p:spPr>
          <a:xfrm xmlns:a="http://schemas.openxmlformats.org/drawingml/2006/main">
            <a:off x="7825227" y="5569709"/>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3" name="Architecture flow 3">
            <a:extLst xmlns:a="http://schemas.openxmlformats.org/drawingml/2006/main">
              <a:ext uri="{FF2B5EF4-FFF2-40B4-BE49-F238E27FC236}">
                <a16:creationId xmlns:a16="http://schemas.microsoft.com/office/drawing/2014/main" id="{17BD3328-CCC0-4AE7-B1A7-33A1C6767186}"/>
              </a:ext>
            </a:extLst>
          </p:cNvPr>
          <p:cNvSpPr>
            <a:spLocks xmlns:a="http://schemas.openxmlformats.org/drawingml/2006/main" noGrp="1"/>
          </p:cNvSpPr>
          <p:nvPr/>
        </p:nvSpPr>
        <p:spPr>
          <a:xfrm xmlns:a="http://schemas.openxmlformats.org/drawingml/2006/main">
            <a:off x="11238807" y="4411807"/>
            <a:ext cx="1047404" cy="1683327"/>
          </a:xfrm>
          <a:custGeom xmlns:a="http://schemas.openxmlformats.org/drawingml/2006/main">
            <a:pathLst>
              <a:path w="1333500" h="2143125">
                <a:moveTo>
                  <a:pt x="0" y="2143125"/>
                </a:moveTo>
                <a:lnTo>
                  <a:pt x="571500" y="2143125"/>
                </a:lnTo>
                <a:lnTo>
                  <a:pt x="571500" y="0"/>
                </a:lnTo>
                <a:lnTo>
                  <a:pt x="1333500" y="0"/>
                </a:lnTo>
              </a:path>
            </a:pathLst>
          </a:custGeom>
          <a:noFill xmlns:a="http://schemas.openxmlformats.org/drawingml/2006/main"/>
          <a:ln xmlns:a="http://schemas.openxmlformats.org/drawingml/2006/main" w="18704">
            <a:solidFill>
              <a:srgbClr val="343B42"/>
            </a:solidFill>
          </a:ln>
        </p:spPr>
      </p:sp>
      <p:sp>
        <p:nvSpPr>
          <p:cNvPr id="174" name="Flow arrow">
            <a:extLst xmlns:a="http://schemas.openxmlformats.org/drawingml/2006/main">
              <a:ext uri="{FF2B5EF4-FFF2-40B4-BE49-F238E27FC236}">
                <a16:creationId xmlns:a16="http://schemas.microsoft.com/office/drawing/2014/main" id="{4E7CB94D-0051-4938-AC6C-44653F20E6A4}"/>
              </a:ext>
            </a:extLst>
          </p:cNvPr>
          <p:cNvSpPr>
            <a:spLocks xmlns:a="http://schemas.openxmlformats.org/drawingml/2006/main" noGrp="1"/>
          </p:cNvSpPr>
          <p:nvPr/>
        </p:nvSpPr>
        <p:spPr>
          <a:xfrm xmlns:a="http://schemas.openxmlformats.org/drawingml/2006/main">
            <a:off x="12209673" y="436488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5" name="Architecture flow 4">
            <a:extLst xmlns:a="http://schemas.openxmlformats.org/drawingml/2006/main">
              <a:ext uri="{FF2B5EF4-FFF2-40B4-BE49-F238E27FC236}">
                <a16:creationId xmlns:a16="http://schemas.microsoft.com/office/drawing/2014/main" id="{AA7A55A5-2604-45DC-AA28-A07ADA809989}"/>
              </a:ext>
            </a:extLst>
          </p:cNvPr>
          <p:cNvSpPr>
            <a:spLocks xmlns:a="http://schemas.openxmlformats.org/drawingml/2006/main" noGrp="1"/>
          </p:cNvSpPr>
          <p:nvPr/>
        </p:nvSpPr>
        <p:spPr>
          <a:xfrm xmlns:a="http://schemas.openxmlformats.org/drawingml/2006/main">
            <a:off x="14680276" y="5197360"/>
            <a:ext cx="7481" cy="748145"/>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8704">
            <a:solidFill>
              <a:srgbClr val="343B42"/>
            </a:solidFill>
          </a:ln>
        </p:spPr>
      </p:sp>
      <p:sp>
        <p:nvSpPr>
          <p:cNvPr id="176" name="Flow arrow">
            <a:extLst xmlns:a="http://schemas.openxmlformats.org/drawingml/2006/main">
              <a:ext uri="{FF2B5EF4-FFF2-40B4-BE49-F238E27FC236}">
                <a16:creationId xmlns:a16="http://schemas.microsoft.com/office/drawing/2014/main" id="{07DA05EC-8BC4-4322-B916-27FF9E571C97}"/>
              </a:ext>
            </a:extLst>
          </p:cNvPr>
          <p:cNvSpPr>
            <a:spLocks xmlns:a="http://schemas.openxmlformats.org/drawingml/2006/main" noGrp="1"/>
          </p:cNvSpPr>
          <p:nvPr/>
        </p:nvSpPr>
        <p:spPr>
          <a:xfrm xmlns:a="http://schemas.openxmlformats.org/drawingml/2006/main">
            <a:off x="14633351" y="5868968"/>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7" name="Architecture flow 5">
            <a:extLst xmlns:a="http://schemas.openxmlformats.org/drawingml/2006/main">
              <a:ext uri="{FF2B5EF4-FFF2-40B4-BE49-F238E27FC236}">
                <a16:creationId xmlns:a16="http://schemas.microsoft.com/office/drawing/2014/main" id="{59F31923-E4C3-4DD6-A75A-5DA91D7B1BEB}"/>
              </a:ext>
            </a:extLst>
          </p:cNvPr>
          <p:cNvSpPr>
            <a:spLocks xmlns:a="http://schemas.openxmlformats.org/drawingml/2006/main" noGrp="1"/>
          </p:cNvSpPr>
          <p:nvPr/>
        </p:nvSpPr>
        <p:spPr>
          <a:xfrm xmlns:a="http://schemas.openxmlformats.org/drawingml/2006/main">
            <a:off x="11238807" y="7292167"/>
            <a:ext cx="1047404" cy="7481"/>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18704">
            <a:solidFill>
              <a:srgbClr val="343B42"/>
            </a:solidFill>
          </a:ln>
        </p:spPr>
      </p:sp>
      <p:sp>
        <p:nvSpPr>
          <p:cNvPr id="178" name="Flow arrow">
            <a:extLst xmlns:a="http://schemas.openxmlformats.org/drawingml/2006/main">
              <a:ext uri="{FF2B5EF4-FFF2-40B4-BE49-F238E27FC236}">
                <a16:creationId xmlns:a16="http://schemas.microsoft.com/office/drawing/2014/main" id="{0B777A99-5E5D-4B80-A5DD-46CAF7E96577}"/>
              </a:ext>
            </a:extLst>
          </p:cNvPr>
          <p:cNvSpPr>
            <a:spLocks xmlns:a="http://schemas.openxmlformats.org/drawingml/2006/main" noGrp="1"/>
          </p:cNvSpPr>
          <p:nvPr/>
        </p:nvSpPr>
        <p:spPr>
          <a:xfrm xmlns:a="http://schemas.openxmlformats.org/drawingml/2006/main">
            <a:off x="12209673" y="724524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9" name="Flow arrow">
            <a:extLst xmlns:a="http://schemas.openxmlformats.org/drawingml/2006/main">
              <a:ext uri="{FF2B5EF4-FFF2-40B4-BE49-F238E27FC236}">
                <a16:creationId xmlns:a16="http://schemas.microsoft.com/office/drawing/2014/main" id="{51D74BFF-E1D8-4056-B3A0-69378484C29B}"/>
              </a:ext>
            </a:extLst>
          </p:cNvPr>
          <p:cNvSpPr>
            <a:spLocks xmlns:a="http://schemas.openxmlformats.org/drawingml/2006/main" noGrp="1"/>
          </p:cNvSpPr>
          <p:nvPr/>
        </p:nvSpPr>
        <p:spPr>
          <a:xfrm xmlns:a="http://schemas.openxmlformats.org/drawingml/2006/main">
            <a:off x="11238807" y="7245241"/>
            <a:ext cx="76537" cy="93851"/>
          </a:xfrm>
          <a:custGeom xmlns:a="http://schemas.openxmlformats.org/drawingml/2006/main">
            <a:pathLst>
              <a:path w="97444" h="119486">
                <a:moveTo>
                  <a:pt x="97444" y="0"/>
                </a:moveTo>
                <a:lnTo>
                  <a:pt x="0" y="59743"/>
                </a:lnTo>
                <a:lnTo>
                  <a:pt x="97444" y="119486"/>
                </a:lnTo>
              </a:path>
            </a:pathLst>
          </a:custGeom>
          <a:noFill xmlns:a="http://schemas.openxmlformats.org/drawingml/2006/main"/>
          <a:ln xmlns:a="http://schemas.openxmlformats.org/drawingml/2006/main" w="18704">
            <a:solidFill>
              <a:srgbClr val="343B42"/>
            </a:solidFill>
          </a:ln>
        </p:spPr>
      </p:sp>
      <p:sp>
        <p:nvSpPr>
          <p:cNvPr id="180" name="Architecture frontend">
            <a:extLst xmlns:a="http://schemas.openxmlformats.org/drawingml/2006/main">
              <a:ext uri="{FF2B5EF4-FFF2-40B4-BE49-F238E27FC236}">
                <a16:creationId xmlns:a16="http://schemas.microsoft.com/office/drawing/2014/main" id="{3460771A-4E29-4198-B615-7C572E602DC0}"/>
              </a:ext>
            </a:extLst>
          </p:cNvPr>
          <p:cNvSpPr>
            <a:spLocks xmlns:a="http://schemas.openxmlformats.org/drawingml/2006/main" noGrp="1"/>
          </p:cNvSpPr>
          <p:nvPr/>
        </p:nvSpPr>
        <p:spPr>
          <a:xfrm xmlns:a="http://schemas.openxmlformats.org/drawingml/2006/main">
            <a:off x="1213658" y="5870690"/>
            <a:ext cx="2319251" cy="1832956"/>
          </a:xfrm>
          <a:prstGeom xmlns:a="http://schemas.openxmlformats.org/drawingml/2006/main" prst="roundRect">
            <a:avLst>
              <a:gd name="adj" fmla="val 4082"/>
            </a:avLst>
          </a:prstGeom>
          <a:solidFill xmlns:a="http://schemas.openxmlformats.org/drawingml/2006/main">
            <a:srgbClr val="F2F4F7"/>
          </a:solidFill>
          <a:ln xmlns:a="http://schemas.openxmlformats.org/drawingml/2006/main" w="14963">
            <a:solidFill>
              <a:srgbClr val="63748B"/>
            </a:solidFill>
          </a:ln>
        </p:spPr>
      </p:sp>
      <p:sp>
        <p:nvSpPr>
          <p:cNvPr id="181" name="Architecture external">
            <a:extLst xmlns:a="http://schemas.openxmlformats.org/drawingml/2006/main">
              <a:ext uri="{FF2B5EF4-FFF2-40B4-BE49-F238E27FC236}">
                <a16:creationId xmlns:a16="http://schemas.microsoft.com/office/drawing/2014/main" id="{2B03BD45-5C48-4038-B5EB-F6D1F599758F}"/>
              </a:ext>
            </a:extLst>
          </p:cNvPr>
          <p:cNvSpPr>
            <a:spLocks xmlns:a="http://schemas.openxmlformats.org/drawingml/2006/main" noGrp="1"/>
          </p:cNvSpPr>
          <p:nvPr/>
        </p:nvSpPr>
        <p:spPr>
          <a:xfrm xmlns:a="http://schemas.openxmlformats.org/drawingml/2006/main">
            <a:off x="4505498" y="3626254"/>
            <a:ext cx="6733309" cy="1458884"/>
          </a:xfrm>
          <a:prstGeom xmlns:a="http://schemas.openxmlformats.org/drawingml/2006/main" prst="roundRect">
            <a:avLst>
              <a:gd name="adj" fmla="val 5128"/>
            </a:avLst>
          </a:prstGeom>
          <a:solidFill xmlns:a="http://schemas.openxmlformats.org/drawingml/2006/main">
            <a:srgbClr val="EDF4FB"/>
          </a:solidFill>
          <a:ln xmlns:a="http://schemas.openxmlformats.org/drawingml/2006/main" w="14963">
            <a:solidFill>
              <a:srgbClr val="396B9B"/>
            </a:solidFill>
          </a:ln>
        </p:spPr>
      </p:sp>
      <p:sp>
        <p:nvSpPr>
          <p:cNvPr id="182" name="Architecture cloudflare">
            <a:extLst xmlns:a="http://schemas.openxmlformats.org/drawingml/2006/main">
              <a:ext uri="{FF2B5EF4-FFF2-40B4-BE49-F238E27FC236}">
                <a16:creationId xmlns:a16="http://schemas.microsoft.com/office/drawing/2014/main" id="{79AB6B85-C004-4119-8253-A283EE067420}"/>
              </a:ext>
            </a:extLst>
          </p:cNvPr>
          <p:cNvSpPr>
            <a:spLocks xmlns:a="http://schemas.openxmlformats.org/drawingml/2006/main" noGrp="1"/>
          </p:cNvSpPr>
          <p:nvPr/>
        </p:nvSpPr>
        <p:spPr>
          <a:xfrm xmlns:a="http://schemas.openxmlformats.org/drawingml/2006/main">
            <a:off x="4505498" y="5646247"/>
            <a:ext cx="6733309" cy="2618509"/>
          </a:xfrm>
          <a:prstGeom xmlns:a="http://schemas.openxmlformats.org/drawingml/2006/main" prst="roundRect">
            <a:avLst>
              <a:gd name="adj" fmla="val 2857"/>
            </a:avLst>
          </a:prstGeom>
          <a:solidFill xmlns:a="http://schemas.openxmlformats.org/drawingml/2006/main">
            <a:srgbClr val="FFF5E8"/>
          </a:solidFill>
          <a:ln xmlns:a="http://schemas.openxmlformats.org/drawingml/2006/main" w="14963">
            <a:solidFill>
              <a:srgbClr val="B97122"/>
            </a:solidFill>
          </a:ln>
        </p:spPr>
      </p:sp>
      <p:sp>
        <p:nvSpPr>
          <p:cNvPr id="183" name="Architecture zk">
            <a:extLst xmlns:a="http://schemas.openxmlformats.org/drawingml/2006/main">
              <a:ext uri="{FF2B5EF4-FFF2-40B4-BE49-F238E27FC236}">
                <a16:creationId xmlns:a16="http://schemas.microsoft.com/office/drawing/2014/main" id="{F99DC02B-02CC-4AEE-99E2-989E15CF09DC}"/>
              </a:ext>
            </a:extLst>
          </p:cNvPr>
          <p:cNvSpPr>
            <a:spLocks xmlns:a="http://schemas.openxmlformats.org/drawingml/2006/main" noGrp="1"/>
          </p:cNvSpPr>
          <p:nvPr/>
        </p:nvSpPr>
        <p:spPr>
          <a:xfrm xmlns:a="http://schemas.openxmlformats.org/drawingml/2006/main">
            <a:off x="12286211" y="3626254"/>
            <a:ext cx="4788131" cy="1571105"/>
          </a:xfrm>
          <a:prstGeom xmlns:a="http://schemas.openxmlformats.org/drawingml/2006/main" prst="roundRect">
            <a:avLst>
              <a:gd name="adj" fmla="val 4762"/>
            </a:avLst>
          </a:prstGeom>
          <a:solidFill xmlns:a="http://schemas.openxmlformats.org/drawingml/2006/main">
            <a:srgbClr val="F2EEFA"/>
          </a:solidFill>
          <a:ln xmlns:a="http://schemas.openxmlformats.org/drawingml/2006/main" w="14963">
            <a:solidFill>
              <a:srgbClr val="7653A7"/>
            </a:solidFill>
          </a:ln>
        </p:spPr>
      </p:sp>
      <p:sp>
        <p:nvSpPr>
          <p:cNvPr id="184" name="Architecture stellar">
            <a:extLst xmlns:a="http://schemas.openxmlformats.org/drawingml/2006/main">
              <a:ext uri="{FF2B5EF4-FFF2-40B4-BE49-F238E27FC236}">
                <a16:creationId xmlns:a16="http://schemas.microsoft.com/office/drawing/2014/main" id="{CBEBD4C7-40B2-465E-8A7E-A7DB79235205}"/>
              </a:ext>
            </a:extLst>
          </p:cNvPr>
          <p:cNvSpPr>
            <a:spLocks xmlns:a="http://schemas.openxmlformats.org/drawingml/2006/main" noGrp="1"/>
          </p:cNvSpPr>
          <p:nvPr/>
        </p:nvSpPr>
        <p:spPr>
          <a:xfrm xmlns:a="http://schemas.openxmlformats.org/drawingml/2006/main">
            <a:off x="12286211" y="5945505"/>
            <a:ext cx="4788131" cy="2319251"/>
          </a:xfrm>
          <a:prstGeom xmlns:a="http://schemas.openxmlformats.org/drawingml/2006/main" prst="roundRect">
            <a:avLst>
              <a:gd name="adj" fmla="val 3226"/>
            </a:avLst>
          </a:prstGeom>
          <a:solidFill xmlns:a="http://schemas.openxmlformats.org/drawingml/2006/main">
            <a:srgbClr val="EDF5EF"/>
          </a:solidFill>
          <a:ln xmlns:a="http://schemas.openxmlformats.org/drawingml/2006/main" w="14963">
            <a:solidFill>
              <a:srgbClr val="397552"/>
            </a:solidFill>
          </a:ln>
        </p:spPr>
      </p:sp>
      <p:sp>
        <p:nvSpPr>
          <p:cNvPr id="185" name="Architecture identity">
            <a:extLst xmlns:a="http://schemas.openxmlformats.org/drawingml/2006/main">
              <a:ext uri="{FF2B5EF4-FFF2-40B4-BE49-F238E27FC236}">
                <a16:creationId xmlns:a16="http://schemas.microsoft.com/office/drawing/2014/main" id="{884B6C26-E1A2-46BB-9EA5-2180CE618121}"/>
              </a:ext>
            </a:extLst>
          </p:cNvPr>
          <p:cNvSpPr>
            <a:spLocks xmlns:a="http://schemas.openxmlformats.org/drawingml/2006/main" noGrp="1"/>
          </p:cNvSpPr>
          <p:nvPr/>
        </p:nvSpPr>
        <p:spPr>
          <a:xfrm xmlns:a="http://schemas.openxmlformats.org/drawingml/2006/main">
            <a:off x="465512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6" name="Architecture financial-evidence">
            <a:extLst xmlns:a="http://schemas.openxmlformats.org/drawingml/2006/main">
              <a:ext uri="{FF2B5EF4-FFF2-40B4-BE49-F238E27FC236}">
                <a16:creationId xmlns:a16="http://schemas.microsoft.com/office/drawing/2014/main" id="{61E51BF1-F87C-42C1-8CA9-7B9A25E9D534}"/>
              </a:ext>
            </a:extLst>
          </p:cNvPr>
          <p:cNvSpPr>
            <a:spLocks xmlns:a="http://schemas.openxmlformats.org/drawingml/2006/main" noGrp="1"/>
          </p:cNvSpPr>
          <p:nvPr/>
        </p:nvSpPr>
        <p:spPr>
          <a:xfrm xmlns:a="http://schemas.openxmlformats.org/drawingml/2006/main">
            <a:off x="630104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7" name="Architecture property-records">
            <a:extLst xmlns:a="http://schemas.openxmlformats.org/drawingml/2006/main">
              <a:ext uri="{FF2B5EF4-FFF2-40B4-BE49-F238E27FC236}">
                <a16:creationId xmlns:a16="http://schemas.microsoft.com/office/drawing/2014/main" id="{C3552CC7-D431-4FCB-A06A-8362AFD03B15}"/>
              </a:ext>
            </a:extLst>
          </p:cNvPr>
          <p:cNvSpPr>
            <a:spLocks xmlns:a="http://schemas.openxmlformats.org/drawingml/2006/main" noGrp="1"/>
          </p:cNvSpPr>
          <p:nvPr/>
        </p:nvSpPr>
        <p:spPr>
          <a:xfrm xmlns:a="http://schemas.openxmlformats.org/drawingml/2006/main">
            <a:off x="794696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8" name="Architecture credentials">
            <a:extLst xmlns:a="http://schemas.openxmlformats.org/drawingml/2006/main">
              <a:ext uri="{FF2B5EF4-FFF2-40B4-BE49-F238E27FC236}">
                <a16:creationId xmlns:a16="http://schemas.microsoft.com/office/drawing/2014/main" id="{77059645-5690-4A66-BE55-AE07131ABCA7}"/>
              </a:ext>
            </a:extLst>
          </p:cNvPr>
          <p:cNvSpPr>
            <a:spLocks xmlns:a="http://schemas.openxmlformats.org/drawingml/2006/main" noGrp="1"/>
          </p:cNvSpPr>
          <p:nvPr/>
        </p:nvSpPr>
        <p:spPr>
          <a:xfrm xmlns:a="http://schemas.openxmlformats.org/drawingml/2006/main">
            <a:off x="959288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9" name="Architecture buyer-verification">
            <a:extLst xmlns:a="http://schemas.openxmlformats.org/drawingml/2006/main">
              <a:ext uri="{FF2B5EF4-FFF2-40B4-BE49-F238E27FC236}">
                <a16:creationId xmlns:a16="http://schemas.microsoft.com/office/drawing/2014/main" id="{C47823B3-D6C1-48A1-800A-74928D0928EB}"/>
              </a:ext>
            </a:extLst>
          </p:cNvPr>
          <p:cNvSpPr>
            <a:spLocks xmlns:a="http://schemas.openxmlformats.org/drawingml/2006/main" noGrp="1"/>
          </p:cNvSpPr>
          <p:nvPr/>
        </p:nvSpPr>
        <p:spPr>
          <a:xfrm xmlns:a="http://schemas.openxmlformats.org/drawingml/2006/main">
            <a:off x="4655127"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0" name="Architecture seller-verification">
            <a:extLst xmlns:a="http://schemas.openxmlformats.org/drawingml/2006/main">
              <a:ext uri="{FF2B5EF4-FFF2-40B4-BE49-F238E27FC236}">
                <a16:creationId xmlns:a16="http://schemas.microsoft.com/office/drawing/2014/main" id="{59CDE555-7F70-48C5-9D09-3F380056A29F}"/>
              </a:ext>
            </a:extLst>
          </p:cNvPr>
          <p:cNvSpPr>
            <a:spLocks xmlns:a="http://schemas.openxmlformats.org/drawingml/2006/main" noGrp="1"/>
          </p:cNvSpPr>
          <p:nvPr/>
        </p:nvSpPr>
        <p:spPr>
          <a:xfrm xmlns:a="http://schemas.openxmlformats.org/drawingml/2006/main">
            <a:off x="6824749"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1" name="Architecture deal-access">
            <a:extLst xmlns:a="http://schemas.openxmlformats.org/drawingml/2006/main">
              <a:ext uri="{FF2B5EF4-FFF2-40B4-BE49-F238E27FC236}">
                <a16:creationId xmlns:a16="http://schemas.microsoft.com/office/drawing/2014/main" id="{442D09EB-4AE9-41B2-94BE-AAE0E7ECCDC5}"/>
              </a:ext>
            </a:extLst>
          </p:cNvPr>
          <p:cNvSpPr>
            <a:spLocks xmlns:a="http://schemas.openxmlformats.org/drawingml/2006/main" noGrp="1"/>
          </p:cNvSpPr>
          <p:nvPr/>
        </p:nvSpPr>
        <p:spPr>
          <a:xfrm xmlns:a="http://schemas.openxmlformats.org/drawingml/2006/main">
            <a:off x="8994371"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2" name="Architecture database">
            <a:extLst xmlns:a="http://schemas.openxmlformats.org/drawingml/2006/main">
              <a:ext uri="{FF2B5EF4-FFF2-40B4-BE49-F238E27FC236}">
                <a16:creationId xmlns:a16="http://schemas.microsoft.com/office/drawing/2014/main" id="{F383D2B4-D346-4F53-A45E-715BA6257457}"/>
              </a:ext>
            </a:extLst>
          </p:cNvPr>
          <p:cNvSpPr>
            <a:spLocks xmlns:a="http://schemas.openxmlformats.org/drawingml/2006/main" noGrp="1"/>
          </p:cNvSpPr>
          <p:nvPr/>
        </p:nvSpPr>
        <p:spPr>
          <a:xfrm xmlns:a="http://schemas.openxmlformats.org/drawingml/2006/main">
            <a:off x="4655127" y="7815869"/>
            <a:ext cx="3142211" cy="35911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4963">
            <a:solidFill>
              <a:srgbClr val="D8B282"/>
            </a:solidFill>
          </a:ln>
        </p:spPr>
      </p:sp>
      <p:sp>
        <p:nvSpPr>
          <p:cNvPr id="193" name="Architecture documents">
            <a:extLst xmlns:a="http://schemas.openxmlformats.org/drawingml/2006/main">
              <a:ext uri="{FF2B5EF4-FFF2-40B4-BE49-F238E27FC236}">
                <a16:creationId xmlns:a16="http://schemas.microsoft.com/office/drawing/2014/main" id="{EACBAB2A-2AAC-4B39-B123-D73646B671F3}"/>
              </a:ext>
            </a:extLst>
          </p:cNvPr>
          <p:cNvSpPr>
            <a:spLocks xmlns:a="http://schemas.openxmlformats.org/drawingml/2006/main" noGrp="1"/>
          </p:cNvSpPr>
          <p:nvPr/>
        </p:nvSpPr>
        <p:spPr>
          <a:xfrm xmlns:a="http://schemas.openxmlformats.org/drawingml/2006/main">
            <a:off x="7946967" y="7815869"/>
            <a:ext cx="3142211" cy="35911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4963">
            <a:solidFill>
              <a:srgbClr val="D8B282"/>
            </a:solidFill>
          </a:ln>
        </p:spPr>
      </p:sp>
      <p:sp>
        <p:nvSpPr>
          <p:cNvPr id="194" name="Architecture proof-engine">
            <a:extLst xmlns:a="http://schemas.openxmlformats.org/drawingml/2006/main">
              <a:ext uri="{FF2B5EF4-FFF2-40B4-BE49-F238E27FC236}">
                <a16:creationId xmlns:a16="http://schemas.microsoft.com/office/drawing/2014/main" id="{2BF34F1B-A2C5-4372-997C-F4F61D0852A8}"/>
              </a:ext>
            </a:extLst>
          </p:cNvPr>
          <p:cNvSpPr>
            <a:spLocks xmlns:a="http://schemas.openxmlformats.org/drawingml/2006/main" noGrp="1"/>
          </p:cNvSpPr>
          <p:nvPr/>
        </p:nvSpPr>
        <p:spPr>
          <a:xfrm xmlns:a="http://schemas.openxmlformats.org/drawingml/2006/main">
            <a:off x="12435840" y="4164919"/>
            <a:ext cx="4488873" cy="882812"/>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4963">
            <a:solidFill>
              <a:srgbClr val="B9A4D2"/>
            </a:solidFill>
          </a:ln>
        </p:spPr>
      </p:sp>
      <p:sp>
        <p:nvSpPr>
          <p:cNvPr id="195" name="Architecture issuer-state">
            <a:extLst xmlns:a="http://schemas.openxmlformats.org/drawingml/2006/main">
              <a:ext uri="{FF2B5EF4-FFF2-40B4-BE49-F238E27FC236}">
                <a16:creationId xmlns:a16="http://schemas.microsoft.com/office/drawing/2014/main" id="{79ABE91B-00BB-40AF-A64F-FFA9CB9E85D9}"/>
              </a:ext>
            </a:extLst>
          </p:cNvPr>
          <p:cNvSpPr>
            <a:spLocks xmlns:a="http://schemas.openxmlformats.org/drawingml/2006/main" noGrp="1"/>
          </p:cNvSpPr>
          <p:nvPr/>
        </p:nvSpPr>
        <p:spPr>
          <a:xfrm xmlns:a="http://schemas.openxmlformats.org/drawingml/2006/main">
            <a:off x="12435840" y="6521577"/>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6" name="Architecture proof-verifier">
            <a:extLst xmlns:a="http://schemas.openxmlformats.org/drawingml/2006/main">
              <a:ext uri="{FF2B5EF4-FFF2-40B4-BE49-F238E27FC236}">
                <a16:creationId xmlns:a16="http://schemas.microsoft.com/office/drawing/2014/main" id="{ED4B4EA9-3B12-40EE-B70D-8F93335A3EC3}"/>
              </a:ext>
            </a:extLst>
          </p:cNvPr>
          <p:cNvSpPr>
            <a:spLocks xmlns:a="http://schemas.openxmlformats.org/drawingml/2006/main" noGrp="1"/>
          </p:cNvSpPr>
          <p:nvPr/>
        </p:nvSpPr>
        <p:spPr>
          <a:xfrm xmlns:a="http://schemas.openxmlformats.org/drawingml/2006/main">
            <a:off x="12435840" y="6903131"/>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7" name="Architecture qualification">
            <a:extLst xmlns:a="http://schemas.openxmlformats.org/drawingml/2006/main">
              <a:ext uri="{FF2B5EF4-FFF2-40B4-BE49-F238E27FC236}">
                <a16:creationId xmlns:a16="http://schemas.microsoft.com/office/drawing/2014/main" id="{A976E466-23F9-40F6-B6B1-3CF36FF2E294}"/>
              </a:ext>
            </a:extLst>
          </p:cNvPr>
          <p:cNvSpPr>
            <a:spLocks xmlns:a="http://schemas.openxmlformats.org/drawingml/2006/main" noGrp="1"/>
          </p:cNvSpPr>
          <p:nvPr/>
        </p:nvSpPr>
        <p:spPr>
          <a:xfrm xmlns:a="http://schemas.openxmlformats.org/drawingml/2006/main">
            <a:off x="12435840" y="7284685"/>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8" name="Architecture consent">
            <a:extLst xmlns:a="http://schemas.openxmlformats.org/drawingml/2006/main">
              <a:ext uri="{FF2B5EF4-FFF2-40B4-BE49-F238E27FC236}">
                <a16:creationId xmlns:a16="http://schemas.microsoft.com/office/drawing/2014/main" id="{55A6D3D2-2AA0-4047-9E21-4A426D311281}"/>
              </a:ext>
            </a:extLst>
          </p:cNvPr>
          <p:cNvSpPr>
            <a:spLocks xmlns:a="http://schemas.openxmlformats.org/drawingml/2006/main" noGrp="1"/>
          </p:cNvSpPr>
          <p:nvPr/>
        </p:nvSpPr>
        <p:spPr>
          <a:xfrm xmlns:a="http://schemas.openxmlformats.org/drawingml/2006/main">
            <a:off x="12435840" y="7666240"/>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9" name="Architecture label: React interface">
            <a:extLst xmlns:a="http://schemas.openxmlformats.org/drawingml/2006/main">
              <a:ext uri="{FF2B5EF4-FFF2-40B4-BE49-F238E27FC236}">
                <a16:creationId xmlns:a16="http://schemas.microsoft.com/office/drawing/2014/main" id="{58565EEA-54CA-4352-B6FD-74D2CE881EF1}"/>
              </a:ext>
            </a:extLst>
          </p:cNvPr>
          <p:cNvSpPr>
            <a:spLocks xmlns:a="http://schemas.openxmlformats.org/drawingml/2006/main" noGrp="1"/>
          </p:cNvSpPr>
          <p:nvPr/>
        </p:nvSpPr>
        <p:spPr>
          <a:xfrm xmlns:a="http://schemas.openxmlformats.org/drawingml/2006/main">
            <a:off x="1400695" y="6095134"/>
            <a:ext cx="1982585"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defRPr sz="2003" b="1">
                <a:solidFill>
                  <a:srgbClr val="182028"/>
                </a:solidFill>
                <a:latin typeface="Instrument Sans"/>
                <a:ea typeface="Instrument Sans"/>
                <a:cs typeface="Instrument Sans"/>
              </a:defRPr>
            </a:lvl1pPr>
            <a:lvl2pPr>
              <a:defRPr sz="2003" b="1">
                <a:solidFill>
                  <a:srgbClr val="182028"/>
                </a:solidFill>
                <a:latin typeface="Instrument Sans"/>
                <a:ea typeface="Instrument Sans"/>
                <a:cs typeface="Instrument Sans"/>
              </a:defRPr>
            </a:lvl2pPr>
            <a:lvl3pPr>
              <a:defRPr sz="2003" b="1">
                <a:solidFill>
                  <a:srgbClr val="182028"/>
                </a:solidFill>
                <a:latin typeface="Instrument Sans"/>
                <a:ea typeface="Instrument Sans"/>
                <a:cs typeface="Instrument Sans"/>
              </a:defRPr>
            </a:lvl3pPr>
            <a:lvl4pPr>
              <a:defRPr sz="2003" b="1">
                <a:solidFill>
                  <a:srgbClr val="182028"/>
                </a:solidFill>
                <a:latin typeface="Instrument Sans"/>
                <a:ea typeface="Instrument Sans"/>
                <a:cs typeface="Instrument Sans"/>
              </a:defRPr>
            </a:lvl4pPr>
            <a:lvl5pPr>
              <a:defRPr sz="2003" b="1">
                <a:solidFill>
                  <a:srgbClr val="182028"/>
                </a:solidFill>
                <a:latin typeface="Instrument Sans"/>
                <a:ea typeface="Instrument Sans"/>
                <a:cs typeface="Instrument Sans"/>
              </a:defRPr>
            </a:lvl5pPr>
            <a:lvl6pPr>
              <a:defRPr sz="2003" b="1">
                <a:solidFill>
                  <a:srgbClr val="182028"/>
                </a:solidFill>
                <a:latin typeface="Instrument Sans"/>
                <a:ea typeface="Instrument Sans"/>
                <a:cs typeface="Instrument Sans"/>
              </a:defRPr>
            </a:lvl6pPr>
            <a:lvl7pPr>
              <a:defRPr sz="2003" b="1">
                <a:solidFill>
                  <a:srgbClr val="182028"/>
                </a:solidFill>
                <a:latin typeface="Instrument Sans"/>
                <a:ea typeface="Instrument Sans"/>
                <a:cs typeface="Instrument Sans"/>
              </a:defRPr>
            </a:lvl7pPr>
            <a:lvl8pPr>
              <a:defRPr sz="2003" b="1">
                <a:solidFill>
                  <a:srgbClr val="182028"/>
                </a:solidFill>
                <a:latin typeface="Instrument Sans"/>
                <a:ea typeface="Instrument Sans"/>
                <a:cs typeface="Instrument Sans"/>
              </a:defRPr>
            </a:lvl8pPr>
            <a:lvl9pPr>
              <a:defRPr sz="2003" b="1">
                <a:solidFill>
                  <a:srgbClr val="182028"/>
                </a:solidFill>
                <a:latin typeface="Instrument Sans"/>
                <a:ea typeface="Instrument Sans"/>
                <a:cs typeface="Instrument Sans"/>
              </a:defRPr>
            </a:lvl9pPr>
          </a:lstStyle>
          <a:p xmlns:a="http://schemas.openxmlformats.org/drawingml/2006/main">
            <a:pPr>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React interface</a:t>
            </a:r>
          </a:p>
        </p:txBody>
      </p:sp>
      <p:sp>
        <p:nvSpPr>
          <p:cNvPr id="200" name="Architecture label: Buyer / seller / issuer">
            <a:extLst xmlns:a="http://schemas.openxmlformats.org/drawingml/2006/main">
              <a:ext uri="{FF2B5EF4-FFF2-40B4-BE49-F238E27FC236}">
                <a16:creationId xmlns:a16="http://schemas.microsoft.com/office/drawing/2014/main" id="{983253B7-A127-4169-8A05-2AF9CF002EFA}"/>
              </a:ext>
            </a:extLst>
          </p:cNvPr>
          <p:cNvSpPr>
            <a:spLocks xmlns:a="http://schemas.openxmlformats.org/drawingml/2006/main" noGrp="1"/>
          </p:cNvSpPr>
          <p:nvPr/>
        </p:nvSpPr>
        <p:spPr>
          <a:xfrm xmlns:a="http://schemas.openxmlformats.org/drawingml/2006/main">
            <a:off x="1400695" y="6573947"/>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Buyer / seller / issuer</a:t>
            </a:r>
          </a:p>
        </p:txBody>
      </p:sp>
      <p:sp>
        <p:nvSpPr>
          <p:cNvPr id="201" name="Architecture label: User wallet signing">
            <a:extLst xmlns:a="http://schemas.openxmlformats.org/drawingml/2006/main">
              <a:ext uri="{FF2B5EF4-FFF2-40B4-BE49-F238E27FC236}">
                <a16:creationId xmlns:a16="http://schemas.microsoft.com/office/drawing/2014/main" id="{553A9FB0-28C3-4772-883E-53509C279BED}"/>
              </a:ext>
            </a:extLst>
          </p:cNvPr>
          <p:cNvSpPr>
            <a:spLocks xmlns:a="http://schemas.openxmlformats.org/drawingml/2006/main" noGrp="1"/>
          </p:cNvSpPr>
          <p:nvPr/>
        </p:nvSpPr>
        <p:spPr>
          <a:xfrm xmlns:a="http://schemas.openxmlformats.org/drawingml/2006/main">
            <a:off x="1400695" y="6895650"/>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User wallet signing</a:t>
            </a:r>
          </a:p>
        </p:txBody>
      </p:sp>
      <p:sp>
        <p:nvSpPr>
          <p:cNvPr id="202" name="Architecture label: Private deal room">
            <a:extLst xmlns:a="http://schemas.openxmlformats.org/drawingml/2006/main">
              <a:ext uri="{FF2B5EF4-FFF2-40B4-BE49-F238E27FC236}">
                <a16:creationId xmlns:a16="http://schemas.microsoft.com/office/drawing/2014/main" id="{974747FC-7E8C-455B-A7F7-BBAF9E23E342}"/>
              </a:ext>
            </a:extLst>
          </p:cNvPr>
          <p:cNvSpPr>
            <a:spLocks xmlns:a="http://schemas.openxmlformats.org/drawingml/2006/main" noGrp="1"/>
          </p:cNvSpPr>
          <p:nvPr/>
        </p:nvSpPr>
        <p:spPr>
          <a:xfrm xmlns:a="http://schemas.openxmlformats.org/drawingml/2006/main">
            <a:off x="1400695" y="7217352"/>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deal room</a:t>
            </a:r>
          </a:p>
        </p:txBody>
      </p:sp>
      <p:sp>
        <p:nvSpPr>
          <p:cNvPr id="203" name="Architecture label: External verification services">
            <a:extLst xmlns:a="http://schemas.openxmlformats.org/drawingml/2006/main">
              <a:ext uri="{FF2B5EF4-FFF2-40B4-BE49-F238E27FC236}">
                <a16:creationId xmlns:a16="http://schemas.microsoft.com/office/drawing/2014/main" id="{E4C67252-254F-446B-A1C2-27B9F1A12A67}"/>
              </a:ext>
            </a:extLst>
          </p:cNvPr>
          <p:cNvSpPr>
            <a:spLocks xmlns:a="http://schemas.openxmlformats.org/drawingml/2006/main" noGrp="1"/>
          </p:cNvSpPr>
          <p:nvPr/>
        </p:nvSpPr>
        <p:spPr>
          <a:xfrm xmlns:a="http://schemas.openxmlformats.org/drawingml/2006/main">
            <a:off x="4729942" y="3790846"/>
            <a:ext cx="6284422"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defRPr sz="2003" b="1">
                <a:solidFill>
                  <a:srgbClr val="182028"/>
                </a:solidFill>
                <a:latin typeface="Instrument Sans"/>
                <a:ea typeface="Instrument Sans"/>
                <a:cs typeface="Instrument Sans"/>
              </a:defRPr>
            </a:lvl1pPr>
            <a:lvl2pPr>
              <a:defRPr sz="2003" b="1">
                <a:solidFill>
                  <a:srgbClr val="182028"/>
                </a:solidFill>
                <a:latin typeface="Instrument Sans"/>
                <a:ea typeface="Instrument Sans"/>
                <a:cs typeface="Instrument Sans"/>
              </a:defRPr>
            </a:lvl2pPr>
            <a:lvl3pPr>
              <a:defRPr sz="2003" b="1">
                <a:solidFill>
                  <a:srgbClr val="182028"/>
                </a:solidFill>
                <a:latin typeface="Instrument Sans"/>
                <a:ea typeface="Instrument Sans"/>
                <a:cs typeface="Instrument Sans"/>
              </a:defRPr>
            </a:lvl3pPr>
            <a:lvl4pPr>
              <a:defRPr sz="2003" b="1">
                <a:solidFill>
                  <a:srgbClr val="182028"/>
                </a:solidFill>
                <a:latin typeface="Instrument Sans"/>
                <a:ea typeface="Instrument Sans"/>
                <a:cs typeface="Instrument Sans"/>
              </a:defRPr>
            </a:lvl4pPr>
            <a:lvl5pPr>
              <a:defRPr sz="2003" b="1">
                <a:solidFill>
                  <a:srgbClr val="182028"/>
                </a:solidFill>
                <a:latin typeface="Instrument Sans"/>
                <a:ea typeface="Instrument Sans"/>
                <a:cs typeface="Instrument Sans"/>
              </a:defRPr>
            </a:lvl5pPr>
            <a:lvl6pPr>
              <a:defRPr sz="2003" b="1">
                <a:solidFill>
                  <a:srgbClr val="182028"/>
                </a:solidFill>
                <a:latin typeface="Instrument Sans"/>
                <a:ea typeface="Instrument Sans"/>
                <a:cs typeface="Instrument Sans"/>
              </a:defRPr>
            </a:lvl6pPr>
            <a:lvl7pPr>
              <a:defRPr sz="2003" b="1">
                <a:solidFill>
                  <a:srgbClr val="182028"/>
                </a:solidFill>
                <a:latin typeface="Instrument Sans"/>
                <a:ea typeface="Instrument Sans"/>
                <a:cs typeface="Instrument Sans"/>
              </a:defRPr>
            </a:lvl7pPr>
            <a:lvl8pPr>
              <a:defRPr sz="2003" b="1">
                <a:solidFill>
                  <a:srgbClr val="182028"/>
                </a:solidFill>
                <a:latin typeface="Instrument Sans"/>
                <a:ea typeface="Instrument Sans"/>
                <a:cs typeface="Instrument Sans"/>
              </a:defRPr>
            </a:lvl8pPr>
            <a:lvl9pPr>
              <a:defRPr sz="2003" b="1">
                <a:solidFill>
                  <a:srgbClr val="182028"/>
                </a:solidFill>
                <a:latin typeface="Instrument Sans"/>
                <a:ea typeface="Instrument Sans"/>
                <a:cs typeface="Instrument Sans"/>
              </a:defRPr>
            </a:lvl9pPr>
          </a:lstStyle>
          <a:p xmlns:a="http://schemas.openxmlformats.org/drawingml/2006/main">
            <a:pPr>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External verification services</a:t>
            </a:r>
          </a:p>
        </p:txBody>
      </p:sp>
      <p:sp>
        <p:nvSpPr>
          <p:cNvPr id="204" name="Architecture label: Identity">
            <a:extLst xmlns:a="http://schemas.openxmlformats.org/drawingml/2006/main">
              <a:ext uri="{FF2B5EF4-FFF2-40B4-BE49-F238E27FC236}">
                <a16:creationId xmlns:a16="http://schemas.microsoft.com/office/drawing/2014/main" id="{5BD84CAE-9B75-4670-9B77-C0FB3FF16B97}"/>
              </a:ext>
            </a:extLst>
          </p:cNvPr>
          <p:cNvSpPr>
            <a:spLocks xmlns:a="http://schemas.openxmlformats.org/drawingml/2006/main" noGrp="1"/>
          </p:cNvSpPr>
          <p:nvPr/>
        </p:nvSpPr>
        <p:spPr>
          <a:xfrm xmlns:a="http://schemas.openxmlformats.org/drawingml/2006/main">
            <a:off x="476734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1">
                <a:solidFill>
                  <a:srgbClr val="182028"/>
                </a:solidFill>
                <a:latin typeface="Instrument Sans"/>
                <a:ea typeface="Instrument Sans"/>
                <a:cs typeface="Instrument Sans"/>
              </a:defRPr>
            </a:defPPr>
            <a:lvl1pPr>
              <a:defRPr sz="1591" b="1">
                <a:solidFill>
                  <a:srgbClr val="182028"/>
                </a:solidFill>
                <a:latin typeface="Instrument Sans"/>
                <a:ea typeface="Instrument Sans"/>
                <a:cs typeface="Instrument Sans"/>
              </a:defRPr>
            </a:lvl1pPr>
            <a:lvl2pPr>
              <a:defRPr sz="1591" b="1">
                <a:solidFill>
                  <a:srgbClr val="182028"/>
                </a:solidFill>
                <a:latin typeface="Instrument Sans"/>
                <a:ea typeface="Instrument Sans"/>
                <a:cs typeface="Instrument Sans"/>
              </a:defRPr>
            </a:lvl2pPr>
            <a:lvl3pPr>
              <a:defRPr sz="1591" b="1">
                <a:solidFill>
                  <a:srgbClr val="182028"/>
                </a:solidFill>
                <a:latin typeface="Instrument Sans"/>
                <a:ea typeface="Instrument Sans"/>
                <a:cs typeface="Instrument Sans"/>
              </a:defRPr>
            </a:lvl3pPr>
            <a:lvl4pPr>
              <a:defRPr sz="1591" b="1">
                <a:solidFill>
                  <a:srgbClr val="182028"/>
                </a:solidFill>
                <a:latin typeface="Instrument Sans"/>
                <a:ea typeface="Instrument Sans"/>
                <a:cs typeface="Instrument Sans"/>
              </a:defRPr>
            </a:lvl4pPr>
            <a:lvl5pPr>
              <a:defRPr sz="1591" b="1">
                <a:solidFill>
                  <a:srgbClr val="182028"/>
                </a:solidFill>
                <a:latin typeface="Instrument Sans"/>
                <a:ea typeface="Instrument Sans"/>
                <a:cs typeface="Instrument Sans"/>
              </a:defRPr>
            </a:lvl5pPr>
            <a:lvl6pPr>
              <a:defRPr sz="1591" b="1">
                <a:solidFill>
                  <a:srgbClr val="182028"/>
                </a:solidFill>
                <a:latin typeface="Instrument Sans"/>
                <a:ea typeface="Instrument Sans"/>
                <a:cs typeface="Instrument Sans"/>
              </a:defRPr>
            </a:lvl6pPr>
            <a:lvl7pPr>
              <a:defRPr sz="1591" b="1">
                <a:solidFill>
                  <a:srgbClr val="182028"/>
                </a:solidFill>
                <a:latin typeface="Instrument Sans"/>
                <a:ea typeface="Instrument Sans"/>
                <a:cs typeface="Instrument Sans"/>
              </a:defRPr>
            </a:lvl7pPr>
            <a:lvl8pPr>
              <a:defRPr sz="1591" b="1">
                <a:solidFill>
                  <a:srgbClr val="182028"/>
                </a:solidFill>
                <a:latin typeface="Instrument Sans"/>
                <a:ea typeface="Instrument Sans"/>
                <a:cs typeface="Instrument Sans"/>
              </a:defRPr>
            </a:lvl8pPr>
            <a:lvl9pPr>
              <a:defRPr sz="1591" b="1">
                <a:solidFill>
                  <a:srgbClr val="182028"/>
                </a:solidFill>
                <a:latin typeface="Instrument Sans"/>
                <a:ea typeface="Instrument Sans"/>
                <a:cs typeface="Instrument Sans"/>
              </a:defRPr>
            </a:lvl9pPr>
          </a:lstStyle>
          <a:p xmlns:a="http://schemas.openxmlformats.org/drawingml/2006/main">
            <a:pPr>
              <a:defRPr sz="1591" b="1">
                <a:solidFill>
                  <a:srgbClr val="182028"/>
                </a:solidFill>
                <a:latin typeface="Instrument Sans"/>
                <a:ea typeface="Instrument Sans"/>
                <a:cs typeface="Instrument Sans"/>
              </a:defRPr>
            </a:pPr>
            <a:r>
              <a:rPr sz="1591" b="1">
                <a:solidFill>
                  <a:srgbClr val="182028"/>
                </a:solidFill>
                <a:latin typeface="Instrument Sans"/>
                <a:ea typeface="Instrument Sans"/>
                <a:cs typeface="Instrument Sans"/>
              </a:rPr>
              <a:t>Identity</a:t>
            </a:r>
          </a:p>
        </p:txBody>
      </p:sp>
      <p:sp>
        <p:nvSpPr>
          <p:cNvPr id="205" name="Architecture label: Didit">
            <a:extLst xmlns:a="http://schemas.openxmlformats.org/drawingml/2006/main">
              <a:ext uri="{FF2B5EF4-FFF2-40B4-BE49-F238E27FC236}">
                <a16:creationId xmlns:a16="http://schemas.microsoft.com/office/drawing/2014/main" id="{366807E1-386B-4759-813B-D223CD19DF0A}"/>
              </a:ext>
            </a:extLst>
          </p:cNvPr>
          <p:cNvSpPr>
            <a:spLocks xmlns:a="http://schemas.openxmlformats.org/drawingml/2006/main" noGrp="1"/>
          </p:cNvSpPr>
          <p:nvPr/>
        </p:nvSpPr>
        <p:spPr>
          <a:xfrm xmlns:a="http://schemas.openxmlformats.org/drawingml/2006/main">
            <a:off x="476734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Didit</a:t>
            </a:r>
          </a:p>
        </p:txBody>
      </p:sp>
      <p:sp>
        <p:nvSpPr>
          <p:cNvPr id="206" name="Architecture label: Funds">
            <a:extLst xmlns:a="http://schemas.openxmlformats.org/drawingml/2006/main">
              <a:ext uri="{FF2B5EF4-FFF2-40B4-BE49-F238E27FC236}">
                <a16:creationId xmlns:a16="http://schemas.microsoft.com/office/drawing/2014/main" id="{3C756808-FBB3-40C1-899A-A72EB0F6A093}"/>
              </a:ext>
            </a:extLst>
          </p:cNvPr>
          <p:cNvSpPr>
            <a:spLocks xmlns:a="http://schemas.openxmlformats.org/drawingml/2006/main" noGrp="1"/>
          </p:cNvSpPr>
          <p:nvPr/>
        </p:nvSpPr>
        <p:spPr>
          <a:xfrm xmlns:a="http://schemas.openxmlformats.org/drawingml/2006/main">
            <a:off x="641326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Funds</a:t>
            </a:r>
          </a:p>
        </p:txBody>
      </p:sp>
      <p:sp>
        <p:nvSpPr>
          <p:cNvPr id="207" name="Architecture label: Reclaim">
            <a:extLst xmlns:a="http://schemas.openxmlformats.org/drawingml/2006/main">
              <a:ext uri="{FF2B5EF4-FFF2-40B4-BE49-F238E27FC236}">
                <a16:creationId xmlns:a16="http://schemas.microsoft.com/office/drawing/2014/main" id="{8BD7BD0A-0A41-45B2-9620-F6AE2A3016CE}"/>
              </a:ext>
            </a:extLst>
          </p:cNvPr>
          <p:cNvSpPr>
            <a:spLocks xmlns:a="http://schemas.openxmlformats.org/drawingml/2006/main" noGrp="1"/>
          </p:cNvSpPr>
          <p:nvPr/>
        </p:nvSpPr>
        <p:spPr>
          <a:xfrm xmlns:a="http://schemas.openxmlformats.org/drawingml/2006/main">
            <a:off x="641326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Reclaim</a:t>
            </a:r>
          </a:p>
        </p:txBody>
      </p:sp>
      <p:sp>
        <p:nvSpPr>
          <p:cNvPr id="208" name="Architecture label: Property">
            <a:extLst xmlns:a="http://schemas.openxmlformats.org/drawingml/2006/main">
              <a:ext uri="{FF2B5EF4-FFF2-40B4-BE49-F238E27FC236}">
                <a16:creationId xmlns:a16="http://schemas.microsoft.com/office/drawing/2014/main" id="{11036EE1-B83A-44DA-B8A0-2194DE7B5417}"/>
              </a:ext>
            </a:extLst>
          </p:cNvPr>
          <p:cNvSpPr>
            <a:spLocks xmlns:a="http://schemas.openxmlformats.org/drawingml/2006/main" noGrp="1"/>
          </p:cNvSpPr>
          <p:nvPr/>
        </p:nvSpPr>
        <p:spPr>
          <a:xfrm xmlns:a="http://schemas.openxmlformats.org/drawingml/2006/main">
            <a:off x="805918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1">
                <a:solidFill>
                  <a:srgbClr val="182028"/>
                </a:solidFill>
                <a:latin typeface="Instrument Sans"/>
                <a:ea typeface="Instrument Sans"/>
                <a:cs typeface="Instrument Sans"/>
              </a:defRPr>
            </a:defPPr>
            <a:lvl1pPr>
              <a:defRPr sz="1591" b="1">
                <a:solidFill>
                  <a:srgbClr val="182028"/>
                </a:solidFill>
                <a:latin typeface="Instrument Sans"/>
                <a:ea typeface="Instrument Sans"/>
                <a:cs typeface="Instrument Sans"/>
              </a:defRPr>
            </a:lvl1pPr>
            <a:lvl2pPr>
              <a:defRPr sz="1591" b="1">
                <a:solidFill>
                  <a:srgbClr val="182028"/>
                </a:solidFill>
                <a:latin typeface="Instrument Sans"/>
                <a:ea typeface="Instrument Sans"/>
                <a:cs typeface="Instrument Sans"/>
              </a:defRPr>
            </a:lvl2pPr>
            <a:lvl3pPr>
              <a:defRPr sz="1591" b="1">
                <a:solidFill>
                  <a:srgbClr val="182028"/>
                </a:solidFill>
                <a:latin typeface="Instrument Sans"/>
                <a:ea typeface="Instrument Sans"/>
                <a:cs typeface="Instrument Sans"/>
              </a:defRPr>
            </a:lvl3pPr>
            <a:lvl4pPr>
              <a:defRPr sz="1591" b="1">
                <a:solidFill>
                  <a:srgbClr val="182028"/>
                </a:solidFill>
                <a:latin typeface="Instrument Sans"/>
                <a:ea typeface="Instrument Sans"/>
                <a:cs typeface="Instrument Sans"/>
              </a:defRPr>
            </a:lvl4pPr>
            <a:lvl5pPr>
              <a:defRPr sz="1591" b="1">
                <a:solidFill>
                  <a:srgbClr val="182028"/>
                </a:solidFill>
                <a:latin typeface="Instrument Sans"/>
                <a:ea typeface="Instrument Sans"/>
                <a:cs typeface="Instrument Sans"/>
              </a:defRPr>
            </a:lvl5pPr>
            <a:lvl6pPr>
              <a:defRPr sz="1591" b="1">
                <a:solidFill>
                  <a:srgbClr val="182028"/>
                </a:solidFill>
                <a:latin typeface="Instrument Sans"/>
                <a:ea typeface="Instrument Sans"/>
                <a:cs typeface="Instrument Sans"/>
              </a:defRPr>
            </a:lvl6pPr>
            <a:lvl7pPr>
              <a:defRPr sz="1591" b="1">
                <a:solidFill>
                  <a:srgbClr val="182028"/>
                </a:solidFill>
                <a:latin typeface="Instrument Sans"/>
                <a:ea typeface="Instrument Sans"/>
                <a:cs typeface="Instrument Sans"/>
              </a:defRPr>
            </a:lvl7pPr>
            <a:lvl8pPr>
              <a:defRPr sz="1591" b="1">
                <a:solidFill>
                  <a:srgbClr val="182028"/>
                </a:solidFill>
                <a:latin typeface="Instrument Sans"/>
                <a:ea typeface="Instrument Sans"/>
                <a:cs typeface="Instrument Sans"/>
              </a:defRPr>
            </a:lvl8pPr>
            <a:lvl9pPr>
              <a:defRPr sz="1591" b="1">
                <a:solidFill>
                  <a:srgbClr val="182028"/>
                </a:solidFill>
                <a:latin typeface="Instrument Sans"/>
                <a:ea typeface="Instrument Sans"/>
                <a:cs typeface="Instrument Sans"/>
              </a:defRPr>
            </a:lvl9pPr>
          </a:lstStyle>
          <a:p xmlns:a="http://schemas.openxmlformats.org/drawingml/2006/main">
            <a:pPr>
              <a:defRPr sz="1591" b="1">
                <a:solidFill>
                  <a:srgbClr val="182028"/>
                </a:solidFill>
                <a:latin typeface="Instrument Sans"/>
                <a:ea typeface="Instrument Sans"/>
                <a:cs typeface="Instrument Sans"/>
              </a:defRPr>
            </a:pPr>
            <a:r>
              <a:rPr sz="1591" b="1">
                <a:solidFill>
                  <a:srgbClr val="182028"/>
                </a:solidFill>
                <a:latin typeface="Instrument Sans"/>
                <a:ea typeface="Instrument Sans"/>
                <a:cs typeface="Instrument Sans"/>
              </a:rPr>
              <a:t>Property</a:t>
            </a:r>
          </a:p>
        </p:txBody>
      </p:sp>
      <p:sp>
        <p:nvSpPr>
          <p:cNvPr id="209" name="Architecture label: Predial Online">
            <a:extLst xmlns:a="http://schemas.openxmlformats.org/drawingml/2006/main">
              <a:ext uri="{FF2B5EF4-FFF2-40B4-BE49-F238E27FC236}">
                <a16:creationId xmlns:a16="http://schemas.microsoft.com/office/drawing/2014/main" id="{59CA891C-B582-484F-AD14-10E6FF327264}"/>
              </a:ext>
            </a:extLst>
          </p:cNvPr>
          <p:cNvSpPr>
            <a:spLocks xmlns:a="http://schemas.openxmlformats.org/drawingml/2006/main" noGrp="1"/>
          </p:cNvSpPr>
          <p:nvPr/>
        </p:nvSpPr>
        <p:spPr>
          <a:xfrm xmlns:a="http://schemas.openxmlformats.org/drawingml/2006/main">
            <a:off x="805918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Predial Online</a:t>
            </a:r>
          </a:p>
        </p:txBody>
      </p:sp>
      <p:sp>
        <p:nvSpPr>
          <p:cNvPr id="210" name="Architecture label: Credentials">
            <a:extLst xmlns:a="http://schemas.openxmlformats.org/drawingml/2006/main">
              <a:ext uri="{FF2B5EF4-FFF2-40B4-BE49-F238E27FC236}">
                <a16:creationId xmlns:a16="http://schemas.microsoft.com/office/drawing/2014/main" id="{D05900BE-23DB-4DC0-A10E-208A2D35304B}"/>
              </a:ext>
            </a:extLst>
          </p:cNvPr>
          <p:cNvSpPr>
            <a:spLocks xmlns:a="http://schemas.openxmlformats.org/drawingml/2006/main" noGrp="1"/>
          </p:cNvSpPr>
          <p:nvPr/>
        </p:nvSpPr>
        <p:spPr>
          <a:xfrm xmlns:a="http://schemas.openxmlformats.org/drawingml/2006/main">
            <a:off x="970510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1">
                <a:solidFill>
                  <a:srgbClr val="182028"/>
                </a:solidFill>
                <a:latin typeface="Instrument Sans"/>
                <a:ea typeface="Instrument Sans"/>
                <a:cs typeface="Instrument Sans"/>
              </a:defRPr>
            </a:defPPr>
            <a:lvl1pPr>
              <a:defRPr sz="1532" b="1">
                <a:solidFill>
                  <a:srgbClr val="182028"/>
                </a:solidFill>
                <a:latin typeface="Instrument Sans"/>
                <a:ea typeface="Instrument Sans"/>
                <a:cs typeface="Instrument Sans"/>
              </a:defRPr>
            </a:lvl1pPr>
            <a:lvl2pPr>
              <a:defRPr sz="1532" b="1">
                <a:solidFill>
                  <a:srgbClr val="182028"/>
                </a:solidFill>
                <a:latin typeface="Instrument Sans"/>
                <a:ea typeface="Instrument Sans"/>
                <a:cs typeface="Instrument Sans"/>
              </a:defRPr>
            </a:lvl2pPr>
            <a:lvl3pPr>
              <a:defRPr sz="1532" b="1">
                <a:solidFill>
                  <a:srgbClr val="182028"/>
                </a:solidFill>
                <a:latin typeface="Instrument Sans"/>
                <a:ea typeface="Instrument Sans"/>
                <a:cs typeface="Instrument Sans"/>
              </a:defRPr>
            </a:lvl3pPr>
            <a:lvl4pPr>
              <a:defRPr sz="1532" b="1">
                <a:solidFill>
                  <a:srgbClr val="182028"/>
                </a:solidFill>
                <a:latin typeface="Instrument Sans"/>
                <a:ea typeface="Instrument Sans"/>
                <a:cs typeface="Instrument Sans"/>
              </a:defRPr>
            </a:lvl4pPr>
            <a:lvl5pPr>
              <a:defRPr sz="1532" b="1">
                <a:solidFill>
                  <a:srgbClr val="182028"/>
                </a:solidFill>
                <a:latin typeface="Instrument Sans"/>
                <a:ea typeface="Instrument Sans"/>
                <a:cs typeface="Instrument Sans"/>
              </a:defRPr>
            </a:lvl5pPr>
            <a:lvl6pPr>
              <a:defRPr sz="1532" b="1">
                <a:solidFill>
                  <a:srgbClr val="182028"/>
                </a:solidFill>
                <a:latin typeface="Instrument Sans"/>
                <a:ea typeface="Instrument Sans"/>
                <a:cs typeface="Instrument Sans"/>
              </a:defRPr>
            </a:lvl6pPr>
            <a:lvl7pPr>
              <a:defRPr sz="1532" b="1">
                <a:solidFill>
                  <a:srgbClr val="182028"/>
                </a:solidFill>
                <a:latin typeface="Instrument Sans"/>
                <a:ea typeface="Instrument Sans"/>
                <a:cs typeface="Instrument Sans"/>
              </a:defRPr>
            </a:lvl7pPr>
            <a:lvl8pPr>
              <a:defRPr sz="1532" b="1">
                <a:solidFill>
                  <a:srgbClr val="182028"/>
                </a:solidFill>
                <a:latin typeface="Instrument Sans"/>
                <a:ea typeface="Instrument Sans"/>
                <a:cs typeface="Instrument Sans"/>
              </a:defRPr>
            </a:lvl8pPr>
            <a:lvl9pPr>
              <a:defRPr sz="1532" b="1">
                <a:solidFill>
                  <a:srgbClr val="182028"/>
                </a:solidFill>
                <a:latin typeface="Instrument Sans"/>
                <a:ea typeface="Instrument Sans"/>
                <a:cs typeface="Instrument Sans"/>
              </a:defRPr>
            </a:lvl9pPr>
          </a:lstStyle>
          <a:p xmlns:a="http://schemas.openxmlformats.org/drawingml/2006/main">
            <a:pPr>
              <a:defRPr sz="1532" b="1">
                <a:solidFill>
                  <a:srgbClr val="182028"/>
                </a:solidFill>
                <a:latin typeface="Instrument Sans"/>
                <a:ea typeface="Instrument Sans"/>
                <a:cs typeface="Instrument Sans"/>
              </a:defRPr>
            </a:pPr>
            <a:r>
              <a:rPr sz="1532" b="1">
                <a:solidFill>
                  <a:srgbClr val="182028"/>
                </a:solidFill>
                <a:latin typeface="Instrument Sans"/>
                <a:ea typeface="Instrument Sans"/>
                <a:cs typeface="Instrument Sans"/>
              </a:rPr>
              <a:t>Credentials</a:t>
            </a:r>
          </a:p>
        </p:txBody>
      </p:sp>
      <p:sp>
        <p:nvSpPr>
          <p:cNvPr id="211" name="Architecture label: ACTA">
            <a:extLst xmlns:a="http://schemas.openxmlformats.org/drawingml/2006/main">
              <a:ext uri="{FF2B5EF4-FFF2-40B4-BE49-F238E27FC236}">
                <a16:creationId xmlns:a16="http://schemas.microsoft.com/office/drawing/2014/main" id="{89858C87-F28D-4939-BA44-A3E66E87B38F}"/>
              </a:ext>
            </a:extLst>
          </p:cNvPr>
          <p:cNvSpPr>
            <a:spLocks xmlns:a="http://schemas.openxmlformats.org/drawingml/2006/main" noGrp="1"/>
          </p:cNvSpPr>
          <p:nvPr/>
        </p:nvSpPr>
        <p:spPr>
          <a:xfrm xmlns:a="http://schemas.openxmlformats.org/drawingml/2006/main">
            <a:off x="970510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ACTA</a:t>
            </a:r>
          </a:p>
        </p:txBody>
      </p:sp>
      <p:sp>
        <p:nvSpPr>
          <p:cNvPr id="212" name="Architecture label: Cloudflare backend">
            <a:extLst xmlns:a="http://schemas.openxmlformats.org/drawingml/2006/main">
              <a:ext uri="{FF2B5EF4-FFF2-40B4-BE49-F238E27FC236}">
                <a16:creationId xmlns:a16="http://schemas.microsoft.com/office/drawing/2014/main" id="{C10A7DDF-1165-4663-94B2-68237BFF1E5F}"/>
              </a:ext>
            </a:extLst>
          </p:cNvPr>
          <p:cNvSpPr>
            <a:spLocks xmlns:a="http://schemas.openxmlformats.org/drawingml/2006/main" noGrp="1"/>
          </p:cNvSpPr>
          <p:nvPr/>
        </p:nvSpPr>
        <p:spPr>
          <a:xfrm xmlns:a="http://schemas.openxmlformats.org/drawingml/2006/main">
            <a:off x="4729942" y="5825802"/>
            <a:ext cx="6284422"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defRPr sz="2121" b="1">
                <a:solidFill>
                  <a:srgbClr val="182028"/>
                </a:solidFill>
                <a:latin typeface="Instrument Sans"/>
                <a:ea typeface="Instrument Sans"/>
                <a:cs typeface="Instrument Sans"/>
              </a:defRPr>
            </a:lvl1pPr>
            <a:lvl2pPr>
              <a:defRPr sz="2121" b="1">
                <a:solidFill>
                  <a:srgbClr val="182028"/>
                </a:solidFill>
                <a:latin typeface="Instrument Sans"/>
                <a:ea typeface="Instrument Sans"/>
                <a:cs typeface="Instrument Sans"/>
              </a:defRPr>
            </a:lvl2pPr>
            <a:lvl3pPr>
              <a:defRPr sz="2121" b="1">
                <a:solidFill>
                  <a:srgbClr val="182028"/>
                </a:solidFill>
                <a:latin typeface="Instrument Sans"/>
                <a:ea typeface="Instrument Sans"/>
                <a:cs typeface="Instrument Sans"/>
              </a:defRPr>
            </a:lvl3pPr>
            <a:lvl4pPr>
              <a:defRPr sz="2121" b="1">
                <a:solidFill>
                  <a:srgbClr val="182028"/>
                </a:solidFill>
                <a:latin typeface="Instrument Sans"/>
                <a:ea typeface="Instrument Sans"/>
                <a:cs typeface="Instrument Sans"/>
              </a:defRPr>
            </a:lvl4pPr>
            <a:lvl5pPr>
              <a:defRPr sz="2121" b="1">
                <a:solidFill>
                  <a:srgbClr val="182028"/>
                </a:solidFill>
                <a:latin typeface="Instrument Sans"/>
                <a:ea typeface="Instrument Sans"/>
                <a:cs typeface="Instrument Sans"/>
              </a:defRPr>
            </a:lvl5pPr>
            <a:lvl6pPr>
              <a:defRPr sz="2121" b="1">
                <a:solidFill>
                  <a:srgbClr val="182028"/>
                </a:solidFill>
                <a:latin typeface="Instrument Sans"/>
                <a:ea typeface="Instrument Sans"/>
                <a:cs typeface="Instrument Sans"/>
              </a:defRPr>
            </a:lvl6pPr>
            <a:lvl7pPr>
              <a:defRPr sz="2121" b="1">
                <a:solidFill>
                  <a:srgbClr val="182028"/>
                </a:solidFill>
                <a:latin typeface="Instrument Sans"/>
                <a:ea typeface="Instrument Sans"/>
                <a:cs typeface="Instrument Sans"/>
              </a:defRPr>
            </a:lvl7pPr>
            <a:lvl8pPr>
              <a:defRPr sz="2121" b="1">
                <a:solidFill>
                  <a:srgbClr val="182028"/>
                </a:solidFill>
                <a:latin typeface="Instrument Sans"/>
                <a:ea typeface="Instrument Sans"/>
                <a:cs typeface="Instrument Sans"/>
              </a:defRPr>
            </a:lvl8pPr>
            <a:lvl9pPr>
              <a:defRPr sz="2121" b="1">
                <a:solidFill>
                  <a:srgbClr val="182028"/>
                </a:solidFill>
                <a:latin typeface="Instrument Sans"/>
                <a:ea typeface="Instrument Sans"/>
                <a:cs typeface="Instrument Sans"/>
              </a:defRPr>
            </a:lvl9pPr>
          </a:lstStyle>
          <a:p xmlns:a="http://schemas.openxmlformats.org/drawingml/2006/main">
            <a:pPr>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Cloudflare backend</a:t>
            </a:r>
          </a:p>
        </p:txBody>
      </p:sp>
      <p:sp>
        <p:nvSpPr>
          <p:cNvPr id="213" name="Architecture label: Workers API / issuer adapters / access control">
            <a:extLst xmlns:a="http://schemas.openxmlformats.org/drawingml/2006/main">
              <a:ext uri="{FF2B5EF4-FFF2-40B4-BE49-F238E27FC236}">
                <a16:creationId xmlns:a16="http://schemas.microsoft.com/office/drawing/2014/main" id="{667AA54B-1000-4847-ADFF-E7626D32056F}"/>
              </a:ext>
            </a:extLst>
          </p:cNvPr>
          <p:cNvSpPr>
            <a:spLocks xmlns:a="http://schemas.openxmlformats.org/drawingml/2006/main" noGrp="1"/>
          </p:cNvSpPr>
          <p:nvPr/>
        </p:nvSpPr>
        <p:spPr>
          <a:xfrm xmlns:a="http://schemas.openxmlformats.org/drawingml/2006/main">
            <a:off x="4729942" y="6207356"/>
            <a:ext cx="6284422"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Workers API / issuer adapters / access control</a:t>
            </a:r>
          </a:p>
        </p:txBody>
      </p:sp>
      <p:sp>
        <p:nvSpPr>
          <p:cNvPr id="214" name="Architecture label: Buyer verification">
            <a:extLst xmlns:a="http://schemas.openxmlformats.org/drawingml/2006/main">
              <a:ext uri="{FF2B5EF4-FFF2-40B4-BE49-F238E27FC236}">
                <a16:creationId xmlns:a16="http://schemas.microsoft.com/office/drawing/2014/main" id="{5892B7C6-A0DF-4A4C-AAFB-BD61739A9126}"/>
              </a:ext>
            </a:extLst>
          </p:cNvPr>
          <p:cNvSpPr>
            <a:spLocks xmlns:a="http://schemas.openxmlformats.org/drawingml/2006/main" noGrp="1"/>
          </p:cNvSpPr>
          <p:nvPr/>
        </p:nvSpPr>
        <p:spPr>
          <a:xfrm xmlns:a="http://schemas.openxmlformats.org/drawingml/2006/main">
            <a:off x="4767349"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Buyer verification</a:t>
            </a:r>
          </a:p>
        </p:txBody>
      </p:sp>
      <p:sp>
        <p:nvSpPr>
          <p:cNvPr id="215" name="Architecture label: Funds credentials">
            <a:extLst xmlns:a="http://schemas.openxmlformats.org/drawingml/2006/main">
              <a:ext uri="{FF2B5EF4-FFF2-40B4-BE49-F238E27FC236}">
                <a16:creationId xmlns:a16="http://schemas.microsoft.com/office/drawing/2014/main" id="{A2D14DB7-3BC0-454B-9B66-FC723A6F7F13}"/>
              </a:ext>
            </a:extLst>
          </p:cNvPr>
          <p:cNvSpPr>
            <a:spLocks xmlns:a="http://schemas.openxmlformats.org/drawingml/2006/main" noGrp="1"/>
          </p:cNvSpPr>
          <p:nvPr/>
        </p:nvSpPr>
        <p:spPr>
          <a:xfrm xmlns:a="http://schemas.openxmlformats.org/drawingml/2006/main">
            <a:off x="4767349"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Funds credentials</a:t>
            </a:r>
          </a:p>
        </p:txBody>
      </p:sp>
      <p:sp>
        <p:nvSpPr>
          <p:cNvPr id="216" name="Architecture label: Renew / revoke">
            <a:extLst xmlns:a="http://schemas.openxmlformats.org/drawingml/2006/main">
              <a:ext uri="{FF2B5EF4-FFF2-40B4-BE49-F238E27FC236}">
                <a16:creationId xmlns:a16="http://schemas.microsoft.com/office/drawing/2014/main" id="{1FE956E7-8AE8-41D5-BA27-C36E0214F906}"/>
              </a:ext>
            </a:extLst>
          </p:cNvPr>
          <p:cNvSpPr>
            <a:spLocks xmlns:a="http://schemas.openxmlformats.org/drawingml/2006/main" noGrp="1"/>
          </p:cNvSpPr>
          <p:nvPr/>
        </p:nvSpPr>
        <p:spPr>
          <a:xfrm xmlns:a="http://schemas.openxmlformats.org/drawingml/2006/main">
            <a:off x="4767349"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Renew / revoke</a:t>
            </a:r>
          </a:p>
        </p:txBody>
      </p:sp>
      <p:sp>
        <p:nvSpPr>
          <p:cNvPr id="217" name="Architecture label: Seller verification">
            <a:extLst xmlns:a="http://schemas.openxmlformats.org/drawingml/2006/main">
              <a:ext uri="{FF2B5EF4-FFF2-40B4-BE49-F238E27FC236}">
                <a16:creationId xmlns:a16="http://schemas.microsoft.com/office/drawing/2014/main" id="{D513F4D4-EBD4-4861-8592-9355C7B64389}"/>
              </a:ext>
            </a:extLst>
          </p:cNvPr>
          <p:cNvSpPr>
            <a:spLocks xmlns:a="http://schemas.openxmlformats.org/drawingml/2006/main" noGrp="1"/>
          </p:cNvSpPr>
          <p:nvPr/>
        </p:nvSpPr>
        <p:spPr>
          <a:xfrm xmlns:a="http://schemas.openxmlformats.org/drawingml/2006/main">
            <a:off x="6936971"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Seller verification</a:t>
            </a:r>
          </a:p>
        </p:txBody>
      </p:sp>
      <p:sp>
        <p:nvSpPr>
          <p:cNvPr id="218" name="Architecture label: Identity + mandate">
            <a:extLst xmlns:a="http://schemas.openxmlformats.org/drawingml/2006/main">
              <a:ext uri="{FF2B5EF4-FFF2-40B4-BE49-F238E27FC236}">
                <a16:creationId xmlns:a16="http://schemas.microsoft.com/office/drawing/2014/main" id="{A17EFB61-B4F5-494D-8A3C-3CD91CCF010F}"/>
              </a:ext>
            </a:extLst>
          </p:cNvPr>
          <p:cNvSpPr>
            <a:spLocks xmlns:a="http://schemas.openxmlformats.org/drawingml/2006/main" noGrp="1"/>
          </p:cNvSpPr>
          <p:nvPr/>
        </p:nvSpPr>
        <p:spPr>
          <a:xfrm xmlns:a="http://schemas.openxmlformats.org/drawingml/2006/main">
            <a:off x="6936971"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Identity + mandate</a:t>
            </a:r>
          </a:p>
        </p:txBody>
      </p:sp>
      <p:sp>
        <p:nvSpPr>
          <p:cNvPr id="219" name="Architecture label: Evidence review">
            <a:extLst xmlns:a="http://schemas.openxmlformats.org/drawingml/2006/main">
              <a:ext uri="{FF2B5EF4-FFF2-40B4-BE49-F238E27FC236}">
                <a16:creationId xmlns:a16="http://schemas.microsoft.com/office/drawing/2014/main" id="{B1A0A481-6A69-4D8C-BD02-F9E0295F4366}"/>
              </a:ext>
            </a:extLst>
          </p:cNvPr>
          <p:cNvSpPr>
            <a:spLocks xmlns:a="http://schemas.openxmlformats.org/drawingml/2006/main" noGrp="1"/>
          </p:cNvSpPr>
          <p:nvPr/>
        </p:nvSpPr>
        <p:spPr>
          <a:xfrm xmlns:a="http://schemas.openxmlformats.org/drawingml/2006/main">
            <a:off x="6936971"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Evidence review</a:t>
            </a:r>
          </a:p>
        </p:txBody>
      </p:sp>
      <p:sp>
        <p:nvSpPr>
          <p:cNvPr id="220" name="Architecture label: Deal access">
            <a:extLst xmlns:a="http://schemas.openxmlformats.org/drawingml/2006/main">
              <a:ext uri="{FF2B5EF4-FFF2-40B4-BE49-F238E27FC236}">
                <a16:creationId xmlns:a16="http://schemas.microsoft.com/office/drawing/2014/main" id="{29EC4737-B9F4-4D78-BEFD-FE231051B913}"/>
              </a:ext>
            </a:extLst>
          </p:cNvPr>
          <p:cNvSpPr>
            <a:spLocks xmlns:a="http://schemas.openxmlformats.org/drawingml/2006/main" noGrp="1"/>
          </p:cNvSpPr>
          <p:nvPr/>
        </p:nvSpPr>
        <p:spPr>
          <a:xfrm xmlns:a="http://schemas.openxmlformats.org/drawingml/2006/main">
            <a:off x="9106593"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Deal access</a:t>
            </a:r>
          </a:p>
        </p:txBody>
      </p:sp>
      <p:sp>
        <p:nvSpPr>
          <p:cNvPr id="221" name="Architecture label: Rules + consent">
            <a:extLst xmlns:a="http://schemas.openxmlformats.org/drawingml/2006/main">
              <a:ext uri="{FF2B5EF4-FFF2-40B4-BE49-F238E27FC236}">
                <a16:creationId xmlns:a16="http://schemas.microsoft.com/office/drawing/2014/main" id="{EA53D144-A44A-4706-BDBE-24C47D92E30A}"/>
              </a:ext>
            </a:extLst>
          </p:cNvPr>
          <p:cNvSpPr>
            <a:spLocks xmlns:a="http://schemas.openxmlformats.org/drawingml/2006/main" noGrp="1"/>
          </p:cNvSpPr>
          <p:nvPr/>
        </p:nvSpPr>
        <p:spPr>
          <a:xfrm xmlns:a="http://schemas.openxmlformats.org/drawingml/2006/main">
            <a:off x="9106593"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Rules + consent</a:t>
            </a:r>
          </a:p>
        </p:txBody>
      </p:sp>
      <p:sp>
        <p:nvSpPr>
          <p:cNvPr id="222" name="Architecture label: Private data room">
            <a:extLst xmlns:a="http://schemas.openxmlformats.org/drawingml/2006/main">
              <a:ext uri="{FF2B5EF4-FFF2-40B4-BE49-F238E27FC236}">
                <a16:creationId xmlns:a16="http://schemas.microsoft.com/office/drawing/2014/main" id="{960869FD-9384-41DF-A23B-48EC8EC9936D}"/>
              </a:ext>
            </a:extLst>
          </p:cNvPr>
          <p:cNvSpPr>
            <a:spLocks xmlns:a="http://schemas.openxmlformats.org/drawingml/2006/main" noGrp="1"/>
          </p:cNvSpPr>
          <p:nvPr/>
        </p:nvSpPr>
        <p:spPr>
          <a:xfrm xmlns:a="http://schemas.openxmlformats.org/drawingml/2006/main">
            <a:off x="9106593"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data room</a:t>
            </a:r>
          </a:p>
        </p:txBody>
      </p:sp>
      <p:sp>
        <p:nvSpPr>
          <p:cNvPr id="223" name="Architecture label: D1 / Records &amp; audit">
            <a:extLst xmlns:a="http://schemas.openxmlformats.org/drawingml/2006/main">
              <a:ext uri="{FF2B5EF4-FFF2-40B4-BE49-F238E27FC236}">
                <a16:creationId xmlns:a16="http://schemas.microsoft.com/office/drawing/2014/main" id="{37442B3E-97BC-494C-935A-24DEAA4DAC4C}"/>
              </a:ext>
            </a:extLst>
          </p:cNvPr>
          <p:cNvSpPr>
            <a:spLocks xmlns:a="http://schemas.openxmlformats.org/drawingml/2006/main" noGrp="1"/>
          </p:cNvSpPr>
          <p:nvPr/>
        </p:nvSpPr>
        <p:spPr>
          <a:xfrm xmlns:a="http://schemas.openxmlformats.org/drawingml/2006/main">
            <a:off x="4767349" y="7860757"/>
            <a:ext cx="291776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D1 / Records &amp; audit</a:t>
            </a:r>
          </a:p>
        </p:txBody>
      </p:sp>
      <p:sp>
        <p:nvSpPr>
          <p:cNvPr id="224" name="Architecture label: R2 / Encrypted documents">
            <a:extLst xmlns:a="http://schemas.openxmlformats.org/drawingml/2006/main">
              <a:ext uri="{FF2B5EF4-FFF2-40B4-BE49-F238E27FC236}">
                <a16:creationId xmlns:a16="http://schemas.microsoft.com/office/drawing/2014/main" id="{F735E42B-D661-4AB5-A1AE-328A9AC04E6A}"/>
              </a:ext>
            </a:extLst>
          </p:cNvPr>
          <p:cNvSpPr>
            <a:spLocks xmlns:a="http://schemas.openxmlformats.org/drawingml/2006/main" noGrp="1"/>
          </p:cNvSpPr>
          <p:nvPr/>
        </p:nvSpPr>
        <p:spPr>
          <a:xfrm xmlns:a="http://schemas.openxmlformats.org/drawingml/2006/main">
            <a:off x="8059189" y="7860757"/>
            <a:ext cx="291776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R2 / Encrypted documents</a:t>
            </a:r>
          </a:p>
        </p:txBody>
      </p:sp>
      <p:sp>
        <p:nvSpPr>
          <p:cNvPr id="225" name="Architecture label: Private ZK proofs">
            <a:extLst xmlns:a="http://schemas.openxmlformats.org/drawingml/2006/main">
              <a:ext uri="{FF2B5EF4-FFF2-40B4-BE49-F238E27FC236}">
                <a16:creationId xmlns:a16="http://schemas.microsoft.com/office/drawing/2014/main" id="{84766FA1-C72B-4987-AC7E-5A4215853CB1}"/>
              </a:ext>
            </a:extLst>
          </p:cNvPr>
          <p:cNvSpPr>
            <a:spLocks xmlns:a="http://schemas.openxmlformats.org/drawingml/2006/main" noGrp="1"/>
          </p:cNvSpPr>
          <p:nvPr/>
        </p:nvSpPr>
        <p:spPr>
          <a:xfrm xmlns:a="http://schemas.openxmlformats.org/drawingml/2006/main">
            <a:off x="12510655" y="3805809"/>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defRPr sz="2121" b="1">
                <a:solidFill>
                  <a:srgbClr val="182028"/>
                </a:solidFill>
                <a:latin typeface="Instrument Sans"/>
                <a:ea typeface="Instrument Sans"/>
                <a:cs typeface="Instrument Sans"/>
              </a:defRPr>
            </a:lvl1pPr>
            <a:lvl2pPr>
              <a:defRPr sz="2121" b="1">
                <a:solidFill>
                  <a:srgbClr val="182028"/>
                </a:solidFill>
                <a:latin typeface="Instrument Sans"/>
                <a:ea typeface="Instrument Sans"/>
                <a:cs typeface="Instrument Sans"/>
              </a:defRPr>
            </a:lvl2pPr>
            <a:lvl3pPr>
              <a:defRPr sz="2121" b="1">
                <a:solidFill>
                  <a:srgbClr val="182028"/>
                </a:solidFill>
                <a:latin typeface="Instrument Sans"/>
                <a:ea typeface="Instrument Sans"/>
                <a:cs typeface="Instrument Sans"/>
              </a:defRPr>
            </a:lvl3pPr>
            <a:lvl4pPr>
              <a:defRPr sz="2121" b="1">
                <a:solidFill>
                  <a:srgbClr val="182028"/>
                </a:solidFill>
                <a:latin typeface="Instrument Sans"/>
                <a:ea typeface="Instrument Sans"/>
                <a:cs typeface="Instrument Sans"/>
              </a:defRPr>
            </a:lvl4pPr>
            <a:lvl5pPr>
              <a:defRPr sz="2121" b="1">
                <a:solidFill>
                  <a:srgbClr val="182028"/>
                </a:solidFill>
                <a:latin typeface="Instrument Sans"/>
                <a:ea typeface="Instrument Sans"/>
                <a:cs typeface="Instrument Sans"/>
              </a:defRPr>
            </a:lvl5pPr>
            <a:lvl6pPr>
              <a:defRPr sz="2121" b="1">
                <a:solidFill>
                  <a:srgbClr val="182028"/>
                </a:solidFill>
                <a:latin typeface="Instrument Sans"/>
                <a:ea typeface="Instrument Sans"/>
                <a:cs typeface="Instrument Sans"/>
              </a:defRPr>
            </a:lvl6pPr>
            <a:lvl7pPr>
              <a:defRPr sz="2121" b="1">
                <a:solidFill>
                  <a:srgbClr val="182028"/>
                </a:solidFill>
                <a:latin typeface="Instrument Sans"/>
                <a:ea typeface="Instrument Sans"/>
                <a:cs typeface="Instrument Sans"/>
              </a:defRPr>
            </a:lvl7pPr>
            <a:lvl8pPr>
              <a:defRPr sz="2121" b="1">
                <a:solidFill>
                  <a:srgbClr val="182028"/>
                </a:solidFill>
                <a:latin typeface="Instrument Sans"/>
                <a:ea typeface="Instrument Sans"/>
                <a:cs typeface="Instrument Sans"/>
              </a:defRPr>
            </a:lvl8pPr>
            <a:lvl9pPr>
              <a:defRPr sz="2121" b="1">
                <a:solidFill>
                  <a:srgbClr val="182028"/>
                </a:solidFill>
                <a:latin typeface="Instrument Sans"/>
                <a:ea typeface="Instrument Sans"/>
                <a:cs typeface="Instrument Sans"/>
              </a:defRPr>
            </a:lvl9pPr>
          </a:lstStyle>
          <a:p xmlns:a="http://schemas.openxmlformats.org/drawingml/2006/main">
            <a:pPr>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Private ZK proofs</a:t>
            </a:r>
          </a:p>
        </p:txBody>
      </p:sp>
      <p:sp>
        <p:nvSpPr>
          <p:cNvPr id="226" name="Architecture label: Groth16 / BN254">
            <a:extLst xmlns:a="http://schemas.openxmlformats.org/drawingml/2006/main">
              <a:ext uri="{FF2B5EF4-FFF2-40B4-BE49-F238E27FC236}">
                <a16:creationId xmlns:a16="http://schemas.microsoft.com/office/drawing/2014/main" id="{906A3ADA-8CAA-4E5F-8469-08216AE39FCC}"/>
              </a:ext>
            </a:extLst>
          </p:cNvPr>
          <p:cNvSpPr>
            <a:spLocks xmlns:a="http://schemas.openxmlformats.org/drawingml/2006/main" noGrp="1"/>
          </p:cNvSpPr>
          <p:nvPr/>
        </p:nvSpPr>
        <p:spPr>
          <a:xfrm xmlns:a="http://schemas.openxmlformats.org/drawingml/2006/main">
            <a:off x="12548062" y="4224770"/>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defRPr sz="1649" b="1">
                <a:solidFill>
                  <a:srgbClr val="182028"/>
                </a:solidFill>
                <a:latin typeface="Instrument Sans"/>
                <a:ea typeface="Instrument Sans"/>
                <a:cs typeface="Instrument Sans"/>
              </a:defRPr>
            </a:lvl1pPr>
            <a:lvl2pPr>
              <a:defRPr sz="1649" b="1">
                <a:solidFill>
                  <a:srgbClr val="182028"/>
                </a:solidFill>
                <a:latin typeface="Instrument Sans"/>
                <a:ea typeface="Instrument Sans"/>
                <a:cs typeface="Instrument Sans"/>
              </a:defRPr>
            </a:lvl2pPr>
            <a:lvl3pPr>
              <a:defRPr sz="1649" b="1">
                <a:solidFill>
                  <a:srgbClr val="182028"/>
                </a:solidFill>
                <a:latin typeface="Instrument Sans"/>
                <a:ea typeface="Instrument Sans"/>
                <a:cs typeface="Instrument Sans"/>
              </a:defRPr>
            </a:lvl3pPr>
            <a:lvl4pPr>
              <a:defRPr sz="1649" b="1">
                <a:solidFill>
                  <a:srgbClr val="182028"/>
                </a:solidFill>
                <a:latin typeface="Instrument Sans"/>
                <a:ea typeface="Instrument Sans"/>
                <a:cs typeface="Instrument Sans"/>
              </a:defRPr>
            </a:lvl4pPr>
            <a:lvl5pPr>
              <a:defRPr sz="1649" b="1">
                <a:solidFill>
                  <a:srgbClr val="182028"/>
                </a:solidFill>
                <a:latin typeface="Instrument Sans"/>
                <a:ea typeface="Instrument Sans"/>
                <a:cs typeface="Instrument Sans"/>
              </a:defRPr>
            </a:lvl5pPr>
            <a:lvl6pPr>
              <a:defRPr sz="1649" b="1">
                <a:solidFill>
                  <a:srgbClr val="182028"/>
                </a:solidFill>
                <a:latin typeface="Instrument Sans"/>
                <a:ea typeface="Instrument Sans"/>
                <a:cs typeface="Instrument Sans"/>
              </a:defRPr>
            </a:lvl6pPr>
            <a:lvl7pPr>
              <a:defRPr sz="1649" b="1">
                <a:solidFill>
                  <a:srgbClr val="182028"/>
                </a:solidFill>
                <a:latin typeface="Instrument Sans"/>
                <a:ea typeface="Instrument Sans"/>
                <a:cs typeface="Instrument Sans"/>
              </a:defRPr>
            </a:lvl7pPr>
            <a:lvl8pPr>
              <a:defRPr sz="1649" b="1">
                <a:solidFill>
                  <a:srgbClr val="182028"/>
                </a:solidFill>
                <a:latin typeface="Instrument Sans"/>
                <a:ea typeface="Instrument Sans"/>
                <a:cs typeface="Instrument Sans"/>
              </a:defRPr>
            </a:lvl8pPr>
            <a:lvl9pPr>
              <a:defRPr sz="1649" b="1">
                <a:solidFill>
                  <a:srgbClr val="182028"/>
                </a:solidFill>
                <a:latin typeface="Instrument Sans"/>
                <a:ea typeface="Instrument Sans"/>
                <a:cs typeface="Instrument Sans"/>
              </a:defRPr>
            </a:lvl9pPr>
          </a:lstStyle>
          <a:p xmlns:a="http://schemas.openxmlformats.org/drawingml/2006/main">
            <a:pPr>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Groth16 / BN254</a:t>
            </a:r>
          </a:p>
        </p:txBody>
      </p:sp>
      <p:sp>
        <p:nvSpPr>
          <p:cNvPr id="227" name="Architecture label: Local WebAssembly proving">
            <a:extLst xmlns:a="http://schemas.openxmlformats.org/drawingml/2006/main">
              <a:ext uri="{FF2B5EF4-FFF2-40B4-BE49-F238E27FC236}">
                <a16:creationId xmlns:a16="http://schemas.microsoft.com/office/drawing/2014/main" id="{84C39980-1AEC-4904-9CEE-C4FF41C0465B}"/>
              </a:ext>
            </a:extLst>
          </p:cNvPr>
          <p:cNvSpPr>
            <a:spLocks xmlns:a="http://schemas.openxmlformats.org/drawingml/2006/main" noGrp="1"/>
          </p:cNvSpPr>
          <p:nvPr/>
        </p:nvSpPr>
        <p:spPr>
          <a:xfrm xmlns:a="http://schemas.openxmlformats.org/drawingml/2006/main">
            <a:off x="12548062" y="4509066"/>
            <a:ext cx="426442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Local WebAssembly proving</a:t>
            </a:r>
          </a:p>
        </p:txBody>
      </p:sp>
      <p:sp>
        <p:nvSpPr>
          <p:cNvPr id="228" name="Architecture label: Rust / Arkworks">
            <a:extLst xmlns:a="http://schemas.openxmlformats.org/drawingml/2006/main">
              <a:ext uri="{FF2B5EF4-FFF2-40B4-BE49-F238E27FC236}">
                <a16:creationId xmlns:a16="http://schemas.microsoft.com/office/drawing/2014/main" id="{FA36C2D9-FBD9-4FEB-ACBF-F93FDC0958B1}"/>
              </a:ext>
            </a:extLst>
          </p:cNvPr>
          <p:cNvSpPr>
            <a:spLocks xmlns:a="http://schemas.openxmlformats.org/drawingml/2006/main" noGrp="1"/>
          </p:cNvSpPr>
          <p:nvPr/>
        </p:nvSpPr>
        <p:spPr>
          <a:xfrm xmlns:a="http://schemas.openxmlformats.org/drawingml/2006/main">
            <a:off x="12548062" y="4778398"/>
            <a:ext cx="426442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Rust / Arkworks</a:t>
            </a:r>
          </a:p>
        </p:txBody>
      </p:sp>
      <p:sp>
        <p:nvSpPr>
          <p:cNvPr id="229" name="Architecture label: Stellar Mainnet / Soroban">
            <a:extLst xmlns:a="http://schemas.openxmlformats.org/drawingml/2006/main">
              <a:ext uri="{FF2B5EF4-FFF2-40B4-BE49-F238E27FC236}">
                <a16:creationId xmlns:a16="http://schemas.microsoft.com/office/drawing/2014/main" id="{E0AA8A18-B025-4A75-AFE4-847D006A076F}"/>
              </a:ext>
            </a:extLst>
          </p:cNvPr>
          <p:cNvSpPr>
            <a:spLocks xmlns:a="http://schemas.openxmlformats.org/drawingml/2006/main" noGrp="1"/>
          </p:cNvSpPr>
          <p:nvPr/>
        </p:nvSpPr>
        <p:spPr>
          <a:xfrm xmlns:a="http://schemas.openxmlformats.org/drawingml/2006/main">
            <a:off x="12510655" y="6125060"/>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defRPr sz="2121" b="1">
                <a:solidFill>
                  <a:srgbClr val="182028"/>
                </a:solidFill>
                <a:latin typeface="Instrument Sans"/>
                <a:ea typeface="Instrument Sans"/>
                <a:cs typeface="Instrument Sans"/>
              </a:defRPr>
            </a:lvl1pPr>
            <a:lvl2pPr>
              <a:defRPr sz="2121" b="1">
                <a:solidFill>
                  <a:srgbClr val="182028"/>
                </a:solidFill>
                <a:latin typeface="Instrument Sans"/>
                <a:ea typeface="Instrument Sans"/>
                <a:cs typeface="Instrument Sans"/>
              </a:defRPr>
            </a:lvl2pPr>
            <a:lvl3pPr>
              <a:defRPr sz="2121" b="1">
                <a:solidFill>
                  <a:srgbClr val="182028"/>
                </a:solidFill>
                <a:latin typeface="Instrument Sans"/>
                <a:ea typeface="Instrument Sans"/>
                <a:cs typeface="Instrument Sans"/>
              </a:defRPr>
            </a:lvl3pPr>
            <a:lvl4pPr>
              <a:defRPr sz="2121" b="1">
                <a:solidFill>
                  <a:srgbClr val="182028"/>
                </a:solidFill>
                <a:latin typeface="Instrument Sans"/>
                <a:ea typeface="Instrument Sans"/>
                <a:cs typeface="Instrument Sans"/>
              </a:defRPr>
            </a:lvl4pPr>
            <a:lvl5pPr>
              <a:defRPr sz="2121" b="1">
                <a:solidFill>
                  <a:srgbClr val="182028"/>
                </a:solidFill>
                <a:latin typeface="Instrument Sans"/>
                <a:ea typeface="Instrument Sans"/>
                <a:cs typeface="Instrument Sans"/>
              </a:defRPr>
            </a:lvl5pPr>
            <a:lvl6pPr>
              <a:defRPr sz="2121" b="1">
                <a:solidFill>
                  <a:srgbClr val="182028"/>
                </a:solidFill>
                <a:latin typeface="Instrument Sans"/>
                <a:ea typeface="Instrument Sans"/>
                <a:cs typeface="Instrument Sans"/>
              </a:defRPr>
            </a:lvl6pPr>
            <a:lvl7pPr>
              <a:defRPr sz="2121" b="1">
                <a:solidFill>
                  <a:srgbClr val="182028"/>
                </a:solidFill>
                <a:latin typeface="Instrument Sans"/>
                <a:ea typeface="Instrument Sans"/>
                <a:cs typeface="Instrument Sans"/>
              </a:defRPr>
            </a:lvl7pPr>
            <a:lvl8pPr>
              <a:defRPr sz="2121" b="1">
                <a:solidFill>
                  <a:srgbClr val="182028"/>
                </a:solidFill>
                <a:latin typeface="Instrument Sans"/>
                <a:ea typeface="Instrument Sans"/>
                <a:cs typeface="Instrument Sans"/>
              </a:defRPr>
            </a:lvl8pPr>
            <a:lvl9pPr>
              <a:defRPr sz="2121" b="1">
                <a:solidFill>
                  <a:srgbClr val="182028"/>
                </a:solidFill>
                <a:latin typeface="Instrument Sans"/>
                <a:ea typeface="Instrument Sans"/>
                <a:cs typeface="Instrument Sans"/>
              </a:defRPr>
            </a:lvl9pPr>
          </a:lstStyle>
          <a:p xmlns:a="http://schemas.openxmlformats.org/drawingml/2006/main">
            <a:pPr>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Stellar Mainnet / Soroban</a:t>
            </a:r>
          </a:p>
        </p:txBody>
      </p:sp>
      <p:sp>
        <p:nvSpPr>
          <p:cNvPr id="230" name="Architecture label: Credential roots &amp; revocation">
            <a:extLst xmlns:a="http://schemas.openxmlformats.org/drawingml/2006/main">
              <a:ext uri="{FF2B5EF4-FFF2-40B4-BE49-F238E27FC236}">
                <a16:creationId xmlns:a16="http://schemas.microsoft.com/office/drawing/2014/main" id="{CC5090E4-4D3B-4076-ABD1-D5236EDAA3D4}"/>
              </a:ext>
            </a:extLst>
          </p:cNvPr>
          <p:cNvSpPr>
            <a:spLocks xmlns:a="http://schemas.openxmlformats.org/drawingml/2006/main" noGrp="1"/>
          </p:cNvSpPr>
          <p:nvPr/>
        </p:nvSpPr>
        <p:spPr>
          <a:xfrm xmlns:a="http://schemas.openxmlformats.org/drawingml/2006/main">
            <a:off x="12548062" y="6566466"/>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Credential roots &amp; revocation</a:t>
            </a:r>
          </a:p>
        </p:txBody>
      </p:sp>
      <p:sp>
        <p:nvSpPr>
          <p:cNvPr id="231" name="Architecture label: Groth16 proof verifier">
            <a:extLst xmlns:a="http://schemas.openxmlformats.org/drawingml/2006/main">
              <a:ext uri="{FF2B5EF4-FFF2-40B4-BE49-F238E27FC236}">
                <a16:creationId xmlns:a16="http://schemas.microsoft.com/office/drawing/2014/main" id="{921612F8-145D-45F8-8EFD-97598DF48812}"/>
              </a:ext>
            </a:extLst>
          </p:cNvPr>
          <p:cNvSpPr>
            <a:spLocks xmlns:a="http://schemas.openxmlformats.org/drawingml/2006/main" noGrp="1"/>
          </p:cNvSpPr>
          <p:nvPr/>
        </p:nvSpPr>
        <p:spPr>
          <a:xfrm xmlns:a="http://schemas.openxmlformats.org/drawingml/2006/main">
            <a:off x="12548062" y="6948020"/>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Groth16 proof verifier</a:t>
            </a:r>
          </a:p>
        </p:txBody>
      </p:sp>
      <p:sp>
        <p:nvSpPr>
          <p:cNvPr id="232" name="Architecture label: Buyer + seller qualification">
            <a:extLst xmlns:a="http://schemas.openxmlformats.org/drawingml/2006/main">
              <a:ext uri="{FF2B5EF4-FFF2-40B4-BE49-F238E27FC236}">
                <a16:creationId xmlns:a16="http://schemas.microsoft.com/office/drawing/2014/main" id="{374420A7-BDC4-4A4F-8173-66CC3DE7CB4E}"/>
              </a:ext>
            </a:extLst>
          </p:cNvPr>
          <p:cNvSpPr>
            <a:spLocks xmlns:a="http://schemas.openxmlformats.org/drawingml/2006/main" noGrp="1"/>
          </p:cNvSpPr>
          <p:nvPr/>
        </p:nvSpPr>
        <p:spPr>
          <a:xfrm xmlns:a="http://schemas.openxmlformats.org/drawingml/2006/main">
            <a:off x="12548062" y="7329574"/>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Buyer + seller qualification</a:t>
            </a:r>
          </a:p>
        </p:txBody>
      </p:sp>
      <p:sp>
        <p:nvSpPr>
          <p:cNvPr id="233" name="Architecture label: Deal consent &amp; audit receipts">
            <a:extLst xmlns:a="http://schemas.openxmlformats.org/drawingml/2006/main">
              <a:ext uri="{FF2B5EF4-FFF2-40B4-BE49-F238E27FC236}">
                <a16:creationId xmlns:a16="http://schemas.microsoft.com/office/drawing/2014/main" id="{FD0A8AF8-307B-4B1C-A26F-22436D03C64E}"/>
              </a:ext>
            </a:extLst>
          </p:cNvPr>
          <p:cNvSpPr>
            <a:spLocks xmlns:a="http://schemas.openxmlformats.org/drawingml/2006/main" noGrp="1"/>
          </p:cNvSpPr>
          <p:nvPr/>
        </p:nvSpPr>
        <p:spPr>
          <a:xfrm xmlns:a="http://schemas.openxmlformats.org/drawingml/2006/main">
            <a:off x="12548062" y="7711128"/>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defRPr sz="1649" b="0">
                <a:solidFill>
                  <a:srgbClr val="182028"/>
                </a:solidFill>
                <a:latin typeface="Instrument Sans"/>
                <a:ea typeface="Instrument Sans"/>
                <a:cs typeface="Instrument Sans"/>
              </a:defRPr>
            </a:lvl1pPr>
            <a:lvl2pPr>
              <a:defRPr sz="1649" b="0">
                <a:solidFill>
                  <a:srgbClr val="182028"/>
                </a:solidFill>
                <a:latin typeface="Instrument Sans"/>
                <a:ea typeface="Instrument Sans"/>
                <a:cs typeface="Instrument Sans"/>
              </a:defRPr>
            </a:lvl2pPr>
            <a:lvl3pPr>
              <a:defRPr sz="1649" b="0">
                <a:solidFill>
                  <a:srgbClr val="182028"/>
                </a:solidFill>
                <a:latin typeface="Instrument Sans"/>
                <a:ea typeface="Instrument Sans"/>
                <a:cs typeface="Instrument Sans"/>
              </a:defRPr>
            </a:lvl3pPr>
            <a:lvl4pPr>
              <a:defRPr sz="1649" b="0">
                <a:solidFill>
                  <a:srgbClr val="182028"/>
                </a:solidFill>
                <a:latin typeface="Instrument Sans"/>
                <a:ea typeface="Instrument Sans"/>
                <a:cs typeface="Instrument Sans"/>
              </a:defRPr>
            </a:lvl4pPr>
            <a:lvl5pPr>
              <a:defRPr sz="1649" b="0">
                <a:solidFill>
                  <a:srgbClr val="182028"/>
                </a:solidFill>
                <a:latin typeface="Instrument Sans"/>
                <a:ea typeface="Instrument Sans"/>
                <a:cs typeface="Instrument Sans"/>
              </a:defRPr>
            </a:lvl5pPr>
            <a:lvl6pPr>
              <a:defRPr sz="1649" b="0">
                <a:solidFill>
                  <a:srgbClr val="182028"/>
                </a:solidFill>
                <a:latin typeface="Instrument Sans"/>
                <a:ea typeface="Instrument Sans"/>
                <a:cs typeface="Instrument Sans"/>
              </a:defRPr>
            </a:lvl6pPr>
            <a:lvl7pPr>
              <a:defRPr sz="1649" b="0">
                <a:solidFill>
                  <a:srgbClr val="182028"/>
                </a:solidFill>
                <a:latin typeface="Instrument Sans"/>
                <a:ea typeface="Instrument Sans"/>
                <a:cs typeface="Instrument Sans"/>
              </a:defRPr>
            </a:lvl7pPr>
            <a:lvl8pPr>
              <a:defRPr sz="1649" b="0">
                <a:solidFill>
                  <a:srgbClr val="182028"/>
                </a:solidFill>
                <a:latin typeface="Instrument Sans"/>
                <a:ea typeface="Instrument Sans"/>
                <a:cs typeface="Instrument Sans"/>
              </a:defRPr>
            </a:lvl8pPr>
            <a:lvl9pPr>
              <a:defRPr sz="1649" b="0">
                <a:solidFill>
                  <a:srgbClr val="182028"/>
                </a:solidFill>
                <a:latin typeface="Instrument Sans"/>
                <a:ea typeface="Instrument Sans"/>
                <a:cs typeface="Instrument Sans"/>
              </a:defRPr>
            </a:lvl9pPr>
          </a:lstStyle>
          <a:p xmlns:a="http://schemas.openxmlformats.org/drawingml/2006/main">
            <a:pPr>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Deal consent &amp; audit receipts</a:t>
            </a:r>
          </a:p>
        </p:txBody>
      </p:sp>
      <p:sp>
        <p:nvSpPr>
          <p:cNvPr id="234" name="Architecture label: API">
            <a:extLst xmlns:a="http://schemas.openxmlformats.org/drawingml/2006/main">
              <a:ext uri="{FF2B5EF4-FFF2-40B4-BE49-F238E27FC236}">
                <a16:creationId xmlns:a16="http://schemas.microsoft.com/office/drawing/2014/main" id="{8DF5CC68-8454-4656-8F17-3E9DBE183BF4}"/>
              </a:ext>
            </a:extLst>
          </p:cNvPr>
          <p:cNvSpPr>
            <a:spLocks xmlns:a="http://schemas.openxmlformats.org/drawingml/2006/main" noGrp="1"/>
          </p:cNvSpPr>
          <p:nvPr/>
        </p:nvSpPr>
        <p:spPr>
          <a:xfrm xmlns:a="http://schemas.openxmlformats.org/drawingml/2006/main">
            <a:off x="3682538" y="6454244"/>
            <a:ext cx="748145"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73" b="0">
                <a:solidFill>
                  <a:srgbClr val="182028"/>
                </a:solidFill>
                <a:latin typeface="Instrument Sans"/>
                <a:ea typeface="Instrument Sans"/>
                <a:cs typeface="Instrument Sans"/>
              </a:defRPr>
            </a:defPPr>
            <a:lvl1pPr>
              <a:defRPr sz="1473" b="0">
                <a:solidFill>
                  <a:srgbClr val="182028"/>
                </a:solidFill>
                <a:latin typeface="Instrument Sans"/>
                <a:ea typeface="Instrument Sans"/>
                <a:cs typeface="Instrument Sans"/>
              </a:defRPr>
            </a:lvl1pPr>
            <a:lvl2pPr>
              <a:defRPr sz="1473" b="0">
                <a:solidFill>
                  <a:srgbClr val="182028"/>
                </a:solidFill>
                <a:latin typeface="Instrument Sans"/>
                <a:ea typeface="Instrument Sans"/>
                <a:cs typeface="Instrument Sans"/>
              </a:defRPr>
            </a:lvl2pPr>
            <a:lvl3pPr>
              <a:defRPr sz="1473" b="0">
                <a:solidFill>
                  <a:srgbClr val="182028"/>
                </a:solidFill>
                <a:latin typeface="Instrument Sans"/>
                <a:ea typeface="Instrument Sans"/>
                <a:cs typeface="Instrument Sans"/>
              </a:defRPr>
            </a:lvl3pPr>
            <a:lvl4pPr>
              <a:defRPr sz="1473" b="0">
                <a:solidFill>
                  <a:srgbClr val="182028"/>
                </a:solidFill>
                <a:latin typeface="Instrument Sans"/>
                <a:ea typeface="Instrument Sans"/>
                <a:cs typeface="Instrument Sans"/>
              </a:defRPr>
            </a:lvl4pPr>
            <a:lvl5pPr>
              <a:defRPr sz="1473" b="0">
                <a:solidFill>
                  <a:srgbClr val="182028"/>
                </a:solidFill>
                <a:latin typeface="Instrument Sans"/>
                <a:ea typeface="Instrument Sans"/>
                <a:cs typeface="Instrument Sans"/>
              </a:defRPr>
            </a:lvl5pPr>
            <a:lvl6pPr>
              <a:defRPr sz="1473" b="0">
                <a:solidFill>
                  <a:srgbClr val="182028"/>
                </a:solidFill>
                <a:latin typeface="Instrument Sans"/>
                <a:ea typeface="Instrument Sans"/>
                <a:cs typeface="Instrument Sans"/>
              </a:defRPr>
            </a:lvl6pPr>
            <a:lvl7pPr>
              <a:defRPr sz="1473" b="0">
                <a:solidFill>
                  <a:srgbClr val="182028"/>
                </a:solidFill>
                <a:latin typeface="Instrument Sans"/>
                <a:ea typeface="Instrument Sans"/>
                <a:cs typeface="Instrument Sans"/>
              </a:defRPr>
            </a:lvl7pPr>
            <a:lvl8pPr>
              <a:defRPr sz="1473" b="0">
                <a:solidFill>
                  <a:srgbClr val="182028"/>
                </a:solidFill>
                <a:latin typeface="Instrument Sans"/>
                <a:ea typeface="Instrument Sans"/>
                <a:cs typeface="Instrument Sans"/>
              </a:defRPr>
            </a:lvl8pPr>
            <a:lvl9pPr>
              <a:defRPr sz="1473" b="0">
                <a:solidFill>
                  <a:srgbClr val="182028"/>
                </a:solidFill>
                <a:latin typeface="Instrument Sans"/>
                <a:ea typeface="Instrument Sans"/>
                <a:cs typeface="Instrument Sans"/>
              </a:defRPr>
            </a:lvl9pPr>
          </a:lstStyle>
          <a:p xmlns:a="http://schemas.openxmlformats.org/drawingml/2006/main">
            <a:pPr>
              <a:defRPr sz="1473" b="0">
                <a:solidFill>
                  <a:srgbClr val="182028"/>
                </a:solidFill>
                <a:latin typeface="Instrument Sans"/>
                <a:ea typeface="Instrument Sans"/>
                <a:cs typeface="Instrument Sans"/>
              </a:defRPr>
            </a:pPr>
            <a:r>
              <a:rPr sz="1473" b="0">
                <a:solidFill>
                  <a:srgbClr val="182028"/>
                </a:solidFill>
                <a:latin typeface="Instrument Sans"/>
                <a:ea typeface="Instrument Sans"/>
                <a:cs typeface="Instrument Sans"/>
              </a:rPr>
              <a:t>API</a:t>
            </a:r>
          </a:p>
        </p:txBody>
      </p:sp>
      <p:sp>
        <p:nvSpPr>
          <p:cNvPr id="235" name="Architecture label: Verified evidence">
            <a:extLst xmlns:a="http://schemas.openxmlformats.org/drawingml/2006/main">
              <a:ext uri="{FF2B5EF4-FFF2-40B4-BE49-F238E27FC236}">
                <a16:creationId xmlns:a16="http://schemas.microsoft.com/office/drawing/2014/main" id="{23CA2866-DDDC-4AC5-AB95-C1B330D427B3}"/>
              </a:ext>
            </a:extLst>
          </p:cNvPr>
          <p:cNvSpPr>
            <a:spLocks xmlns:a="http://schemas.openxmlformats.org/drawingml/2006/main" noGrp="1"/>
          </p:cNvSpPr>
          <p:nvPr/>
        </p:nvSpPr>
        <p:spPr>
          <a:xfrm xmlns:a="http://schemas.openxmlformats.org/drawingml/2006/main">
            <a:off x="8021782" y="5257211"/>
            <a:ext cx="261850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defRPr sz="1591" b="0">
                <a:solidFill>
                  <a:srgbClr val="182028"/>
                </a:solidFill>
                <a:latin typeface="Instrument Sans"/>
                <a:ea typeface="Instrument Sans"/>
                <a:cs typeface="Instrument Sans"/>
              </a:defRPr>
            </a:lvl1pPr>
            <a:lvl2pPr>
              <a:defRPr sz="1591" b="0">
                <a:solidFill>
                  <a:srgbClr val="182028"/>
                </a:solidFill>
                <a:latin typeface="Instrument Sans"/>
                <a:ea typeface="Instrument Sans"/>
                <a:cs typeface="Instrument Sans"/>
              </a:defRPr>
            </a:lvl2pPr>
            <a:lvl3pPr>
              <a:defRPr sz="1591" b="0">
                <a:solidFill>
                  <a:srgbClr val="182028"/>
                </a:solidFill>
                <a:latin typeface="Instrument Sans"/>
                <a:ea typeface="Instrument Sans"/>
                <a:cs typeface="Instrument Sans"/>
              </a:defRPr>
            </a:lvl3pPr>
            <a:lvl4pPr>
              <a:defRPr sz="1591" b="0">
                <a:solidFill>
                  <a:srgbClr val="182028"/>
                </a:solidFill>
                <a:latin typeface="Instrument Sans"/>
                <a:ea typeface="Instrument Sans"/>
                <a:cs typeface="Instrument Sans"/>
              </a:defRPr>
            </a:lvl4pPr>
            <a:lvl5pPr>
              <a:defRPr sz="1591" b="0">
                <a:solidFill>
                  <a:srgbClr val="182028"/>
                </a:solidFill>
                <a:latin typeface="Instrument Sans"/>
                <a:ea typeface="Instrument Sans"/>
                <a:cs typeface="Instrument Sans"/>
              </a:defRPr>
            </a:lvl5pPr>
            <a:lvl6pPr>
              <a:defRPr sz="1591" b="0">
                <a:solidFill>
                  <a:srgbClr val="182028"/>
                </a:solidFill>
                <a:latin typeface="Instrument Sans"/>
                <a:ea typeface="Instrument Sans"/>
                <a:cs typeface="Instrument Sans"/>
              </a:defRPr>
            </a:lvl6pPr>
            <a:lvl7pPr>
              <a:defRPr sz="1591" b="0">
                <a:solidFill>
                  <a:srgbClr val="182028"/>
                </a:solidFill>
                <a:latin typeface="Instrument Sans"/>
                <a:ea typeface="Instrument Sans"/>
                <a:cs typeface="Instrument Sans"/>
              </a:defRPr>
            </a:lvl7pPr>
            <a:lvl8pPr>
              <a:defRPr sz="1591" b="0">
                <a:solidFill>
                  <a:srgbClr val="182028"/>
                </a:solidFill>
                <a:latin typeface="Instrument Sans"/>
                <a:ea typeface="Instrument Sans"/>
                <a:cs typeface="Instrument Sans"/>
              </a:defRPr>
            </a:lvl8pPr>
            <a:lvl9pPr>
              <a:defRPr sz="1591" b="0">
                <a:solidFill>
                  <a:srgbClr val="182028"/>
                </a:solidFill>
                <a:latin typeface="Instrument Sans"/>
                <a:ea typeface="Instrument Sans"/>
                <a:cs typeface="Instrument Sans"/>
              </a:defRPr>
            </a:lvl9pPr>
          </a:lstStyle>
          <a:p xmlns:a="http://schemas.openxmlformats.org/drawingml/2006/main">
            <a:pPr>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Verified evidence</a:t>
            </a:r>
          </a:p>
        </p:txBody>
      </p:sp>
      <p:sp>
        <p:nvSpPr>
          <p:cNvPr id="236" name="Architecture label: Proof">
            <a:extLst xmlns:a="http://schemas.openxmlformats.org/drawingml/2006/main">
              <a:ext uri="{FF2B5EF4-FFF2-40B4-BE49-F238E27FC236}">
                <a16:creationId xmlns:a16="http://schemas.microsoft.com/office/drawing/2014/main" id="{FA9E112A-944C-41E8-A3FE-9D3CA45C4B98}"/>
              </a:ext>
            </a:extLst>
          </p:cNvPr>
          <p:cNvSpPr>
            <a:spLocks xmlns:a="http://schemas.openxmlformats.org/drawingml/2006/main" noGrp="1"/>
          </p:cNvSpPr>
          <p:nvPr/>
        </p:nvSpPr>
        <p:spPr>
          <a:xfrm xmlns:a="http://schemas.openxmlformats.org/drawingml/2006/main">
            <a:off x="14844868" y="5474173"/>
            <a:ext cx="179554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defRPr sz="1532" b="0">
                <a:solidFill>
                  <a:srgbClr val="182028"/>
                </a:solidFill>
                <a:latin typeface="Instrument Sans"/>
                <a:ea typeface="Instrument Sans"/>
                <a:cs typeface="Instrument Sans"/>
              </a:defRPr>
            </a:lvl1pPr>
            <a:lvl2pPr>
              <a:defRPr sz="1532" b="0">
                <a:solidFill>
                  <a:srgbClr val="182028"/>
                </a:solidFill>
                <a:latin typeface="Instrument Sans"/>
                <a:ea typeface="Instrument Sans"/>
                <a:cs typeface="Instrument Sans"/>
              </a:defRPr>
            </a:lvl2pPr>
            <a:lvl3pPr>
              <a:defRPr sz="1532" b="0">
                <a:solidFill>
                  <a:srgbClr val="182028"/>
                </a:solidFill>
                <a:latin typeface="Instrument Sans"/>
                <a:ea typeface="Instrument Sans"/>
                <a:cs typeface="Instrument Sans"/>
              </a:defRPr>
            </a:lvl3pPr>
            <a:lvl4pPr>
              <a:defRPr sz="1532" b="0">
                <a:solidFill>
                  <a:srgbClr val="182028"/>
                </a:solidFill>
                <a:latin typeface="Instrument Sans"/>
                <a:ea typeface="Instrument Sans"/>
                <a:cs typeface="Instrument Sans"/>
              </a:defRPr>
            </a:lvl4pPr>
            <a:lvl5pPr>
              <a:defRPr sz="1532" b="0">
                <a:solidFill>
                  <a:srgbClr val="182028"/>
                </a:solidFill>
                <a:latin typeface="Instrument Sans"/>
                <a:ea typeface="Instrument Sans"/>
                <a:cs typeface="Instrument Sans"/>
              </a:defRPr>
            </a:lvl5pPr>
            <a:lvl6pPr>
              <a:defRPr sz="1532" b="0">
                <a:solidFill>
                  <a:srgbClr val="182028"/>
                </a:solidFill>
                <a:latin typeface="Instrument Sans"/>
                <a:ea typeface="Instrument Sans"/>
                <a:cs typeface="Instrument Sans"/>
              </a:defRPr>
            </a:lvl6pPr>
            <a:lvl7pPr>
              <a:defRPr sz="1532" b="0">
                <a:solidFill>
                  <a:srgbClr val="182028"/>
                </a:solidFill>
                <a:latin typeface="Instrument Sans"/>
                <a:ea typeface="Instrument Sans"/>
                <a:cs typeface="Instrument Sans"/>
              </a:defRPr>
            </a:lvl7pPr>
            <a:lvl8pPr>
              <a:defRPr sz="1532" b="0">
                <a:solidFill>
                  <a:srgbClr val="182028"/>
                </a:solidFill>
                <a:latin typeface="Instrument Sans"/>
                <a:ea typeface="Instrument Sans"/>
                <a:cs typeface="Instrument Sans"/>
              </a:defRPr>
            </a:lvl8pPr>
            <a:lvl9pPr>
              <a:defRPr sz="1532" b="0">
                <a:solidFill>
                  <a:srgbClr val="182028"/>
                </a:solidFill>
                <a:latin typeface="Instrument Sans"/>
                <a:ea typeface="Instrument Sans"/>
                <a:cs typeface="Instrument Sans"/>
              </a:defRPr>
            </a:lvl9pPr>
          </a:lstStyle>
          <a:p xmlns:a="http://schemas.openxmlformats.org/drawingml/2006/main">
            <a:pPr>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Proof</a:t>
            </a:r>
          </a:p>
        </p:txBody>
      </p:sp>
      <p:sp>
        <p:nvSpPr>
          <p:cNvPr id="237" name="Architecture label: Policy state">
            <a:extLst xmlns:a="http://schemas.openxmlformats.org/drawingml/2006/main">
              <a:ext uri="{FF2B5EF4-FFF2-40B4-BE49-F238E27FC236}">
                <a16:creationId xmlns:a16="http://schemas.microsoft.com/office/drawing/2014/main" id="{844100C6-F473-4E6E-86A8-0530DBADF5DD}"/>
              </a:ext>
            </a:extLst>
          </p:cNvPr>
          <p:cNvSpPr>
            <a:spLocks xmlns:a="http://schemas.openxmlformats.org/drawingml/2006/main" noGrp="1"/>
          </p:cNvSpPr>
          <p:nvPr/>
        </p:nvSpPr>
        <p:spPr>
          <a:xfrm xmlns:a="http://schemas.openxmlformats.org/drawingml/2006/main">
            <a:off x="11313622" y="6955501"/>
            <a:ext cx="935182"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5" b="0">
                <a:solidFill>
                  <a:srgbClr val="182028"/>
                </a:solidFill>
                <a:latin typeface="Instrument Sans"/>
                <a:ea typeface="Instrument Sans"/>
                <a:cs typeface="Instrument Sans"/>
              </a:defRPr>
            </a:defPPr>
            <a:lvl1pPr>
              <a:defRPr sz="1355" b="0">
                <a:solidFill>
                  <a:srgbClr val="182028"/>
                </a:solidFill>
                <a:latin typeface="Instrument Sans"/>
                <a:ea typeface="Instrument Sans"/>
                <a:cs typeface="Instrument Sans"/>
              </a:defRPr>
            </a:lvl1pPr>
            <a:lvl2pPr>
              <a:defRPr sz="1355" b="0">
                <a:solidFill>
                  <a:srgbClr val="182028"/>
                </a:solidFill>
                <a:latin typeface="Instrument Sans"/>
                <a:ea typeface="Instrument Sans"/>
                <a:cs typeface="Instrument Sans"/>
              </a:defRPr>
            </a:lvl2pPr>
            <a:lvl3pPr>
              <a:defRPr sz="1355" b="0">
                <a:solidFill>
                  <a:srgbClr val="182028"/>
                </a:solidFill>
                <a:latin typeface="Instrument Sans"/>
                <a:ea typeface="Instrument Sans"/>
                <a:cs typeface="Instrument Sans"/>
              </a:defRPr>
            </a:lvl3pPr>
            <a:lvl4pPr>
              <a:defRPr sz="1355" b="0">
                <a:solidFill>
                  <a:srgbClr val="182028"/>
                </a:solidFill>
                <a:latin typeface="Instrument Sans"/>
                <a:ea typeface="Instrument Sans"/>
                <a:cs typeface="Instrument Sans"/>
              </a:defRPr>
            </a:lvl4pPr>
            <a:lvl5pPr>
              <a:defRPr sz="1355" b="0">
                <a:solidFill>
                  <a:srgbClr val="182028"/>
                </a:solidFill>
                <a:latin typeface="Instrument Sans"/>
                <a:ea typeface="Instrument Sans"/>
                <a:cs typeface="Instrument Sans"/>
              </a:defRPr>
            </a:lvl5pPr>
            <a:lvl6pPr>
              <a:defRPr sz="1355" b="0">
                <a:solidFill>
                  <a:srgbClr val="182028"/>
                </a:solidFill>
                <a:latin typeface="Instrument Sans"/>
                <a:ea typeface="Instrument Sans"/>
                <a:cs typeface="Instrument Sans"/>
              </a:defRPr>
            </a:lvl6pPr>
            <a:lvl7pPr>
              <a:defRPr sz="1355" b="0">
                <a:solidFill>
                  <a:srgbClr val="182028"/>
                </a:solidFill>
                <a:latin typeface="Instrument Sans"/>
                <a:ea typeface="Instrument Sans"/>
                <a:cs typeface="Instrument Sans"/>
              </a:defRPr>
            </a:lvl7pPr>
            <a:lvl8pPr>
              <a:defRPr sz="1355" b="0">
                <a:solidFill>
                  <a:srgbClr val="182028"/>
                </a:solidFill>
                <a:latin typeface="Instrument Sans"/>
                <a:ea typeface="Instrument Sans"/>
                <a:cs typeface="Instrument Sans"/>
              </a:defRPr>
            </a:lvl8pPr>
            <a:lvl9pPr>
              <a:defRPr sz="1355" b="0">
                <a:solidFill>
                  <a:srgbClr val="182028"/>
                </a:solidFill>
                <a:latin typeface="Instrument Sans"/>
                <a:ea typeface="Instrument Sans"/>
                <a:cs typeface="Instrument Sans"/>
              </a:defRPr>
            </a:lvl9pPr>
          </a:lstStyle>
          <a:p xmlns:a="http://schemas.openxmlformats.org/drawingml/2006/main">
            <a:pPr>
              <a:defRPr sz="1355" b="0">
                <a:solidFill>
                  <a:srgbClr val="182028"/>
                </a:solidFill>
                <a:latin typeface="Instrument Sans"/>
                <a:ea typeface="Instrument Sans"/>
                <a:cs typeface="Instrument Sans"/>
              </a:defRPr>
            </a:pPr>
            <a:r>
              <a:rPr sz="1355" b="0">
                <a:solidFill>
                  <a:srgbClr val="182028"/>
                </a:solidFill>
                <a:latin typeface="Instrument Sans"/>
                <a:ea typeface="Instrument Sans"/>
                <a:cs typeface="Instrument Sans"/>
              </a:rPr>
              <a:t>Policy state</a:t>
            </a:r>
          </a:p>
        </p:txBody>
      </p:sp>
      <p:sp>
        <p:nvSpPr>
          <p:cNvPr id="238" name="Architecture label: Private evidence stays offchain. Stellar checks proofs, credentials and consent.">
            <a:extLst xmlns:a="http://schemas.openxmlformats.org/drawingml/2006/main">
              <a:ext uri="{FF2B5EF4-FFF2-40B4-BE49-F238E27FC236}">
                <a16:creationId xmlns:a16="http://schemas.microsoft.com/office/drawing/2014/main" id="{332C9382-8F67-4360-BA78-C28B3D42515A}"/>
              </a:ext>
            </a:extLst>
          </p:cNvPr>
          <p:cNvSpPr>
            <a:spLocks xmlns:a="http://schemas.openxmlformats.org/drawingml/2006/main" noGrp="1"/>
          </p:cNvSpPr>
          <p:nvPr/>
        </p:nvSpPr>
        <p:spPr>
          <a:xfrm xmlns:a="http://schemas.openxmlformats.org/drawingml/2006/main">
            <a:off x="1213658" y="8638829"/>
            <a:ext cx="15860684" cy="344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defRPr sz="1767" b="0">
                <a:solidFill>
                  <a:srgbClr val="182028"/>
                </a:solidFill>
                <a:latin typeface="Instrument Sans"/>
                <a:ea typeface="Instrument Sans"/>
                <a:cs typeface="Instrument Sans"/>
              </a:defRPr>
            </a:lvl1pPr>
            <a:lvl2pPr>
              <a:defRPr sz="1767" b="0">
                <a:solidFill>
                  <a:srgbClr val="182028"/>
                </a:solidFill>
                <a:latin typeface="Instrument Sans"/>
                <a:ea typeface="Instrument Sans"/>
                <a:cs typeface="Instrument Sans"/>
              </a:defRPr>
            </a:lvl2pPr>
            <a:lvl3pPr>
              <a:defRPr sz="1767" b="0">
                <a:solidFill>
                  <a:srgbClr val="182028"/>
                </a:solidFill>
                <a:latin typeface="Instrument Sans"/>
                <a:ea typeface="Instrument Sans"/>
                <a:cs typeface="Instrument Sans"/>
              </a:defRPr>
            </a:lvl3pPr>
            <a:lvl4pPr>
              <a:defRPr sz="1767" b="0">
                <a:solidFill>
                  <a:srgbClr val="182028"/>
                </a:solidFill>
                <a:latin typeface="Instrument Sans"/>
                <a:ea typeface="Instrument Sans"/>
                <a:cs typeface="Instrument Sans"/>
              </a:defRPr>
            </a:lvl4pPr>
            <a:lvl5pPr>
              <a:defRPr sz="1767" b="0">
                <a:solidFill>
                  <a:srgbClr val="182028"/>
                </a:solidFill>
                <a:latin typeface="Instrument Sans"/>
                <a:ea typeface="Instrument Sans"/>
                <a:cs typeface="Instrument Sans"/>
              </a:defRPr>
            </a:lvl5pPr>
            <a:lvl6pPr>
              <a:defRPr sz="1767" b="0">
                <a:solidFill>
                  <a:srgbClr val="182028"/>
                </a:solidFill>
                <a:latin typeface="Instrument Sans"/>
                <a:ea typeface="Instrument Sans"/>
                <a:cs typeface="Instrument Sans"/>
              </a:defRPr>
            </a:lvl6pPr>
            <a:lvl7pPr>
              <a:defRPr sz="1767" b="0">
                <a:solidFill>
                  <a:srgbClr val="182028"/>
                </a:solidFill>
                <a:latin typeface="Instrument Sans"/>
                <a:ea typeface="Instrument Sans"/>
                <a:cs typeface="Instrument Sans"/>
              </a:defRPr>
            </a:lvl7pPr>
            <a:lvl8pPr>
              <a:defRPr sz="1767" b="0">
                <a:solidFill>
                  <a:srgbClr val="182028"/>
                </a:solidFill>
                <a:latin typeface="Instrument Sans"/>
                <a:ea typeface="Instrument Sans"/>
                <a:cs typeface="Instrument Sans"/>
              </a:defRPr>
            </a:lvl8pPr>
            <a:lvl9pPr>
              <a:defRPr sz="1767" b="0">
                <a:solidFill>
                  <a:srgbClr val="182028"/>
                </a:solidFill>
                <a:latin typeface="Instrument Sans"/>
                <a:ea typeface="Instrument Sans"/>
                <a:cs typeface="Instrument Sans"/>
              </a:defRPr>
            </a:lvl9pPr>
          </a:lstStyle>
          <a:p xmlns:a="http://schemas.openxmlformats.org/drawingml/2006/main">
            <a:pPr>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Private evidence stays offchain. Stellar checks proofs, credentials and consent.</a:t>
            </a:r>
          </a:p>
        </p:txBody>
      </p:sp>
    </p:spTree>
    <p:extLst>
      <p:ext uri="{BB962C8B-B14F-4D97-AF65-F5344CB8AC3E}">
        <p14:creationId xmlns:p14="http://schemas.microsoft.com/office/powerpoint/2010/main" val="69785366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07 / 07</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two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Built: proof circuit, policy contracts, API, interface and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Post-MVP: real verification, proof renewal and non-GPL stack.</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15E22CC9-3BAF-43E6-9381-35FF218B4B4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59c1ff6a0c643b4">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Human review and submission: Oleksiy / Real bank and registry integration: post-MVP</a:t>
            </a:r>
          </a:p>
        </p:txBody>
      </p:sp>
      <p:pic>
        <p:nvPicPr>
          <p:cNvPr id="191" name="">
            <a:extLst xmlns:a="http://schemas.openxmlformats.org/drawingml/2006/main">
              <a:ext uri="{FF2B5EF4-FFF2-40B4-BE49-F238E27FC236}">
                <a16:creationId xmlns:a16="http://schemas.microsoft.com/office/drawing/2014/main" id="{D5D13D63-0996-4E65-8F86-CA2B2766A842}"/>
              </a:ext>
            </a:extLst>
          </p:cNvPr>
          <p:cNvPicPr>
            <a:picLocks xmlns:a="http://schemas.openxmlformats.org/drawingml/2006/main" noChangeAspect="1"/>
          </p:cNvPicPr>
          <p:nvPr/>
        </p:nvPicPr>
        <p:blipFill>
          <a:blip xmlns:r="http://schemas.openxmlformats.org/officeDocument/2006/relationships" xmlns:a="http://schemas.openxmlformats.org/drawingml/2006/main" r:embed="R97564349efb34b21"/>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2026-10-26T05:03:01.1120000Z</dcterms:created>
  <dcterms:modified xsi:type="dcterms:W3CDTF">2026-10-26T05:03:01.1120000Z</dcterms:modified>
</coreProperties>
</file>