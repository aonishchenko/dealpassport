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5b03344d0a4cff" /><Relationship Type="http://schemas.openxmlformats.org/officeDocument/2006/relationships/extended-properties" Target="/docProps/app.xml" Id="Rf4cdd8eb8fbd4783" /><Relationship Type="http://schemas.openxmlformats.org/officeDocument/2006/relationships/officeDocument" Target="/ppt/presentation.xml" Id="Rffd28cf1c4f341c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a3b0f41e95d42e2"/>
  </p:sldMasterIdLst>
  <p:notesMasterIdLst>
    <p:notesMasterId xmlns:r="http://schemas.openxmlformats.org/officeDocument/2006/relationships" r:id="R6f3bb8eda7bb4db5"/>
  </p:notesMasterIdLst>
  <p:sldIdLst>
    <p:sldId xmlns:r="http://schemas.openxmlformats.org/officeDocument/2006/relationships" id="256" r:id="Red2b0e7fea9e4662"/>
    <p:sldId xmlns:r="http://schemas.openxmlformats.org/officeDocument/2006/relationships" id="257" r:id="Rfdceb7acb8324033"/>
    <p:sldId xmlns:r="http://schemas.openxmlformats.org/officeDocument/2006/relationships" id="258" r:id="R57812a84afb14126"/>
    <p:sldId xmlns:r="http://schemas.openxmlformats.org/officeDocument/2006/relationships" id="259" r:id="R103e0abd5d0441bf"/>
    <p:sldId xmlns:r="http://schemas.openxmlformats.org/officeDocument/2006/relationships" id="260" r:id="R90d075c6f43d410a"/>
    <p:sldId xmlns:r="http://schemas.openxmlformats.org/officeDocument/2006/relationships" id="261" r:id="Rfaf8f0f0b8524b12"/>
    <p:sldId xmlns:r="http://schemas.openxmlformats.org/officeDocument/2006/relationships" id="262" r:id="Re3708f6751594e19"/>
  </p:sldIdLst>
  <p:sldSz cx="18288000" cy="10287000"/>
  <p:notesSz cx="6858000" cy="9144000"/>
  <p:embeddedFontLst>
    <p:embeddedFont>
      <p:font typeface="Instrument Sans"/>
      <p:regular xmlns:r="http://schemas.openxmlformats.org/officeDocument/2006/relationships" r:id="R6b206e6667c94546"/>
      <p:bold xmlns:r="http://schemas.openxmlformats.org/officeDocument/2006/relationships" r:id="R4a6b0f2ce0ea4c98"/>
      <p:italic xmlns:r="http://schemas.openxmlformats.org/officeDocument/2006/relationships" r:id="R37ef2ea96a9849a2"/>
      <p:boldItalic xmlns:r="http://schemas.openxmlformats.org/officeDocument/2006/relationships" r:id="R148cf85481e44951"/>
    </p:embeddedFont>
    <p:embeddedFont>
      <p:font typeface="Inter Tight"/>
      <p:regular xmlns:r="http://schemas.openxmlformats.org/officeDocument/2006/relationships" r:id="R6fb724e09fa2403f"/>
      <p:bold xmlns:r="http://schemas.openxmlformats.org/officeDocument/2006/relationships" r:id="Rda79d87d64cd4a8f"/>
      <p:italic xmlns:r="http://schemas.openxmlformats.org/officeDocument/2006/relationships" r:id="R9dca37aaa9544138"/>
      <p:boldItalic xmlns:r="http://schemas.openxmlformats.org/officeDocument/2006/relationships" r:id="Reb5873657dcb4b6c"/>
    </p:embeddedFont>
    <p:embeddedFont>
      <p:font typeface="JetBrains Mono"/>
      <p:regular xmlns:r="http://schemas.openxmlformats.org/officeDocument/2006/relationships" r:id="Rb6dc5b1d984044f3"/>
      <p:bold xmlns:r="http://schemas.openxmlformats.org/officeDocument/2006/relationships" r:id="Rbed43367f74f4507"/>
      <p:italic xmlns:r="http://schemas.openxmlformats.org/officeDocument/2006/relationships" r:id="R925b53a672404432"/>
      <p:boldItalic xmlns:r="http://schemas.openxmlformats.org/officeDocument/2006/relationships" r:id="Re7d45e82857445f7"/>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ab72997b3c034da0" /><Relationship Type="http://schemas.openxmlformats.org/officeDocument/2006/relationships/slideMaster" Target="/ppt/slideMasters/slideMaster1.xml" Id="R4a3b0f41e95d42e2" /><Relationship Type="http://schemas.openxmlformats.org/officeDocument/2006/relationships/notesMaster" Target="/ppt/notesMasters/notesMaster1.xml" Id="R6f3bb8eda7bb4db5" /><Relationship Type="http://schemas.openxmlformats.org/officeDocument/2006/relationships/presProps" Target="/ppt/presProps.xml" Id="R3e4ffb23545c434b" /><Relationship Type="http://schemas.openxmlformats.org/officeDocument/2006/relationships/viewProps" Target="/ppt/viewProps.xml" Id="R4ff752ddb9d5489c" /><Relationship Type="http://schemas.openxmlformats.org/officeDocument/2006/relationships/tableStyles" Target="/ppt/tableStyles.xml" Id="Rf9fea16cac6d4b7a" /><Relationship Type="http://schemas.openxmlformats.org/officeDocument/2006/relationships/font" Target="/ppt/fonts/font.dat" Id="R6b206e6667c94546" /><Relationship Type="http://schemas.openxmlformats.org/officeDocument/2006/relationships/font" Target="/ppt/fonts/font2.dat" Id="R4a6b0f2ce0ea4c98" /><Relationship Type="http://schemas.openxmlformats.org/officeDocument/2006/relationships/font" Target="/ppt/fonts/font3.dat" Id="R37ef2ea96a9849a2" /><Relationship Type="http://schemas.openxmlformats.org/officeDocument/2006/relationships/font" Target="/ppt/fonts/font4.dat" Id="R148cf85481e44951" /><Relationship Type="http://schemas.openxmlformats.org/officeDocument/2006/relationships/font" Target="/ppt/fonts/font5.dat" Id="R6fb724e09fa2403f" /><Relationship Type="http://schemas.openxmlformats.org/officeDocument/2006/relationships/font" Target="/ppt/fonts/font6.dat" Id="Rda79d87d64cd4a8f" /><Relationship Type="http://schemas.openxmlformats.org/officeDocument/2006/relationships/font" Target="/ppt/fonts/font7.dat" Id="R9dca37aaa9544138" /><Relationship Type="http://schemas.openxmlformats.org/officeDocument/2006/relationships/font" Target="/ppt/fonts/font8.dat" Id="Reb5873657dcb4b6c" /><Relationship Type="http://schemas.openxmlformats.org/officeDocument/2006/relationships/font" Target="/ppt/fonts/font9.dat" Id="Rb6dc5b1d984044f3" /><Relationship Type="http://schemas.openxmlformats.org/officeDocument/2006/relationships/font" Target="/ppt/fonts/font10.dat" Id="Rbed43367f74f4507" /><Relationship Type="http://schemas.openxmlformats.org/officeDocument/2006/relationships/font" Target="/ppt/fonts/font11.dat" Id="R925b53a672404432" /><Relationship Type="http://schemas.openxmlformats.org/officeDocument/2006/relationships/font" Target="/ppt/fonts/font12.dat" Id="Re7d45e82857445f7" /><Relationship Type="http://schemas.openxmlformats.org/officeDocument/2006/relationships/slide" Target="/ppt/slides/slide1.xml" Id="Red2b0e7fea9e4662" /><Relationship Type="http://schemas.openxmlformats.org/officeDocument/2006/relationships/slide" Target="/ppt/slides/slide2.xml" Id="Rfdceb7acb8324033" /><Relationship Type="http://schemas.openxmlformats.org/officeDocument/2006/relationships/slide" Target="/ppt/slides/slide3.xml" Id="R57812a84afb14126" /><Relationship Type="http://schemas.openxmlformats.org/officeDocument/2006/relationships/slide" Target="/ppt/slides/slide4.xml" Id="R103e0abd5d0441bf" /><Relationship Type="http://schemas.openxmlformats.org/officeDocument/2006/relationships/slide" Target="/ppt/slides/slide5.xml" Id="R90d075c6f43d410a" /><Relationship Type="http://schemas.openxmlformats.org/officeDocument/2006/relationships/slide" Target="/ppt/slides/slide6.xml" Id="Rfaf8f0f0b8524b12" /><Relationship Type="http://schemas.openxmlformats.org/officeDocument/2006/relationships/slide" Target="/ppt/slides/slide7.xml" Id="Re3708f6751594e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29a02c6f8740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f3a6395d2b458f" /><Relationship Type="http://schemas.openxmlformats.org/officeDocument/2006/relationships/notesMaster" Target="/ppt/notesMasters/notesMaster1.xml" Id="Rb5d7f2f028924d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7b26a2fc244bf7" /><Relationship Type="http://schemas.openxmlformats.org/officeDocument/2006/relationships/notesMaster" Target="/ppt/notesMasters/notesMaster1.xml" Id="R8557c72e8dcf4d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5dc83256b24c27" /><Relationship Type="http://schemas.openxmlformats.org/officeDocument/2006/relationships/notesMaster" Target="/ppt/notesMasters/notesMaster1.xml" Id="Ra259d36eccc343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40e4d893b14237" /><Relationship Type="http://schemas.openxmlformats.org/officeDocument/2006/relationships/notesMaster" Target="/ppt/notesMasters/notesMaster1.xml" Id="Reafb6d7917d040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0fb9e674fa42e2" /><Relationship Type="http://schemas.openxmlformats.org/officeDocument/2006/relationships/notesMaster" Target="/ppt/notesMasters/notesMaster1.xml" Id="Rd2bcf1773ce94d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df2ba69b4b4f88" /><Relationship Type="http://schemas.openxmlformats.org/officeDocument/2006/relationships/notesMaster" Target="/ppt/notesMasters/notesMaster1.xml" Id="Rf71c1893e47a4f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a9f082e0c5447e" /><Relationship Type="http://schemas.openxmlformats.org/officeDocument/2006/relationships/notesMaster" Target="/ppt/notesMasters/notesMaster1.xml" Id="Rf7dce72b807d4b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 EasyAI / Oleksiy Onishchenko, solo builder. Live demo: https://dealpassport.aonishchenko33.workers.dev. Repository: https://github.com/aonishchenko/dealpassport.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 pre-event Deal Passport code, designs or assets. Third-party tools and educational verifier are attributed in docs/THIRD_PARTY.md. Original work retains its root license; dependencies retain their respective licenses.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seller requires €750,000. A synthetic financial issuer certifies a private €900,000 credential. The browser proves issuer membership and the threshold without placing the balance or witness onchain. The authorized property issuer attests AUTHORIZED_TO_MARKET for this deal, which does not assert ownership, title or planning approval. Both consents and fresh qualification checks are necessary before the Worker returns the synthetic dossier.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Target customers: licensed Portuguese brokers and off-market property platforms. Price hypothesis selected by Oleksiy: €89 per month OR per-verification fees, as alternatives. Per-verification price, demand and willingness to pay remain unvalidated. No paying customers, secured pilot, measured savings or revenue are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Portugal recorded 169,812 home sales totaling €41.2 billion in 2025. All home sales are market context, not Deal Passport TAM. Source: https://estatistica.dgeconomia.gov.pt/indice-de-precos-da-habitacao-ine-18/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02 continuation. Comparison of adjacent published offers with the implemented synthetic MVP; not an exhaustive market search or worldwide novelty proof.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reviewed 25–26 October 2026: https://realopen.com/get-started — free crypto proof-of-funds letter discloses the verified balance; https://integralayer.com/ — Asset Passport enriched with data and external attestors; https://www.merkao.io/ — counterparty verification, NDAs, data rooms and vendor-reported 250+ verified professionals. These signals support interest in the surrounding category; they do not validate Deal Passport demand, uniqueness, willingness to pay or revenue. See docs/COMPETITOR_CONTEXT.md.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Live demo: https://dealpassport.aonishchenko33.workers.dev. React/TypeScript interface, browser snarkjs Groth16 prover, Circom circuit, Rust/Soroban BN254 contracts, Cloudflare Worker and D1. Proof generation and initial Testnet transactions can take longer on other devices or networks.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continuation: implemented system architecture. The browser obtains a private synthetic witness from the session-scoped API and creates the proof in its Web Worker. Only the proof and public signals are submitted to Stellar. The Cloudflare Worker uses disposable Testnet signer keys from secrets, records hashed sessions and operation receipts in D1, and rechecks DealGate.status before each protected dossier response. EligibilityGate pins the Groth16 verification key and authenticates financial roots and exact policy inputs. DealGate reads fresh buyer qualification and requires property authority plus both consents. The dossier is an offchain API response, not a blockchain document.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Diagram source: docs/architecture-assets/dealpassport-system.svg. Visual reference supplied by Oleksiy: https://github.com/aonishchenko/prooftrace/blob/main/docs/architecture-assets/prooftrace-system.svg. The reference informed trust-boundary grouping; component names, text and flows were authored for Deal Passport.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EasyAI / Oleksiy Onishchenko, solo participant. Worked out the idea, designed the architecture and implemented the Testnet MVP and demo. Oleksiy performs reviews, corrections and submission. CV-supplied background: 25+ years in software, fintech/cloud systems, solo production marketplaces, former 3Commas Engineering Manager and OpenCascade R&amp;D Engineering Director. Personal contact details omitted. AI tooling: ChatGPT for planning and specification, Codex for engineering, debugging, verification and presentation/demo materials.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SVG illustrations were authored for this update. PNG versions are deterministic renders; no stock photos or generated real-property imagery are presented as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17bd824e094c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915305b9854d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b1550f6e3b46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68ed86604342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da1ecb4b8949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aaeb1474544ee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a28c1736a964d9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45bcd181b1645d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849bb497dcd461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318920602d74d2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83adf6695584758"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30b065886743fb" /><Relationship Type="http://schemas.openxmlformats.org/officeDocument/2006/relationships/slideLayout" Target="/ppt/slideLayouts/slideLayout1.xml" Id="R619205fd3e9b4b41" /><Relationship Type="http://schemas.openxmlformats.org/officeDocument/2006/relationships/slideLayout" Target="/ppt/slideLayouts/slideLayout2.xml" Id="R9d16db4e4b57498f" /><Relationship Type="http://schemas.openxmlformats.org/officeDocument/2006/relationships/slideLayout" Target="/ppt/slideLayouts/slideLayout3.xml" Id="R73a375ef76b24b75" /><Relationship Type="http://schemas.openxmlformats.org/officeDocument/2006/relationships/slideLayout" Target="/ppt/slideLayouts/slideLayout4.xml" Id="Ra54c187726bb40dd" /><Relationship Type="http://schemas.openxmlformats.org/officeDocument/2006/relationships/slideLayout" Target="/ppt/slideLayouts/slideLayout5.xml" Id="R2cbbfbdc0f514334" /><Relationship Type="http://schemas.openxmlformats.org/officeDocument/2006/relationships/slideLayout" Target="/ppt/slideLayouts/slideLayout6.xml" Id="R3d2a0f7d5bff4ea6" /><Relationship Type="http://schemas.openxmlformats.org/officeDocument/2006/relationships/slideLayout" Target="/ppt/slideLayouts/slideLayout7.xml" Id="Rd56b184b05a64bad" /><Relationship Type="http://schemas.openxmlformats.org/officeDocument/2006/relationships/slideLayout" Target="/ppt/slideLayouts/slideLayout8.xml" Id="R5793bf8b32bf4fa8" /><Relationship Type="http://schemas.openxmlformats.org/officeDocument/2006/relationships/slideLayout" Target="/ppt/slideLayouts/slideLayout9.xml" Id="R2cb9811c54d84ece" /><Relationship Type="http://schemas.openxmlformats.org/officeDocument/2006/relationships/slideLayout" Target="/ppt/slideLayouts/slideLayout10.xml" Id="R79db98ae999b4095" /><Relationship Type="http://schemas.openxmlformats.org/officeDocument/2006/relationships/slideLayout" Target="/ppt/slideLayouts/slideLayout11.xml" Id="R4eab15be6e3c480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19205fd3e9b4b41"/>
    <p:sldLayoutId xmlns:r="http://schemas.openxmlformats.org/officeDocument/2006/relationships" id="2147483650" r:id="R9d16db4e4b57498f"/>
    <p:sldLayoutId xmlns:r="http://schemas.openxmlformats.org/officeDocument/2006/relationships" id="2147483651" r:id="R73a375ef76b24b75"/>
    <p:sldLayoutId xmlns:r="http://schemas.openxmlformats.org/officeDocument/2006/relationships" id="2147483652" r:id="Ra54c187726bb40dd"/>
    <p:sldLayoutId xmlns:r="http://schemas.openxmlformats.org/officeDocument/2006/relationships" id="2147483653" r:id="R2cbbfbdc0f514334"/>
    <p:sldLayoutId xmlns:r="http://schemas.openxmlformats.org/officeDocument/2006/relationships" id="2147483654" r:id="R3d2a0f7d5bff4ea6"/>
    <p:sldLayoutId xmlns:r="http://schemas.openxmlformats.org/officeDocument/2006/relationships" id="2147483655" r:id="Rd56b184b05a64bad"/>
    <p:sldLayoutId xmlns:r="http://schemas.openxmlformats.org/officeDocument/2006/relationships" id="2147483656" r:id="R5793bf8b32bf4fa8"/>
    <p:sldLayoutId xmlns:r="http://schemas.openxmlformats.org/officeDocument/2006/relationships" id="2147483657" r:id="R2cb9811c54d84ece"/>
    <p:sldLayoutId xmlns:r="http://schemas.openxmlformats.org/officeDocument/2006/relationships" id="2147483658" r:id="R79db98ae999b4095"/>
    <p:sldLayoutId xmlns:r="http://schemas.openxmlformats.org/officeDocument/2006/relationships" id="2147483659" r:id="R4eab15be6e3c480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57f5bec8bd4b1c" /><Relationship Type="http://schemas.openxmlformats.org/officeDocument/2006/relationships/image" Target="/ppt/media/image.png" Id="R5b2d842f25cd4ad6" /><Relationship Type="http://schemas.openxmlformats.org/officeDocument/2006/relationships/image" Target="/ppt/media/image2.png" Id="R91e05fda8f534f17" /><Relationship Type="http://schemas.openxmlformats.org/officeDocument/2006/relationships/image" Target="/ppt/media/image3.png" Id="R300738d1e1ec4dcb" /><Relationship Type="http://schemas.openxmlformats.org/officeDocument/2006/relationships/image" Target="/ppt/media/image4.png" Id="R1a0894a76e3d4ab7" /><Relationship Type="http://schemas.openxmlformats.org/officeDocument/2006/relationships/notesSlide" Target="/ppt/notesSlides/notesSlide1.xml" Id="Rf48f115a5ee14d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2bf7c7fac24b83" /><Relationship Type="http://schemas.openxmlformats.org/officeDocument/2006/relationships/image" Target="/ppt/media/image5.png" Id="R968014ab182742a1" /><Relationship Type="http://schemas.openxmlformats.org/officeDocument/2006/relationships/image" Target="/ppt/media/image6.png" Id="R47decae6d8fc4ac3" /><Relationship Type="http://schemas.openxmlformats.org/officeDocument/2006/relationships/notesSlide" Target="/ppt/notesSlides/notesSlide2.xml" Id="R4f3faaf4d9bb47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d270129de549dc" /><Relationship Type="http://schemas.openxmlformats.org/officeDocument/2006/relationships/image" Target="/ppt/media/image5.png" Id="Rcf439ab6e2fe41a9" /><Relationship Type="http://schemas.openxmlformats.org/officeDocument/2006/relationships/image" Target="/ppt/media/image7.png" Id="Rdecc75b1cb344f42" /><Relationship Type="http://schemas.openxmlformats.org/officeDocument/2006/relationships/notesSlide" Target="/ppt/notesSlides/notesSlide3.xml" Id="R464f4695dfa74b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7a2dd51ceb45e6" /><Relationship Type="http://schemas.openxmlformats.org/officeDocument/2006/relationships/image" Target="/ppt/media/image5.png" Id="Rc5994cc578c346c3" /><Relationship Type="http://schemas.openxmlformats.org/officeDocument/2006/relationships/image" Target="/ppt/media/image8.png" Id="Re5d3145344164f6a" /><Relationship Type="http://schemas.openxmlformats.org/officeDocument/2006/relationships/image" Target="/ppt/media/image9.png" Id="Rfbcba976a3f3449e" /><Relationship Type="http://schemas.openxmlformats.org/officeDocument/2006/relationships/notesSlide" Target="/ppt/notesSlides/notesSlide4.xml" Id="R912111eb4ba346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65f6d2f96141ed" /><Relationship Type="http://schemas.openxmlformats.org/officeDocument/2006/relationships/image" Target="/ppt/media/image5.png" Id="R283d957a5cee4c8c" /><Relationship Type="http://schemas.openxmlformats.org/officeDocument/2006/relationships/image" Target="/ppt/media/image10.png" Id="Rbfb9ee3496ee4c29" /><Relationship Type="http://schemas.openxmlformats.org/officeDocument/2006/relationships/notesSlide" Target="/ppt/notesSlides/notesSlide5.xml" Id="R19e83b6084bd47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fa3b45a22840d4" /><Relationship Type="http://schemas.openxmlformats.org/officeDocument/2006/relationships/image" Target="/ppt/media/image5.png" Id="Rfdec9b3356c642a5" /><Relationship Type="http://schemas.openxmlformats.org/officeDocument/2006/relationships/image" Target="/ppt/media/image11.png" Id="R579fee1ee46c47ed" /><Relationship Type="http://schemas.openxmlformats.org/officeDocument/2006/relationships/notesSlide" Target="/ppt/notesSlides/notesSlide6.xml" Id="R9ff2909647744d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37ace5625b48d0" /><Relationship Type="http://schemas.openxmlformats.org/officeDocument/2006/relationships/image" Target="/ppt/media/image5.png" Id="R4d19c4986c7343cd" /><Relationship Type="http://schemas.openxmlformats.org/officeDocument/2006/relationships/image" Target="/ppt/media/image12.png" Id="Rc0cd315147d04e99" /><Relationship Type="http://schemas.openxmlformats.org/officeDocument/2006/relationships/notesSlide" Target="/ppt/notesSlides/notesSlide7.xml" Id="Rc5f78a74a8474aed"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07</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71170DA5-0A34-4D19-9C31-7AF3063595D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2d842f25cd4ad6">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9076B031-4430-4F00-86EC-C91F8178409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e05fda8f534f17">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34DECC58-EA53-443E-A4E5-D9EB65537C5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00738d1e1ec4dcb">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TESTNET MVP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buNone/>
              <a:defRPr sz="2800">
                <a:solidFill>
                  <a:srgbClr val="FFFFFF"/>
                </a:solidFill>
                <a:latin typeface="Instrument Sans"/>
                <a:ea typeface="Instrument Sans"/>
                <a:cs typeface="Instrument Sans"/>
              </a:defRPr>
            </a:lvl1pPr>
            <a:lvl2pPr>
              <a:buNone/>
              <a:defRPr sz="2800">
                <a:solidFill>
                  <a:srgbClr val="FFFFFF"/>
                </a:solidFill>
                <a:latin typeface="Instrument Sans"/>
                <a:ea typeface="Instrument Sans"/>
                <a:cs typeface="Instrument Sans"/>
              </a:defRPr>
            </a:lvl2pPr>
            <a:lvl3pPr>
              <a:buNone/>
              <a:defRPr sz="2800">
                <a:solidFill>
                  <a:srgbClr val="FFFFFF"/>
                </a:solidFill>
                <a:latin typeface="Instrument Sans"/>
                <a:ea typeface="Instrument Sans"/>
                <a:cs typeface="Instrument Sans"/>
              </a:defRPr>
            </a:lvl3pPr>
            <a:lvl4pPr>
              <a:buNone/>
              <a:defRPr sz="2800">
                <a:solidFill>
                  <a:srgbClr val="FFFFFF"/>
                </a:solidFill>
                <a:latin typeface="Instrument Sans"/>
                <a:ea typeface="Instrument Sans"/>
                <a:cs typeface="Instrument Sans"/>
              </a:defRPr>
            </a:lvl4pPr>
            <a:lvl5pPr>
              <a:buNone/>
              <a:defRPr sz="2800">
                <a:solidFill>
                  <a:srgbClr val="FFFFFF"/>
                </a:solidFill>
                <a:latin typeface="Instrument Sans"/>
                <a:ea typeface="Instrument Sans"/>
                <a:cs typeface="Instrument Sans"/>
              </a:defRPr>
            </a:lvl5pPr>
            <a:lvl6pPr>
              <a:buNone/>
              <a:defRPr sz="2800">
                <a:solidFill>
                  <a:srgbClr val="FFFFFF"/>
                </a:solidFill>
                <a:latin typeface="Instrument Sans"/>
                <a:ea typeface="Instrument Sans"/>
                <a:cs typeface="Instrument Sans"/>
              </a:defRPr>
            </a:lvl6pPr>
            <a:lvl7pPr>
              <a:buNone/>
              <a:defRPr sz="2800">
                <a:solidFill>
                  <a:srgbClr val="FFFFFF"/>
                </a:solidFill>
                <a:latin typeface="Instrument Sans"/>
                <a:ea typeface="Instrument Sans"/>
                <a:cs typeface="Instrument Sans"/>
              </a:defRPr>
            </a:lvl7pPr>
            <a:lvl8pPr>
              <a:buNone/>
              <a:defRPr sz="2800">
                <a:solidFill>
                  <a:srgbClr val="FFFFFF"/>
                </a:solidFill>
                <a:latin typeface="Instrument Sans"/>
                <a:ea typeface="Instrument Sans"/>
                <a:cs typeface="Instrument Sans"/>
              </a:defRPr>
            </a:lvl8pPr>
            <a:lvl9pPr>
              <a:buNone/>
              <a:defRPr sz="2800">
                <a:solidFill>
                  <a:srgbClr val="FFFFFF"/>
                </a:solidFill>
                <a:latin typeface="Instrument Sans"/>
                <a:ea typeface="Instrument Sans"/>
                <a:cs typeface="Instrument Sans"/>
              </a:defRPr>
            </a:lvl9pPr>
          </a:lstStyle>
          <a:p xmlns:a="http://schemas.openxmlformats.org/drawingml/2006/main">
            <a:pPr>
              <a:buNone/>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qualification. Mutual consent. Real Testnet.</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buNone/>
              <a:defRPr sz="1900">
                <a:solidFill>
                  <a:srgbClr val="FDDA24"/>
                </a:solidFill>
                <a:latin typeface="Instrument Sans"/>
                <a:ea typeface="Instrument Sans"/>
                <a:cs typeface="Instrument Sans"/>
              </a:defRPr>
            </a:lvl1pPr>
            <a:lvl2pPr>
              <a:buNone/>
              <a:defRPr sz="1900">
                <a:solidFill>
                  <a:srgbClr val="FDDA24"/>
                </a:solidFill>
                <a:latin typeface="Instrument Sans"/>
                <a:ea typeface="Instrument Sans"/>
                <a:cs typeface="Instrument Sans"/>
              </a:defRPr>
            </a:lvl2pPr>
            <a:lvl3pPr>
              <a:buNone/>
              <a:defRPr sz="1900">
                <a:solidFill>
                  <a:srgbClr val="FDDA24"/>
                </a:solidFill>
                <a:latin typeface="Instrument Sans"/>
                <a:ea typeface="Instrument Sans"/>
                <a:cs typeface="Instrument Sans"/>
              </a:defRPr>
            </a:lvl3pPr>
            <a:lvl4pPr>
              <a:buNone/>
              <a:defRPr sz="1900">
                <a:solidFill>
                  <a:srgbClr val="FDDA24"/>
                </a:solidFill>
                <a:latin typeface="Instrument Sans"/>
                <a:ea typeface="Instrument Sans"/>
                <a:cs typeface="Instrument Sans"/>
              </a:defRPr>
            </a:lvl4pPr>
            <a:lvl5pPr>
              <a:buNone/>
              <a:defRPr sz="1900">
                <a:solidFill>
                  <a:srgbClr val="FDDA24"/>
                </a:solidFill>
                <a:latin typeface="Instrument Sans"/>
                <a:ea typeface="Instrument Sans"/>
                <a:cs typeface="Instrument Sans"/>
              </a:defRPr>
            </a:lvl5pPr>
            <a:lvl6pPr>
              <a:buNone/>
              <a:defRPr sz="1900">
                <a:solidFill>
                  <a:srgbClr val="FDDA24"/>
                </a:solidFill>
                <a:latin typeface="Instrument Sans"/>
                <a:ea typeface="Instrument Sans"/>
                <a:cs typeface="Instrument Sans"/>
              </a:defRPr>
            </a:lvl6pPr>
            <a:lvl7pPr>
              <a:buNone/>
              <a:defRPr sz="1900">
                <a:solidFill>
                  <a:srgbClr val="FDDA24"/>
                </a:solidFill>
                <a:latin typeface="Instrument Sans"/>
                <a:ea typeface="Instrument Sans"/>
                <a:cs typeface="Instrument Sans"/>
              </a:defRPr>
            </a:lvl7pPr>
            <a:lvl8pPr>
              <a:buNone/>
              <a:defRPr sz="1900">
                <a:solidFill>
                  <a:srgbClr val="FDDA24"/>
                </a:solidFill>
                <a:latin typeface="Instrument Sans"/>
                <a:ea typeface="Instrument Sans"/>
                <a:cs typeface="Instrument Sans"/>
              </a:defRPr>
            </a:lvl8pPr>
            <a:lvl9pPr>
              <a:buNone/>
              <a:defRPr sz="1900">
                <a:solidFill>
                  <a:srgbClr val="FDDA24"/>
                </a:solidFill>
                <a:latin typeface="Instrument Sans"/>
                <a:ea typeface="Instrument Sans"/>
                <a:cs typeface="Instrument Sans"/>
              </a:defRPr>
            </a:lvl9pPr>
          </a:lstStyle>
          <a:p xmlns:a="http://schemas.openxmlformats.org/drawingml/2006/main">
            <a:pPr>
              <a:buNone/>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pic>
        <p:nvPicPr>
          <p:cNvPr id="104" name="">
            <a:extLst xmlns:a="http://schemas.openxmlformats.org/drawingml/2006/main">
              <a:ext uri="{FF2B5EF4-FFF2-40B4-BE49-F238E27FC236}">
                <a16:creationId xmlns:a16="http://schemas.microsoft.com/office/drawing/2014/main" id="{1B5E6F4B-A38E-46AA-BA9F-70CE062ECDCB}"/>
              </a:ext>
            </a:extLst>
          </p:cNvPr>
          <p:cNvPicPr>
            <a:picLocks xmlns:a="http://schemas.openxmlformats.org/drawingml/2006/main" noChangeAspect="1"/>
          </p:cNvPicPr>
          <p:nvPr/>
        </p:nvPicPr>
        <p:blipFill>
          <a:blip xmlns:r="http://schemas.openxmlformats.org/officeDocument/2006/relationships" xmlns:a="http://schemas.openxmlformats.org/drawingml/2006/main" r:embed="R1a0894a76e3d4ab7"/>
          <a:stretch xmlns:a="http://schemas.openxmlformats.org/drawingml/2006/main"/>
        </p:blipFill>
        <p:spPr>
          <a:xfrm xmlns:a="http://schemas.openxmlformats.org/drawingml/2006/main">
            <a:off x="12287250" y="1735949"/>
            <a:ext cx="5238750" cy="4090951"/>
          </a:xfrm>
          <a:prstGeom xmlns:a="http://schemas.openxmlformats.org/drawingml/2006/main" prst="rect">
            <a:avLst/>
          </a:prstGeom>
        </p:spPr>
      </p:pic>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07</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Two passports. Mutual consent. One private introduction.</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 €750k while keeping the exact balance private.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issuer-attested marketing authority for this deal.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both passports and both consents unlock the dossier.</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€900k buyer qualifies; underfunded and expired credentials fail.</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The dossier opens only after both participants consent.</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7F07F49A-649A-4970-BB91-47DD16B16E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68014ab182742a1">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25" name="">
            <a:extLst xmlns:a="http://schemas.openxmlformats.org/drawingml/2006/main">
              <a:ext uri="{FF2B5EF4-FFF2-40B4-BE49-F238E27FC236}">
                <a16:creationId xmlns:a16="http://schemas.microsoft.com/office/drawing/2014/main" id="{4FAB8571-49BF-413A-88B1-D47184A017D3}"/>
              </a:ext>
            </a:extLst>
          </p:cNvPr>
          <p:cNvPicPr>
            <a:picLocks xmlns:a="http://schemas.openxmlformats.org/drawingml/2006/main" noChangeAspect="1"/>
          </p:cNvPicPr>
          <p:nvPr/>
        </p:nvPicPr>
        <p:blipFill>
          <a:blip xmlns:r="http://schemas.openxmlformats.org/officeDocument/2006/relationships" xmlns:a="http://schemas.openxmlformats.org/drawingml/2006/main" r:embed="R47decae6d8fc4ac3"/>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MARKET &amp; NOVELTY</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Private deals stall when neither side wants to reveal first</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off-market platforms and licensed brokers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repeated proof-of-funds checks and premature document sharing.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Pilot pricing hypothesis: €89/month or per-verification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Portugal, 2025: 169,812 home sales / €41.2B</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All home sales. Market context only. PMF remains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D8CDB9E7-2422-48A9-B58A-940691EBFA4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f439ab6e2fe41a9">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47" name="">
            <a:extLst xmlns:a="http://schemas.openxmlformats.org/drawingml/2006/main">
              <a:ext uri="{FF2B5EF4-FFF2-40B4-BE49-F238E27FC236}">
                <a16:creationId xmlns:a16="http://schemas.microsoft.com/office/drawing/2014/main" id="{1378CE8A-E358-47A0-8AC8-D932EA358F22}"/>
              </a:ext>
            </a:extLst>
          </p:cNvPr>
          <p:cNvPicPr>
            <a:picLocks xmlns:a="http://schemas.openxmlformats.org/drawingml/2006/main" noChangeAspect="1"/>
          </p:cNvPicPr>
          <p:nvPr/>
        </p:nvPicPr>
        <p:blipFill>
          <a:blip xmlns:r="http://schemas.openxmlformats.org/officeDocument/2006/relationships" xmlns:a="http://schemas.openxmlformats.org/drawingml/2006/main" r:embed="Rdecc75b1cb344f42"/>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07</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MARKET &amp; NOVELTY</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133475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Existing services validate parts of the same private-deal workflow</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639050"/>
            <a:ext cx="16459200" cy="97155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Market signal: MERKAO reports 250+ verified professionals.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Our focus: a private buyer proof and one enforceable mutual policy.</a:t>
            </a:r>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0F8E435C-41D1-4821-8532-91EACB5DD63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5994cc578c346c3">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686800"/>
            <a:ext cx="1645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200">
                <a:solidFill>
                  <a:srgbClr val="5C5C5C"/>
                </a:solidFill>
                <a:latin typeface="JetBrains Mono"/>
                <a:ea typeface="JetBrains Mono"/>
                <a:cs typeface="JetBrains Mono"/>
              </a:defRPr>
            </a:pPr>
            <a:r>
              <a:rPr sz="1200">
                <a:solidFill>
                  <a:srgbClr val="5C5C5C"/>
                </a:solidFill>
                <a:latin typeface="JetBrains Mono"/>
                <a:ea typeface="JetBrains Mono"/>
                <a:cs typeface="JetBrains Mono"/>
              </a:rPr>
              <a:t>Vendor claims are not audited. Deal Passport demand remains unvalidated.</a:t>
            </a:r>
          </a:p>
        </p:txBody>
      </p:sp>
      <p:graphicFrame>
        <p:nvGraphicFramePr>
          <p:cNvPr id="147" name="">
            <a:extLst xmlns:a="http://schemas.openxmlformats.org/drawingml/2006/main">
              <a:ext uri="{FF2B5EF4-FFF2-40B4-BE49-F238E27FC236}">
                <a16:creationId xmlns:a16="http://schemas.microsoft.com/office/drawing/2014/main" id="{E5622614-1774-4170-A8E4-E1B082C3C7D8}"/>
              </a:ext>
            </a:extLst>
          </p:cNvPr>
          <p:cNvGraphicFramePr/>
          <p:nvPr/>
        </p:nvGraphicFramePr>
        <p:xfrm>
          <a:off xmlns:a="http://schemas.openxmlformats.org/drawingml/2006/main" x="914400" y="4709160"/>
          <a:ext xmlns:a="http://schemas.openxmlformats.org/drawingml/2006/main" cx="11334750" cy="2686050"/>
        </p:xfrm>
        <a:graphic xmlns:a="http://schemas.openxmlformats.org/drawingml/2006/main">
          <a:graphicData uri="http://schemas.openxmlformats.org/drawingml/2006/table">
            <a:tbl>
              <a:tblPr firstRow="0" bandRow="0"/>
              <a:tblGrid>
                <a:gridCol w="1905000"/>
                <a:gridCol w="4286250"/>
                <a:gridCol w="5143500"/>
              </a:tblGrid>
              <a:tr h="514350">
                <a:tc>
                  <a:txBody>
                    <a:bodyPr lIns="133350" tIns="76200" rIns="133350" bIns="76200">
                      <a:noAutofit/>
                    </a:bodyPr>
                    <a:lstStyle/>
                    <a:p>
                      <a:r>
                        <a:rPr sz="1875" b="1">
                          <a:solidFill>
                            <a:srgbClr val="FDDA24"/>
                          </a:solidFill>
                          <a:latin typeface="Instrument Sans"/>
                          <a:ea typeface="Instrument Sans"/>
                          <a:cs typeface="Instrument Sans"/>
                        </a:rPr>
                        <a:t>Product</a:t>
                      </a:r>
                    </a:p>
                  </a:txBody>
                  <a:tcPr marL="91440" marR="91440" marT="45720" marB="45720" anchor="ctr">
                    <a:lnL w="9525">
                      <a:solidFill>
                        <a:srgbClr val="DFDDD6"/>
                      </a:solidFill>
                      <a:prstDash val="solid"/>
                    </a:lnL>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Existing offer</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Our implemented MVP</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RealOpen</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Crypto funds letter</a:t>
                      </a:r>
                    </a:p>
                    <a:p>
                      <a:r>
                        <a:rPr sz="1875" b="0">
                          <a:solidFill>
                            <a:srgbClr val="2A2A2A"/>
                          </a:solidFill>
                          <a:latin typeface="Instrument Sans"/>
                          <a:ea typeface="Instrument Sans"/>
                          <a:cs typeface="Instrument Sans"/>
                        </a:rPr>
                        <a:t>Reveals verified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Issuer-bound threshold proof</a:t>
                      </a:r>
                    </a:p>
                    <a:p>
                      <a:r>
                        <a:rPr sz="1875" b="0">
                          <a:solidFill>
                            <a:srgbClr val="2A2A2A"/>
                          </a:solidFill>
                          <a:latin typeface="Instrument Sans"/>
                          <a:ea typeface="Instrument Sans"/>
                          <a:cs typeface="Instrument Sans"/>
                        </a:rPr>
                        <a:t>Hides the exact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IntegraLayer</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Attested property data</a:t>
                      </a:r>
                    </a:p>
                    <a:p>
                      <a:r>
                        <a:rPr sz="1875" b="0">
                          <a:solidFill>
                            <a:srgbClr val="2A2A2A"/>
                          </a:solidFill>
                          <a:latin typeface="Instrument Sans"/>
                          <a:ea typeface="Instrument Sans"/>
                          <a:cs typeface="Instrument Sans"/>
                        </a:rPr>
                        <a:t>Onchain Asset Passport</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Deal-specific authority claim</a:t>
                      </a:r>
                    </a:p>
                    <a:p>
                      <a:r>
                        <a:rPr sz="1875" b="0">
                          <a:solidFill>
                            <a:srgbClr val="2A2A2A"/>
                          </a:solidFill>
                          <a:latin typeface="Instrument Sans"/>
                          <a:ea typeface="Instrument Sans"/>
                          <a:cs typeface="Instrument Sans"/>
                        </a:rPr>
                        <a:t>From an authorized issuer</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MERKAO</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Verified counterparties</a:t>
                      </a:r>
                    </a:p>
                    <a:p>
                      <a:r>
                        <a:rPr sz="1875" b="0">
                          <a:solidFill>
                            <a:srgbClr val="2A2A2A"/>
                          </a:solidFill>
                          <a:latin typeface="Instrument Sans"/>
                          <a:ea typeface="Instrument Sans"/>
                          <a:cs typeface="Instrument Sans"/>
                        </a:rPr>
                        <a:t>NDAs and private data rooms</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Stellar-enforced qualification</a:t>
                      </a:r>
                    </a:p>
                    <a:p>
                      <a:r>
                        <a:rPr sz="1875" b="0">
                          <a:solidFill>
                            <a:srgbClr val="2A2A2A"/>
                          </a:solidFill>
                          <a:latin typeface="Instrument Sans"/>
                          <a:ea typeface="Instrument Sans"/>
                          <a:cs typeface="Instrument Sans"/>
                        </a:rPr>
                        <a:t>And mutual disclosure consent</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bl>
          </a:graphicData>
        </a:graphic>
      </p:graphicFrame>
      <p:pic>
        <p:nvPicPr>
          <p:cNvPr id="148" name="">
            <a:extLst xmlns:a="http://schemas.openxmlformats.org/drawingml/2006/main">
              <a:ext uri="{FF2B5EF4-FFF2-40B4-BE49-F238E27FC236}">
                <a16:creationId xmlns:a16="http://schemas.microsoft.com/office/drawing/2014/main" id="{80D906B8-C351-4A1E-A544-9C38E20D200F}"/>
              </a:ext>
            </a:extLst>
          </p:cNvPr>
          <p:cNvPicPr>
            <a:picLocks xmlns:a="http://schemas.openxmlformats.org/drawingml/2006/main" noChangeAspect="1"/>
          </p:cNvPicPr>
          <p:nvPr/>
        </p:nvPicPr>
        <p:blipFill>
          <a:blip xmlns:r="http://schemas.openxmlformats.org/officeDocument/2006/relationships" xmlns:a="http://schemas.openxmlformats.org/drawingml/2006/main" r:embed="Re5d3145344164f6a"/>
          <a:stretch xmlns:a="http://schemas.openxmlformats.org/drawingml/2006/main"/>
        </p:blipFill>
        <p:spPr>
          <a:xfrm xmlns:a="http://schemas.openxmlformats.org/drawingml/2006/main">
            <a:off x="12893040" y="4023360"/>
            <a:ext cx="4480560" cy="3480435"/>
          </a:xfrm>
          <a:prstGeom xmlns:a="http://schemas.openxmlformats.org/drawingml/2006/main" prst="rect">
            <a:avLst/>
          </a:prstGeom>
        </p:spPr>
      </p:pic>
      <p:pic>
        <p:nvPicPr>
          <p:cNvPr id="149" name="">
            <a:extLst xmlns:a="http://schemas.openxmlformats.org/drawingml/2006/main">
              <a:ext uri="{FF2B5EF4-FFF2-40B4-BE49-F238E27FC236}">
                <a16:creationId xmlns:a16="http://schemas.microsoft.com/office/drawing/2014/main" id="{AE9E8D99-C909-42AA-A136-A1D6AB78EF2E}"/>
              </a:ext>
            </a:extLst>
          </p:cNvPr>
          <p:cNvPicPr>
            <a:picLocks xmlns:a="http://schemas.openxmlformats.org/drawingml/2006/main" noChangeAspect="1"/>
          </p:cNvPicPr>
          <p:nvPr/>
        </p:nvPicPr>
        <p:blipFill>
          <a:blip xmlns:r="http://schemas.openxmlformats.org/officeDocument/2006/relationships" xmlns:a="http://schemas.openxmlformats.org/drawingml/2006/main" r:embed="Rfbcba976a3f3449e"/>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SYSTEM ARCHITECTURE</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VERIFIED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Buyer proof, seller authority and consent are live on Testnet</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Browser generates a genuine Groth16 eligibility proof.</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Stellar verifies the proof and the property issuer’s authority.</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Both parties consent; the API rechecks current chain state.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Underfunding, expiry, forgery, replay and revoked access fail.</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1.6–2.6s browser proof observed on this demo device.</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Live operation history and public Testnet receipts.</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F009199B-B025-4D23-967F-6EFB5C3D1F6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83d957a5cee4c8c">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Unaudited demo setup</a:t>
            </a:r>
          </a:p>
        </p:txBody>
      </p:sp>
      <p:pic>
        <p:nvPicPr>
          <p:cNvPr id="169" name="">
            <a:extLst xmlns:a="http://schemas.openxmlformats.org/drawingml/2006/main">
              <a:ext uri="{FF2B5EF4-FFF2-40B4-BE49-F238E27FC236}">
                <a16:creationId xmlns:a16="http://schemas.microsoft.com/office/drawing/2014/main" id="{A6939D17-5D5E-44D4-B0BA-770B2C254D89}"/>
              </a:ext>
            </a:extLst>
          </p:cNvPr>
          <p:cNvPicPr>
            <a:picLocks xmlns:a="http://schemas.openxmlformats.org/drawingml/2006/main" noChangeAspect="1"/>
          </p:cNvPicPr>
          <p:nvPr/>
        </p:nvPicPr>
        <p:blipFill>
          <a:blip xmlns:r="http://schemas.openxmlformats.org/officeDocument/2006/relationships" xmlns:a="http://schemas.openxmlformats.org/drawingml/2006/main" r:embed="Rbfb9ee3496ee4c29"/>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69785366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06 / 07</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100" b="1">
                <a:solidFill>
                  <a:srgbClr val="0F0F0F"/>
                </a:solidFill>
                <a:latin typeface="Inter Tight"/>
                <a:ea typeface="Inter Tight"/>
                <a:cs typeface="Inter Tight"/>
              </a:defRPr>
            </a:defPPr>
            <a:lvl1pPr>
              <a:defRPr sz="8100" b="1">
                <a:solidFill>
                  <a:srgbClr val="0F0F0F"/>
                </a:solidFill>
                <a:latin typeface="Inter Tight"/>
                <a:ea typeface="Inter Tight"/>
                <a:cs typeface="Inter Tight"/>
              </a:defRPr>
            </a:lvl1pPr>
            <a:lvl2pPr>
              <a:defRPr sz="8100" b="1">
                <a:solidFill>
                  <a:srgbClr val="0F0F0F"/>
                </a:solidFill>
                <a:latin typeface="Inter Tight"/>
                <a:ea typeface="Inter Tight"/>
                <a:cs typeface="Inter Tight"/>
              </a:defRPr>
            </a:lvl2pPr>
            <a:lvl3pPr>
              <a:defRPr sz="8100" b="1">
                <a:solidFill>
                  <a:srgbClr val="0F0F0F"/>
                </a:solidFill>
                <a:latin typeface="Inter Tight"/>
                <a:ea typeface="Inter Tight"/>
                <a:cs typeface="Inter Tight"/>
              </a:defRPr>
            </a:lvl3pPr>
            <a:lvl4pPr>
              <a:defRPr sz="8100" b="1">
                <a:solidFill>
                  <a:srgbClr val="0F0F0F"/>
                </a:solidFill>
                <a:latin typeface="Inter Tight"/>
                <a:ea typeface="Inter Tight"/>
                <a:cs typeface="Inter Tight"/>
              </a:defRPr>
            </a:lvl4pPr>
            <a:lvl5pPr>
              <a:defRPr sz="8100" b="1">
                <a:solidFill>
                  <a:srgbClr val="0F0F0F"/>
                </a:solidFill>
                <a:latin typeface="Inter Tight"/>
                <a:ea typeface="Inter Tight"/>
                <a:cs typeface="Inter Tight"/>
              </a:defRPr>
            </a:lvl5pPr>
            <a:lvl6pPr>
              <a:defRPr sz="8100" b="1">
                <a:solidFill>
                  <a:srgbClr val="0F0F0F"/>
                </a:solidFill>
                <a:latin typeface="Inter Tight"/>
                <a:ea typeface="Inter Tight"/>
                <a:cs typeface="Inter Tight"/>
              </a:defRPr>
            </a:lvl6pPr>
            <a:lvl7pPr>
              <a:defRPr sz="8100" b="1">
                <a:solidFill>
                  <a:srgbClr val="0F0F0F"/>
                </a:solidFill>
                <a:latin typeface="Inter Tight"/>
                <a:ea typeface="Inter Tight"/>
                <a:cs typeface="Inter Tight"/>
              </a:defRPr>
            </a:lvl7pPr>
            <a:lvl8pPr>
              <a:defRPr sz="8100" b="1">
                <a:solidFill>
                  <a:srgbClr val="0F0F0F"/>
                </a:solidFill>
                <a:latin typeface="Inter Tight"/>
                <a:ea typeface="Inter Tight"/>
                <a:cs typeface="Inter Tight"/>
              </a:defRPr>
            </a:lvl8pPr>
            <a:lvl9pPr>
              <a:defRPr sz="8100" b="1">
                <a:solidFill>
                  <a:srgbClr val="0F0F0F"/>
                </a:solidFill>
                <a:latin typeface="Inter Tight"/>
                <a:ea typeface="Inter Tight"/>
                <a:cs typeface="Inter Tight"/>
              </a:defRPr>
            </a:lvl9pPr>
          </a:lstStyle>
          <a:p xmlns:a="http://schemas.openxmlformats.org/drawingml/2006/main">
            <a:pPr marL="0" marR="0" lvl="0" indent="0" algn="l">
              <a:spcBef>
                <a:spcPts val="0"/>
              </a:spcBef>
              <a:spcAft>
                <a:spcPts val="0"/>
              </a:spcAft>
              <a:buNone/>
              <a:defRPr sz="8100" b="1">
                <a:solidFill>
                  <a:srgbClr val="0F0F0F"/>
                </a:solidFill>
                <a:latin typeface="Inter Tight"/>
                <a:ea typeface="Inter Tight"/>
                <a:cs typeface="Inter Tight"/>
              </a:defRPr>
            </a:pPr>
            <a:r>
              <a:rPr sz="8100" b="1" i="0" u="none" strike="noStrike" cap="none">
                <a:solidFill>
                  <a:srgbClr val="0F0F0F"/>
                </a:solidFill>
                <a:latin typeface="Inter Tight"/>
                <a:ea typeface="Inter Tight"/>
                <a:cs typeface="Inter Tight"/>
              </a:rPr>
              <a:t>SYSTEM ARCHITECTURE</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F009199B-B025-4D23-967F-6EFB5C3D1F6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dec9b3356c642a5">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pic>
        <p:nvPicPr>
          <p:cNvPr id="168" name="">
            <a:extLst xmlns:a="http://schemas.openxmlformats.org/drawingml/2006/main">
              <a:ext uri="{FF2B5EF4-FFF2-40B4-BE49-F238E27FC236}">
                <a16:creationId xmlns:a16="http://schemas.microsoft.com/office/drawing/2014/main" id="{23B68C76-994D-4F22-B9D8-44F08D8916EF}"/>
              </a:ext>
            </a:extLst>
          </p:cNvPr>
          <p:cNvPicPr>
            <a:picLocks xmlns:a="http://schemas.openxmlformats.org/drawingml/2006/main" noChangeAspect="1"/>
          </p:cNvPicPr>
          <p:nvPr/>
        </p:nvPicPr>
        <p:blipFill>
          <a:blip xmlns:r="http://schemas.openxmlformats.org/officeDocument/2006/relationships" xmlns:a="http://schemas.openxmlformats.org/drawingml/2006/main" r:embed="R579fee1ee46c47ed"/>
          <a:stretch xmlns:a="http://schemas.openxmlformats.org/drawingml/2006/main"/>
        </p:blipFill>
        <p:spPr>
          <a:xfrm xmlns:a="http://schemas.openxmlformats.org/drawingml/2006/main">
            <a:off x="914400" y="3440702"/>
            <a:ext cx="16459200" cy="5310596"/>
          </a:xfrm>
          <a:prstGeom xmlns:a="http://schemas.openxmlformats.org/drawingml/2006/main" prst="rect">
            <a:avLst/>
          </a:prstGeom>
        </p:spPr>
      </p:pic>
    </p:spTree>
    <p:extLst>
      <p:ext uri="{BB962C8B-B14F-4D97-AF65-F5344CB8AC3E}">
        <p14:creationId xmlns:p14="http://schemas.microsoft.com/office/powerpoint/2010/main" val="69785366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07 / 07</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two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Built: proof circuit, policy contracts, API, interface and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Post-MVP: real verification, proof renewal and non-GPL stack.</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56D12388-2B11-495A-A9D6-9AD4E91F0E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d19c4986c7343cd">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Human review and submission: Oleksiy / Real bank and registry integration: post-MVP</a:t>
            </a:r>
          </a:p>
        </p:txBody>
      </p:sp>
      <p:pic>
        <p:nvPicPr>
          <p:cNvPr id="191" name="">
            <a:extLst xmlns:a="http://schemas.openxmlformats.org/drawingml/2006/main">
              <a:ext uri="{FF2B5EF4-FFF2-40B4-BE49-F238E27FC236}">
                <a16:creationId xmlns:a16="http://schemas.microsoft.com/office/drawing/2014/main" id="{E2D6FF4B-C157-48D4-B852-E87E0F2C41D0}"/>
              </a:ext>
            </a:extLst>
          </p:cNvPr>
          <p:cNvPicPr>
            <a:picLocks xmlns:a="http://schemas.openxmlformats.org/drawingml/2006/main" noChangeAspect="1"/>
          </p:cNvPicPr>
          <p:nvPr/>
        </p:nvPicPr>
        <p:blipFill>
          <a:blip xmlns:r="http://schemas.openxmlformats.org/officeDocument/2006/relationships" xmlns:a="http://schemas.openxmlformats.org/drawingml/2006/main" r:embed="Rc0cd315147d04e99"/>
          <a:stretch xmlns:a="http://schemas.openxmlformats.org/drawingml/2006/main"/>
        </p:blipFill>
        <p:spPr>
          <a:xfrm xmlns:a="http://schemas.openxmlformats.org/drawingml/2006/main">
            <a:off x="12896996" y="3619500"/>
            <a:ext cx="4476457" cy="3495675"/>
          </a:xfrm>
          <a:prstGeom xmlns:a="http://schemas.openxmlformats.org/drawingml/2006/main" prst="rect">
            <a:avLst/>
          </a:prstGeom>
        </p:spPr>
      </p:pic>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2026-10-26T03:58:02.2410000Z</dcterms:created>
  <dcterms:modified xsi:type="dcterms:W3CDTF">2026-10-26T03:58:02.2410000Z</dcterms:modified>
</coreProperties>
</file>