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33bdf310b545e0" /><Relationship Type="http://schemas.openxmlformats.org/officeDocument/2006/relationships/extended-properties" Target="/docProps/app.xml" Id="Rd1db88efa2564345" /><Relationship Type="http://schemas.openxmlformats.org/officeDocument/2006/relationships/officeDocument" Target="/ppt/presentation.xml" Id="R3d23e1caf60c44a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7c63bfdab3944ff"/>
  </p:sldMasterIdLst>
  <p:notesMasterIdLst>
    <p:notesMasterId xmlns:r="http://schemas.openxmlformats.org/officeDocument/2006/relationships" r:id="Re93c9368c020424f"/>
  </p:notesMasterIdLst>
  <p:sldIdLst>
    <p:sldId xmlns:r="http://schemas.openxmlformats.org/officeDocument/2006/relationships" id="256" r:id="R50a4e13606d34dd5"/>
    <p:sldId xmlns:r="http://schemas.openxmlformats.org/officeDocument/2006/relationships" id="257" r:id="R211405c0f7bc44f1"/>
    <p:sldId xmlns:r="http://schemas.openxmlformats.org/officeDocument/2006/relationships" id="258" r:id="R38d0c13454e14495"/>
    <p:sldId xmlns:r="http://schemas.openxmlformats.org/officeDocument/2006/relationships" id="259" r:id="R2f43b31550e746ac"/>
    <p:sldId xmlns:r="http://schemas.openxmlformats.org/officeDocument/2006/relationships" id="260" r:id="R278fce07fe5f41a8"/>
    <p:sldId xmlns:r="http://schemas.openxmlformats.org/officeDocument/2006/relationships" id="261" r:id="Re450de3538ae4fe8"/>
    <p:sldId xmlns:r="http://schemas.openxmlformats.org/officeDocument/2006/relationships" id="262" r:id="R637fa0947ce9491a"/>
    <p:sldId xmlns:r="http://schemas.openxmlformats.org/officeDocument/2006/relationships" id="263" r:id="R10021cdc14324d14"/>
  </p:sldIdLst>
  <p:sldSz cx="18288000" cy="10287000"/>
  <p:notesSz cx="6858000" cy="9144000"/>
  <p:embeddedFontLst>
    <p:embeddedFont>
      <p:font typeface="Instrument Sans"/>
      <p:regular xmlns:r="http://schemas.openxmlformats.org/officeDocument/2006/relationships" r:id="R01955b8e4d3c428b"/>
      <p:bold xmlns:r="http://schemas.openxmlformats.org/officeDocument/2006/relationships" r:id="Rb8378dff66f34636"/>
      <p:italic xmlns:r="http://schemas.openxmlformats.org/officeDocument/2006/relationships" r:id="R3f62fd79188c4f59"/>
      <p:boldItalic xmlns:r="http://schemas.openxmlformats.org/officeDocument/2006/relationships" r:id="R8af01fe11fc246e7"/>
    </p:embeddedFont>
    <p:embeddedFont>
      <p:font typeface="Inter Tight"/>
      <p:regular xmlns:r="http://schemas.openxmlformats.org/officeDocument/2006/relationships" r:id="R04f0ad34697346fd"/>
      <p:bold xmlns:r="http://schemas.openxmlformats.org/officeDocument/2006/relationships" r:id="Rd758256f8a77433b"/>
      <p:italic xmlns:r="http://schemas.openxmlformats.org/officeDocument/2006/relationships" r:id="Ra79b2517d6c2415c"/>
      <p:boldItalic xmlns:r="http://schemas.openxmlformats.org/officeDocument/2006/relationships" r:id="Raa04d6bf50144b01"/>
    </p:embeddedFont>
    <p:embeddedFont>
      <p:font typeface="JetBrains Mono"/>
      <p:regular xmlns:r="http://schemas.openxmlformats.org/officeDocument/2006/relationships" r:id="Rd571e57a1ba044cd"/>
      <p:bold xmlns:r="http://schemas.openxmlformats.org/officeDocument/2006/relationships" r:id="Rdbd533feeb3d4d74"/>
      <p:italic xmlns:r="http://schemas.openxmlformats.org/officeDocument/2006/relationships" r:id="R1270d0369b574316"/>
      <p:boldItalic xmlns:r="http://schemas.openxmlformats.org/officeDocument/2006/relationships" r:id="Rb6a028dfcb214fc7"/>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47ba3952bcf04b71" /><Relationship Type="http://schemas.openxmlformats.org/officeDocument/2006/relationships/slideMaster" Target="/ppt/slideMasters/slideMaster1.xml" Id="Ra7c63bfdab3944ff" /><Relationship Type="http://schemas.openxmlformats.org/officeDocument/2006/relationships/notesMaster" Target="/ppt/notesMasters/notesMaster1.xml" Id="Re93c9368c020424f" /><Relationship Type="http://schemas.openxmlformats.org/officeDocument/2006/relationships/presProps" Target="/ppt/presProps.xml" Id="Rb3ea877c5c3948ac" /><Relationship Type="http://schemas.openxmlformats.org/officeDocument/2006/relationships/viewProps" Target="/ppt/viewProps.xml" Id="Ref1ee658baf44db6" /><Relationship Type="http://schemas.openxmlformats.org/officeDocument/2006/relationships/tableStyles" Target="/ppt/tableStyles.xml" Id="R5b603c21b85c4555" /><Relationship Type="http://schemas.openxmlformats.org/officeDocument/2006/relationships/font" Target="/ppt/fonts/font.dat" Id="R01955b8e4d3c428b" /><Relationship Type="http://schemas.openxmlformats.org/officeDocument/2006/relationships/font" Target="/ppt/fonts/font2.dat" Id="Rb8378dff66f34636" /><Relationship Type="http://schemas.openxmlformats.org/officeDocument/2006/relationships/font" Target="/ppt/fonts/font3.dat" Id="R3f62fd79188c4f59" /><Relationship Type="http://schemas.openxmlformats.org/officeDocument/2006/relationships/font" Target="/ppt/fonts/font4.dat" Id="R8af01fe11fc246e7" /><Relationship Type="http://schemas.openxmlformats.org/officeDocument/2006/relationships/font" Target="/ppt/fonts/font5.dat" Id="R04f0ad34697346fd" /><Relationship Type="http://schemas.openxmlformats.org/officeDocument/2006/relationships/font" Target="/ppt/fonts/font6.dat" Id="Rd758256f8a77433b" /><Relationship Type="http://schemas.openxmlformats.org/officeDocument/2006/relationships/font" Target="/ppt/fonts/font7.dat" Id="Ra79b2517d6c2415c" /><Relationship Type="http://schemas.openxmlformats.org/officeDocument/2006/relationships/font" Target="/ppt/fonts/font8.dat" Id="Raa04d6bf50144b01" /><Relationship Type="http://schemas.openxmlformats.org/officeDocument/2006/relationships/font" Target="/ppt/fonts/font9.dat" Id="Rd571e57a1ba044cd" /><Relationship Type="http://schemas.openxmlformats.org/officeDocument/2006/relationships/font" Target="/ppt/fonts/font10.dat" Id="Rdbd533feeb3d4d74" /><Relationship Type="http://schemas.openxmlformats.org/officeDocument/2006/relationships/font" Target="/ppt/fonts/font11.dat" Id="R1270d0369b574316" /><Relationship Type="http://schemas.openxmlformats.org/officeDocument/2006/relationships/font" Target="/ppt/fonts/font12.dat" Id="Rb6a028dfcb214fc7" /><Relationship Type="http://schemas.openxmlformats.org/officeDocument/2006/relationships/slide" Target="/ppt/slides/slide1.xml" Id="R50a4e13606d34dd5" /><Relationship Type="http://schemas.openxmlformats.org/officeDocument/2006/relationships/slide" Target="/ppt/slides/slide2.xml" Id="R211405c0f7bc44f1" /><Relationship Type="http://schemas.openxmlformats.org/officeDocument/2006/relationships/slide" Target="/ppt/slides/slide3.xml" Id="R38d0c13454e14495" /><Relationship Type="http://schemas.openxmlformats.org/officeDocument/2006/relationships/slide" Target="/ppt/slides/slide4.xml" Id="R2f43b31550e746ac" /><Relationship Type="http://schemas.openxmlformats.org/officeDocument/2006/relationships/slide" Target="/ppt/slides/slide5.xml" Id="R278fce07fe5f41a8" /><Relationship Type="http://schemas.openxmlformats.org/officeDocument/2006/relationships/slide" Target="/ppt/slides/slide6.xml" Id="Re450de3538ae4fe8" /><Relationship Type="http://schemas.openxmlformats.org/officeDocument/2006/relationships/slide" Target="/ppt/slides/slide7.xml" Id="R637fa0947ce9491a" /><Relationship Type="http://schemas.openxmlformats.org/officeDocument/2006/relationships/slide" Target="/ppt/slides/slide8.xml" Id="R10021cdc14324d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9b14ec667f44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e50a2b13cd41ac" /><Relationship Type="http://schemas.openxmlformats.org/officeDocument/2006/relationships/notesMaster" Target="/ppt/notesMasters/notesMaster1.xml" Id="Rc30a1a4c9d944d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0c3fbc2e5e4698" /><Relationship Type="http://schemas.openxmlformats.org/officeDocument/2006/relationships/notesMaster" Target="/ppt/notesMasters/notesMaster1.xml" Id="R6ff1047fff7f4a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c3dcd635ed4d22" /><Relationship Type="http://schemas.openxmlformats.org/officeDocument/2006/relationships/notesMaster" Target="/ppt/notesMasters/notesMaster1.xml" Id="Rd0000049b03441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9ea08e96f54b9d" /><Relationship Type="http://schemas.openxmlformats.org/officeDocument/2006/relationships/notesMaster" Target="/ppt/notesMasters/notesMaster1.xml" Id="R3c080d55a6d348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75996c4d884a1f" /><Relationship Type="http://schemas.openxmlformats.org/officeDocument/2006/relationships/notesMaster" Target="/ppt/notesMasters/notesMaster1.xml" Id="Reefd4ea3eeda45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aeb0ae12c74476" /><Relationship Type="http://schemas.openxmlformats.org/officeDocument/2006/relationships/notesMaster" Target="/ppt/notesMasters/notesMaster1.xml" Id="R8e4cec79521a40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ed6e47f3ca4a7a" /><Relationship Type="http://schemas.openxmlformats.org/officeDocument/2006/relationships/notesMaster" Target="/ppt/notesMasters/notesMaster1.xml" Id="Re65a10531cdb41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85913f4ed94cda" /><Relationship Type="http://schemas.openxmlformats.org/officeDocument/2006/relationships/notesMaster" Target="/ppt/notesMasters/notesMaster1.xml" Id="Rf1f61826eede4e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Deal Passport / EasyAI / Oleksiy Onishchenko, solo builder. Live demo: https://dealpassport.aonishchenko33.workers.dev. Repository: https://github.com/aonishchenko/dealpassport.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 pre-event Deal Passport code, designs or assets. Third-party tools and educational verifier are attributed in docs/THIRD_PARTY.md. Original work retains its root license; dependencies retain their respective licenses.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Illustration: Two anonymous participants meet on a completed yellow bridge, retaining their closed folders. Generated for this project on 26 October 2026 using the built-in image_gen tool, whose model-version identifier was not exposed. Conceptual artwork, not real customers, partners, property evidence or a real-person photograph. Asset: docs/pitch-assets/cover.png. Final prompt and provenance: docs/pitch-assets/PROMPTS.md.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product connects buyer qualification, seller marketing authority and mutual disclosure permission under one deal policy. A buyer demonstrates that an accepted issuer's credential meets the stored threshold without publishing the exact balance. Seller qualification is the approved issuer's AUTHORIZED_TO_MARKET claim for this property; it is not a legal-title guarantee. Both qualifications must be current and both consents present. The backend reads current contract state before each protected response.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implemented Testnet example uses a €750,000 threshold and a synthetic €900,000 buyer credential. Underfunded and expired credentials fail in the browser circuit. Source evidence, issuers and identities are synthetic; cryptographic verification and the policy enforcement are genuine. Observed browser proving times are demonstration observations, not production benchmarks. References and verification scope: docs/BUILD_LOG.md and README.md.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Illustration: An anonymous buyer and seller hold closed folders on opposite sides of a broken road. Generated for this project on 26 October 2026 using the built-in image_gen tool, whose model-version identifier was not exposed. Conceptual artwork, not real customers, partners, property evidence or a real-person photograph. Asset: docs/pitch-assets/solution.png. Final prompt and provenance: docs/pitch-assets/PROMPTS.md.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initial customer hypothesis is a licensed broker or off-market platform in Portugal coordinating a confidential introduction. The business problem is repeated qualification work and premature sharing of financial/property documents. The proposed pilot measures document-request count, time to qualification, conversion to a qualified introduction and willingness to pay. Establish baselines before attributing improvements to Deal Passport. No pilot, customer traction, revenue or product-market fit is claimed. €89 per month and per-verification fees are alternative pricing hypotheses selected by Oleksiy; the verification fee amount remains to validate.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Competitor offerings indicate an existing category for verification/confidential workflows, not validated demand for Deal Passport or a unique invention of property passports. See docs/COMPETITOR_CONTEXT.md for sources and claim boundaries.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Illustration: A broker faces repeated property-document checks and stacks of folders. Generated for this project on 26 October 2026 using the built-in image_gen tool, whose model-version identifier was not exposed. Conceptual artwork, not real customers, partners, property evidence or a real-person photograph. Asset: docs/pitch-assets/pmf.png. Final prompt and provenance: docs/pitch-assets/PROMPTS.md.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02 continuation. Comparison of adjacent published offers with the implemented synthetic MVP; not an exhaustive market search or worldwide novelty proof.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reviewed 25–26 October 2026: https://realopen.com/get-started — free crypto proof-of-funds letter discloses the verified balance; https://integralayer.com/ — Asset Passport enriched with data and external attestors; https://www.merkao.io/ — counterparty verification, NDAs, data rooms and vendor-reported 250+ verified professionals. These signals support interest in the surrounding category; they do not validate Deal Passport demand, uniqueness, willingness to pay or revenue. See docs/COMPETITOR_CONTEXT.md.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Illustration: Three specialists bring separate expertise together around one property. Generated for this project on 26 October 2026 using the built-in image_gen tool, whose model-version identifier was not exposed. Conceptual artwork, not real customers, partners, property evidence or a real-person photograph. Asset: docs/pitch-assets/market.png. Final prompt and provenance: docs/pitch-assets/PROMPTS.md.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03. Live demo: https://dealpassport.aonishchenko33.workers.dev. React/TypeScript interface, browser snarkjs Groth16 prover, Circom circuit, Rust/Soroban BN254 contracts, Cloudflare Worker and D1. Proof generation and initial Testnet transactions can take longer on other devices or networks.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Implemented synthetic Testnet MVP: browser Groth16 proof generation; issuer-root membership, threshold, expiry, deal and recipient binding; authenticated property marketing-authority attestation; both participants’ consents; protected dossier API with fresh onchain reads; expiry, replay, forgery, withdrawal and revocation checks; session-private operation history and expired-session recovery. Browser proof times of 1.6–2.6 seconds were observed on this device, not a performance guarantee. Source evidence: docs/evidence/gate-a.json through gate-e.json, demo-feedback.json, docs/BUILD_LOG.md, worker/index.ts, worker/chain.ts and src/App.tsx. All identities, credentials and property examples are synthetic. Stellar verification is genuine. The single-party setup and educational verifier remain unaudited.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Illustration: A sealed briefcase balances against a house, illustrating financial qualification without opening the evidence. Generated for this project on 26 October 2026 using the built-in image_gen tool, whose model-version identifier was not exposed. Conceptual artwork, not real customers, partners, property evidence or a real-person photograph. Asset: docs/pitch-assets/tech.png. Final prompt and provenance: docs/pitch-assets/PROMPTS.md.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03 continuation. Planned production architecture based on Deal_Passport_HackMeridian_Build_Spec.md and docs/PRODUCTION_ARCHITECTURE.md. Oleksiy requested one technology per purpose and nested boxes for the functional sections. Selected for the architecture: Didit for identity workflows, Reclaim for verifiable financial source evidence, Predial Online for Portuguese property records, ACTA for credential infrastructure, and Rust/Arkworks compiled to WebAssembly for local Groth16/BN254 proving. These are design choices for post-MVP implementation, not claims of connected services or commercial partnerships. Reclaim source coverage must be validated against the chosen financial portal. Predial Online supplies registry evidence for a qualified reviewer; no automated seller-authority API is implied. ACTA integration must preserve the issuer-bound eligibility relation. Arkworks browser/Soroban compatibility and final licensing require verification before implementation is complete.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React is one interface block. Cloudflare Workers hosts buyer verification, seller verification and deal access with D1 metadata and encrypted documents in R2. Inner boxes identify logical responsibilities, not separate deployments. Identity alone does not establish marketing authority. Private proving executes on the user's device. Stellar Mainnet/Soroban checks credential roots, revocation, proof validity, qualification and consent. The API reads current policy before document disclosure. User wallets authorize transactions; issuer keys need managed rotation and access control. Production renewal allows a new valid proof for the same deal under a versioned replay policy.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Primary references checked 26 October 2026: https://docs.didit.me/ ; https://docs.reclaimprotocol.org/ ; https://www.predialonline.pt/PredialOnline/ ; https://acta.build/ ; https://github.com/arkworks-rs/groth16 ; https://developers.stellar.org/docs/build/apps/zk . This slide describes the intended production system. The preceding workflow slide describes the implemented Testnet product. Production integrations, security review and proving migration remain post-MVP.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03 continuation. Planned MCP extension, not implemented or connected in the current MVP. Based on Oleksiy's last two messages and responses in https://chatgpt.com/share/6adf0a0e-417c-83ed-bfbf-9ff6cafe7c49 (read 26 October 2026). Existing compatible AI clients could use a remote, per-user authenticated MCP server over Streamable HTTP with OAuth. No custom hosted LLM is required. Proposed tools include get_property_requirements, get_passport_status, request_verification and request_deal_room_access; search_properties and prepare_deal_policy can follow. The agent identifies missing evidence and sends users into secure collection/issuer verification flows; raw bank documents, witness secrets and signing keys are not returned to the model. User approval, role checks, reauthorization and current backend/contract policy remain server-enforced. Proof generation and transaction signing retain the existing user-controlled trust boundaries. MCP does not make an attestation or decide proof validity. General client compatibility and issuer integration require implementation and testing.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Technical reference: https://modelcontextprotocol.io/docs/2026-07-28/learn/architecture (MCP host/client/server roles, remote HTTP transport, tools and elicitation). No claim of live MCP support, partnership or autonomous signing is made.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EasyAI / Oleksiy Onishchenko, solo participant. Worked out the idea, designed the architecture and implemented the Testnet MVP and demo. Oleksiy performs reviews, corrections and submission. CV-supplied background: 25+ years in software, fintech/cloud systems, solo production marketplaces, former 3Commas Engineering Manager and OpenCascade R&amp;D Engineering Director. Personal contact details omitted. AI tooling: ChatGPT for planning and specification, Codex for engineering, debugging, verification and presentation/demo materials.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Post-MVP only by Oleksiy’s decision on 26 October 2026: real identity and property-authority providers, a controlled human-reviewed property pilot, and migration to non-GPL proving components. Same-deal proof renewal is a proposed policy improvement and is not implemented; the current holder/deal nullifier is consumed once, buyer access ends at the current five-minute epoch boundary, and a fresh demo deal is required after expiry. Seller authority and sessions expire within 20 minutes. No real bank, registry, Didit or Stripe integration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Illustration: A fictional solo builder develops a property product at a laptop. This is not a portrait of Oleksiy. Generated for this project on 26 October 2026 using the built-in image_gen tool, whose model-version identifier was not exposed. Conceptual artwork, not real customers, partners, property evidence or a real-person photograph. Asset: docs/pitch-assets/team.png. Final prompt and provenance: docs/pitch-assets/PROMPTS.md.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4d4500ab1d47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4e1d8e93d34c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efba8e1c1f4b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de71843d0342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2a739221d7847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85aeb47e2e455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ed6071b23ac4fa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f228849534743a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316238a72cb44b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4c91e973a26439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6cdfc4be93c4f63"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AB1C9E6-EAF3-42B7-8CE3-19126ADDA28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3BE4A12-1411-4A7B-9D53-D62A7106521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6D7184D7-D0BE-43B6-9337-03B0F6E4BFD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5151DFDD-648D-4FB3-9FAD-B750F0B5CB13}"/>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2400551B-EA0C-45E9-87AF-A2CD5117E132}"/>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4DDEBFF5-5D1B-4DAA-8B3F-B0C49C71C1C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A28D2F6D-06F0-4FB3-8B8B-B2DBB3DAB1F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86F7382E-6234-4FDC-85A5-A0F785A75B0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4">
            <a:extLst xmlns:a="http://schemas.openxmlformats.org/drawingml/2006/main">
              <a:ext uri="{FF2B5EF4-FFF2-40B4-BE49-F238E27FC236}">
                <a16:creationId xmlns:a16="http://schemas.microsoft.com/office/drawing/2014/main" id="{A755824B-8A62-4508-9243-AE27C713503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10A3277B-EB1C-4377-B3F1-9B61CEF866E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3F1A3FBA-2851-4ACE-BB59-9EAAA6AC3C5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D27003D8-9F63-4526-B6E4-220E5F1E0A8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4">
            <a:extLst xmlns:a="http://schemas.openxmlformats.org/drawingml/2006/main">
              <a:ext uri="{FF2B5EF4-FFF2-40B4-BE49-F238E27FC236}">
                <a16:creationId xmlns:a16="http://schemas.microsoft.com/office/drawing/2014/main" id="{65DB427C-41ED-40A5-BC78-0D264401DDA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E53ABB68-2D17-4E10-9E39-F02FE21A6580}"/>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Inter Tight"/>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4E33EF72-B88F-4861-A262-81F210AA71CA}"/>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31CEC96-1B02-47ED-8B19-77436B6A8A3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892742AF-E853-48ED-AF12-0F54322E251B}"/>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590268D2-B211-4BCF-A1E8-23CEDDD297B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
            <a:extLst xmlns:a="http://schemas.openxmlformats.org/drawingml/2006/main">
              <a:ext uri="{FF2B5EF4-FFF2-40B4-BE49-F238E27FC236}">
                <a16:creationId xmlns:a16="http://schemas.microsoft.com/office/drawing/2014/main" id="{44FAEA67-418F-492C-9603-E2D8CC580DB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E9A0D0D2-BA62-4DE8-945A-45F7B2B2B3F9}"/>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A3B3F910-901A-483A-B710-0622AC026BD2}"/>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6">
            <a:extLst xmlns:a="http://schemas.openxmlformats.org/drawingml/2006/main">
              <a:ext uri="{FF2B5EF4-FFF2-40B4-BE49-F238E27FC236}">
                <a16:creationId xmlns:a16="http://schemas.microsoft.com/office/drawing/2014/main" id="{10AF601B-A63E-4A0A-8B2A-4A6EF3077F4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6">
            <a:extLst xmlns:a="http://schemas.openxmlformats.org/drawingml/2006/main">
              <a:ext uri="{FF2B5EF4-FFF2-40B4-BE49-F238E27FC236}">
                <a16:creationId xmlns:a16="http://schemas.microsoft.com/office/drawing/2014/main" id="{E8F691D6-C7B8-40A9-A3BC-F94BF1E6B20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6">
            <a:extLst xmlns:a="http://schemas.openxmlformats.org/drawingml/2006/main">
              <a:ext uri="{FF2B5EF4-FFF2-40B4-BE49-F238E27FC236}">
                <a16:creationId xmlns:a16="http://schemas.microsoft.com/office/drawing/2014/main" id="{BA6F00BB-6F08-4E9A-9C05-20C0E153361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
            <a:extLst xmlns:a="http://schemas.openxmlformats.org/drawingml/2006/main">
              <a:ext uri="{FF2B5EF4-FFF2-40B4-BE49-F238E27FC236}">
                <a16:creationId xmlns:a16="http://schemas.microsoft.com/office/drawing/2014/main" id="{FFDF2C49-4F46-4D5D-ACE0-9D293FDFAA7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Inter Tight"/>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16659FC5-1390-4A5A-BDCA-6C589BBF12B3}"/>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7">
            <a:extLst xmlns:a="http://schemas.openxmlformats.org/drawingml/2006/main">
              <a:ext uri="{FF2B5EF4-FFF2-40B4-BE49-F238E27FC236}">
                <a16:creationId xmlns:a16="http://schemas.microsoft.com/office/drawing/2014/main" id="{7D2112C1-0045-4F3C-8782-587BC5140A80}"/>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7">
            <a:extLst xmlns:a="http://schemas.openxmlformats.org/drawingml/2006/main">
              <a:ext uri="{FF2B5EF4-FFF2-40B4-BE49-F238E27FC236}">
                <a16:creationId xmlns:a16="http://schemas.microsoft.com/office/drawing/2014/main" id="{546F0901-C4EC-4AE0-A744-F9D43AB8EF53}"/>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7">
            <a:extLst xmlns:a="http://schemas.openxmlformats.org/drawingml/2006/main">
              <a:ext uri="{FF2B5EF4-FFF2-40B4-BE49-F238E27FC236}">
                <a16:creationId xmlns:a16="http://schemas.microsoft.com/office/drawing/2014/main" id="{82E8F8A7-6998-40E0-9FA1-EEBF685DC2B7}"/>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94F356AF-D23E-4621-8901-1FE6D95E280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D3F7C2AD-532C-45AE-BB35-43C185884AC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7">
            <a:extLst xmlns:a="http://schemas.openxmlformats.org/drawingml/2006/main">
              <a:ext uri="{FF2B5EF4-FFF2-40B4-BE49-F238E27FC236}">
                <a16:creationId xmlns:a16="http://schemas.microsoft.com/office/drawing/2014/main" id="{EB5238F5-4DF4-4AF7-9A75-6DCB5162F34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8">
            <a:extLst xmlns:a="http://schemas.openxmlformats.org/drawingml/2006/main">
              <a:ext uri="{FF2B5EF4-FFF2-40B4-BE49-F238E27FC236}">
                <a16:creationId xmlns:a16="http://schemas.microsoft.com/office/drawing/2014/main" id="{92C28437-1D30-48C9-8BC2-9F6C501B53E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1" name="Google Shape;51;p8">
            <a:extLst xmlns:a="http://schemas.openxmlformats.org/drawingml/2006/main">
              <a:ext uri="{FF2B5EF4-FFF2-40B4-BE49-F238E27FC236}">
                <a16:creationId xmlns:a16="http://schemas.microsoft.com/office/drawing/2014/main" id="{1CE09AA8-E4E1-4827-BCA2-B2499577974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8">
            <a:extLst xmlns:a="http://schemas.openxmlformats.org/drawingml/2006/main">
              <a:ext uri="{FF2B5EF4-FFF2-40B4-BE49-F238E27FC236}">
                <a16:creationId xmlns:a16="http://schemas.microsoft.com/office/drawing/2014/main" id="{3C0147E1-BAD9-4D67-9D96-4D125C2CCE0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8">
            <a:extLst xmlns:a="http://schemas.openxmlformats.org/drawingml/2006/main">
              <a:ext uri="{FF2B5EF4-FFF2-40B4-BE49-F238E27FC236}">
                <a16:creationId xmlns:a16="http://schemas.microsoft.com/office/drawing/2014/main" id="{8759686E-060B-471D-887A-980F7BF2816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9">
            <a:extLst xmlns:a="http://schemas.openxmlformats.org/drawingml/2006/main">
              <a:ext uri="{FF2B5EF4-FFF2-40B4-BE49-F238E27FC236}">
                <a16:creationId xmlns:a16="http://schemas.microsoft.com/office/drawing/2014/main" id="{3D869978-DBA1-42BE-9A03-CE729F347436}"/>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6" name="Google Shape;56;p9">
            <a:extLst xmlns:a="http://schemas.openxmlformats.org/drawingml/2006/main">
              <a:ext uri="{FF2B5EF4-FFF2-40B4-BE49-F238E27FC236}">
                <a16:creationId xmlns:a16="http://schemas.microsoft.com/office/drawing/2014/main" id="{248C71BB-7A44-44F1-8B11-7978B99C10FB}"/>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57" name="Google Shape;57;p9">
            <a:extLst xmlns:a="http://schemas.openxmlformats.org/drawingml/2006/main">
              <a:ext uri="{FF2B5EF4-FFF2-40B4-BE49-F238E27FC236}">
                <a16:creationId xmlns:a16="http://schemas.microsoft.com/office/drawing/2014/main" id="{7F0E0C35-3790-4302-8C20-0F00ABFFB8EC}"/>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A61968C2-27B0-4746-9863-A5F5061512F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EAE280C4-94E5-4BFD-BDB0-88D0C1C9F1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73E9B84A-D175-4F68-94D5-3FAC36C4E68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0">
            <a:extLst xmlns:a="http://schemas.openxmlformats.org/drawingml/2006/main">
              <a:ext uri="{FF2B5EF4-FFF2-40B4-BE49-F238E27FC236}">
                <a16:creationId xmlns:a16="http://schemas.microsoft.com/office/drawing/2014/main" id="{A1682383-EFDD-42AC-B584-45F2E86160EE}"/>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3" name="Google Shape;63;p10">
            <a:extLst xmlns:a="http://schemas.openxmlformats.org/drawingml/2006/main">
              <a:ext uri="{FF2B5EF4-FFF2-40B4-BE49-F238E27FC236}">
                <a16:creationId xmlns:a16="http://schemas.microsoft.com/office/drawing/2014/main" id="{FD675D06-9C9C-4041-AD99-2FC4BE0BDDC2}"/>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10">
            <a:extLst xmlns:a="http://schemas.openxmlformats.org/drawingml/2006/main">
              <a:ext uri="{FF2B5EF4-FFF2-40B4-BE49-F238E27FC236}">
                <a16:creationId xmlns:a16="http://schemas.microsoft.com/office/drawing/2014/main" id="{198868C8-F80C-4F2A-B32E-82770F701F0C}"/>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B972EE1A-E05E-4DE8-AFCF-2980530B625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0">
            <a:extLst xmlns:a="http://schemas.openxmlformats.org/drawingml/2006/main">
              <a:ext uri="{FF2B5EF4-FFF2-40B4-BE49-F238E27FC236}">
                <a16:creationId xmlns:a16="http://schemas.microsoft.com/office/drawing/2014/main" id="{7339ADDE-C324-40AA-9524-F587EDCE509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DAF0CD51-6964-4FEE-BBA6-9915C34D994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1">
            <a:extLst xmlns:a="http://schemas.openxmlformats.org/drawingml/2006/main">
              <a:ext uri="{FF2B5EF4-FFF2-40B4-BE49-F238E27FC236}">
                <a16:creationId xmlns:a16="http://schemas.microsoft.com/office/drawing/2014/main" id="{A79B19EE-6CEC-41D7-B43E-D80C857993E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0" name="Google Shape;70;p11">
            <a:extLst xmlns:a="http://schemas.openxmlformats.org/drawingml/2006/main">
              <a:ext uri="{FF2B5EF4-FFF2-40B4-BE49-F238E27FC236}">
                <a16:creationId xmlns:a16="http://schemas.microsoft.com/office/drawing/2014/main" id="{513CCD56-7CC2-47A3-8187-E9CB1E42FF1A}"/>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1" name="Google Shape;71;p11">
            <a:extLst xmlns:a="http://schemas.openxmlformats.org/drawingml/2006/main">
              <a:ext uri="{FF2B5EF4-FFF2-40B4-BE49-F238E27FC236}">
                <a16:creationId xmlns:a16="http://schemas.microsoft.com/office/drawing/2014/main" id="{A55F2A13-9511-445F-B744-469C8299CFC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77489200-9E52-47F1-BA27-19F13DFD269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AAD0B73C-603F-44FD-A18A-EC190509C80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2">
            <a:extLst xmlns:a="http://schemas.openxmlformats.org/drawingml/2006/main">
              <a:ext uri="{FF2B5EF4-FFF2-40B4-BE49-F238E27FC236}">
                <a16:creationId xmlns:a16="http://schemas.microsoft.com/office/drawing/2014/main" id="{A36C35BF-28B4-47BB-9708-C5B366CE1A73}"/>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6" name="Google Shape;76;p12">
            <a:extLst xmlns:a="http://schemas.openxmlformats.org/drawingml/2006/main">
              <a:ext uri="{FF2B5EF4-FFF2-40B4-BE49-F238E27FC236}">
                <a16:creationId xmlns:a16="http://schemas.microsoft.com/office/drawing/2014/main" id="{BBFBA8B1-DE99-4F9B-9124-CDE1F850D874}"/>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7" name="Google Shape;77;p12">
            <a:extLst xmlns:a="http://schemas.openxmlformats.org/drawingml/2006/main">
              <a:ext uri="{FF2B5EF4-FFF2-40B4-BE49-F238E27FC236}">
                <a16:creationId xmlns:a16="http://schemas.microsoft.com/office/drawing/2014/main" id="{DF9A5E9D-8292-4D57-97B0-619C1FB76F77}"/>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9E34A214-067F-4BB4-B92B-D2E27733E2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6046D1C2-31BB-48D2-BA1C-2B95DDED316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4c4e004d9840f1" /><Relationship Type="http://schemas.openxmlformats.org/officeDocument/2006/relationships/slideLayout" Target="/ppt/slideLayouts/slideLayout1.xml" Id="R30b845c0e5a940cd" /><Relationship Type="http://schemas.openxmlformats.org/officeDocument/2006/relationships/slideLayout" Target="/ppt/slideLayouts/slideLayout2.xml" Id="R8a09e926b07a4f47" /><Relationship Type="http://schemas.openxmlformats.org/officeDocument/2006/relationships/slideLayout" Target="/ppt/slideLayouts/slideLayout3.xml" Id="Re9e6144f0e674898" /><Relationship Type="http://schemas.openxmlformats.org/officeDocument/2006/relationships/slideLayout" Target="/ppt/slideLayouts/slideLayout4.xml" Id="R423be3d06e844640" /><Relationship Type="http://schemas.openxmlformats.org/officeDocument/2006/relationships/slideLayout" Target="/ppt/slideLayouts/slideLayout5.xml" Id="R0ee8d69255984956" /><Relationship Type="http://schemas.openxmlformats.org/officeDocument/2006/relationships/slideLayout" Target="/ppt/slideLayouts/slideLayout6.xml" Id="R88ff98d30d584462" /><Relationship Type="http://schemas.openxmlformats.org/officeDocument/2006/relationships/slideLayout" Target="/ppt/slideLayouts/slideLayout7.xml" Id="Rf5df5035d5854081" /><Relationship Type="http://schemas.openxmlformats.org/officeDocument/2006/relationships/slideLayout" Target="/ppt/slideLayouts/slideLayout8.xml" Id="R886f964a7f2f4fe6" /><Relationship Type="http://schemas.openxmlformats.org/officeDocument/2006/relationships/slideLayout" Target="/ppt/slideLayouts/slideLayout9.xml" Id="R8a9165b7f29846c9" /><Relationship Type="http://schemas.openxmlformats.org/officeDocument/2006/relationships/slideLayout" Target="/ppt/slideLayouts/slideLayout10.xml" Id="R2b5a4bab648c40e6" /><Relationship Type="http://schemas.openxmlformats.org/officeDocument/2006/relationships/slideLayout" Target="/ppt/slideLayouts/slideLayout11.xml" Id="R3579c5a77a34421a"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2FBB3DF2-75FD-4031-AF95-1F4D6AA7AB5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Inter Tight"/>
              <a:buNone/>
              <a:defRPr sz="4400" b="0" i="0" u="none" strike="noStrike" cap="none">
                <a:solidFill>
                  <a:schemeClr val="dk1"/>
                </a:solidFill>
                <a:latin typeface="Inter Tight"/>
                <a:ea typeface="Inter Tight"/>
                <a:cs typeface="Inter Tight"/>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4A6C1532-AE6C-4B7E-87DD-0F15FC102F1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strike="noStrike" cap="none">
                <a:solidFill>
                  <a:schemeClr val="dk1"/>
                </a:solidFill>
                <a:latin typeface="Instrument Sans"/>
                <a:ea typeface="Instrument Sans"/>
                <a:cs typeface="Instrument Sans"/>
              </a:defRPr>
            </a:lvl1pPr>
            <a:lvl2pPr marL="914400" marR="0" indent="-406400" algn="l">
              <a:spcBef>
                <a:spcPts val="560"/>
              </a:spcBef>
              <a:spcAft>
                <a:spcPts val="0"/>
              </a:spcAft>
              <a:buClr>
                <a:schemeClr val="dk1"/>
              </a:buClr>
              <a:buSzPts val="2800"/>
              <a:buFont typeface="Arial"/>
              <a:buChar char="–"/>
              <a:defRPr sz="2800" b="0" i="0" u="none" strike="noStrike" cap="none">
                <a:solidFill>
                  <a:schemeClr val="dk1"/>
                </a:solidFill>
                <a:latin typeface="Instrument Sans"/>
                <a:ea typeface="Instrument Sans"/>
                <a:cs typeface="Instrument Sans"/>
              </a:defRPr>
            </a:lvl2pPr>
            <a:lvl3pPr marL="1371600" marR="0" indent="-381000" algn="l">
              <a:spcBef>
                <a:spcPts val="480"/>
              </a:spcBef>
              <a:spcAft>
                <a:spcPts val="0"/>
              </a:spcAft>
              <a:buClr>
                <a:schemeClr val="dk1"/>
              </a:buClr>
              <a:buSzPts val="2400"/>
              <a:buFont typeface="Arial"/>
              <a:buChar char="•"/>
              <a:defRPr sz="2400" b="0" i="0" u="none" strike="noStrike" cap="none">
                <a:solidFill>
                  <a:schemeClr val="dk1"/>
                </a:solidFill>
                <a:latin typeface="Instrument Sans"/>
                <a:ea typeface="Instrument Sans"/>
                <a:cs typeface="Instrument Sans"/>
              </a:defRPr>
            </a:lvl3pPr>
            <a:lvl4pPr marL="1828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4pPr>
            <a:lvl5pPr marL="22860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5pPr>
            <a:lvl6pPr marL="27432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6pPr>
            <a:lvl7pPr marL="32004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7pPr>
            <a:lvl8pPr marL="36576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8pPr>
            <a:lvl9pPr marL="4114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E7D1D4FF-49C5-4F6E-877D-F1893AAF164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9E712315-E5BA-4DFF-991E-62457AE3DE2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02168D44-6A61-4C02-B43C-7E34CF3F8EB4}"/>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strike="noStrike" cap="none">
                <a:solidFill>
                  <a:srgbClr val="888888"/>
                </a:solidFill>
                <a:latin typeface="Instrument Sans"/>
                <a:ea typeface="Instrument Sans"/>
                <a:cs typeface="Instrument Sans"/>
              </a:defRPr>
            </a:lvl1pPr>
            <a:lvl2pPr marL="0" marR="0" indent="0" algn="r">
              <a:spcBef>
                <a:spcPts val="0"/>
              </a:spcBef>
              <a:buNone/>
              <a:defRPr sz="1200" b="0" i="0" u="none" strike="noStrike" cap="none">
                <a:solidFill>
                  <a:srgbClr val="888888"/>
                </a:solidFill>
                <a:latin typeface="Instrument Sans"/>
                <a:ea typeface="Instrument Sans"/>
                <a:cs typeface="Instrument Sans"/>
              </a:defRPr>
            </a:lvl2pPr>
            <a:lvl3pPr marL="0" marR="0" indent="0" algn="r">
              <a:spcBef>
                <a:spcPts val="0"/>
              </a:spcBef>
              <a:buNone/>
              <a:defRPr sz="1200" b="0" i="0" u="none" strike="noStrike" cap="none">
                <a:solidFill>
                  <a:srgbClr val="888888"/>
                </a:solidFill>
                <a:latin typeface="Instrument Sans"/>
                <a:ea typeface="Instrument Sans"/>
                <a:cs typeface="Instrument Sans"/>
              </a:defRPr>
            </a:lvl3pPr>
            <a:lvl4pPr marL="0" marR="0" indent="0" algn="r">
              <a:spcBef>
                <a:spcPts val="0"/>
              </a:spcBef>
              <a:buNone/>
              <a:defRPr sz="1200" b="0" i="0" u="none" strike="noStrike" cap="none">
                <a:solidFill>
                  <a:srgbClr val="888888"/>
                </a:solidFill>
                <a:latin typeface="Instrument Sans"/>
                <a:ea typeface="Instrument Sans"/>
                <a:cs typeface="Instrument Sans"/>
              </a:defRPr>
            </a:lvl4pPr>
            <a:lvl5pPr marL="0" marR="0" indent="0" algn="r">
              <a:spcBef>
                <a:spcPts val="0"/>
              </a:spcBef>
              <a:buNone/>
              <a:defRPr sz="1200" b="0" i="0" u="none" strike="noStrike" cap="none">
                <a:solidFill>
                  <a:srgbClr val="888888"/>
                </a:solidFill>
                <a:latin typeface="Instrument Sans"/>
                <a:ea typeface="Instrument Sans"/>
                <a:cs typeface="Instrument Sans"/>
              </a:defRPr>
            </a:lvl5pPr>
            <a:lvl6pPr marL="0" marR="0" indent="0" algn="r">
              <a:spcBef>
                <a:spcPts val="0"/>
              </a:spcBef>
              <a:buNone/>
              <a:defRPr sz="1200" b="0" i="0" u="none" strike="noStrike" cap="none">
                <a:solidFill>
                  <a:srgbClr val="888888"/>
                </a:solidFill>
                <a:latin typeface="Instrument Sans"/>
                <a:ea typeface="Instrument Sans"/>
                <a:cs typeface="Instrument Sans"/>
              </a:defRPr>
            </a:lvl6pPr>
            <a:lvl7pPr marL="0" marR="0" indent="0" algn="r">
              <a:spcBef>
                <a:spcPts val="0"/>
              </a:spcBef>
              <a:buNone/>
              <a:defRPr sz="1200" b="0" i="0" u="none" strike="noStrike" cap="none">
                <a:solidFill>
                  <a:srgbClr val="888888"/>
                </a:solidFill>
                <a:latin typeface="Instrument Sans"/>
                <a:ea typeface="Instrument Sans"/>
                <a:cs typeface="Instrument Sans"/>
              </a:defRPr>
            </a:lvl7pPr>
            <a:lvl8pPr marL="0" marR="0" indent="0" algn="r">
              <a:spcBef>
                <a:spcPts val="0"/>
              </a:spcBef>
              <a:buNone/>
              <a:defRPr sz="1200" b="0" i="0" u="none" strike="noStrike" cap="none">
                <a:solidFill>
                  <a:srgbClr val="888888"/>
                </a:solidFill>
                <a:latin typeface="Instrument Sans"/>
                <a:ea typeface="Instrument Sans"/>
                <a:cs typeface="Instrument Sans"/>
              </a:defRPr>
            </a:lvl8pPr>
            <a:lvl9pPr marL="0" marR="0" indent="0" algn="r">
              <a:spcBef>
                <a:spcPts val="0"/>
              </a:spcBef>
              <a:buNone/>
              <a:defRPr sz="1200" b="0" i="0" u="none" strike="noStrike" cap="none">
                <a:solidFill>
                  <a:srgbClr val="888888"/>
                </a:solidFill>
                <a:latin typeface="Instrument Sans"/>
                <a:ea typeface="Instrument Sans"/>
                <a:cs typeface="Instrument Sans"/>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0b845c0e5a940cd"/>
    <p:sldLayoutId xmlns:r="http://schemas.openxmlformats.org/officeDocument/2006/relationships" id="2147483650" r:id="R8a09e926b07a4f47"/>
    <p:sldLayoutId xmlns:r="http://schemas.openxmlformats.org/officeDocument/2006/relationships" id="2147483651" r:id="Re9e6144f0e674898"/>
    <p:sldLayoutId xmlns:r="http://schemas.openxmlformats.org/officeDocument/2006/relationships" id="2147483652" r:id="R423be3d06e844640"/>
    <p:sldLayoutId xmlns:r="http://schemas.openxmlformats.org/officeDocument/2006/relationships" id="2147483653" r:id="R0ee8d69255984956"/>
    <p:sldLayoutId xmlns:r="http://schemas.openxmlformats.org/officeDocument/2006/relationships" id="2147483654" r:id="R88ff98d30d584462"/>
    <p:sldLayoutId xmlns:r="http://schemas.openxmlformats.org/officeDocument/2006/relationships" id="2147483655" r:id="Rf5df5035d5854081"/>
    <p:sldLayoutId xmlns:r="http://schemas.openxmlformats.org/officeDocument/2006/relationships" id="2147483656" r:id="R886f964a7f2f4fe6"/>
    <p:sldLayoutId xmlns:r="http://schemas.openxmlformats.org/officeDocument/2006/relationships" id="2147483657" r:id="R8a9165b7f29846c9"/>
    <p:sldLayoutId xmlns:r="http://schemas.openxmlformats.org/officeDocument/2006/relationships" id="2147483658" r:id="R2b5a4bab648c40e6"/>
    <p:sldLayoutId xmlns:r="http://schemas.openxmlformats.org/officeDocument/2006/relationships" id="2147483659" r:id="R3579c5a77a34421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8ad69c99f5435a" /><Relationship Type="http://schemas.openxmlformats.org/officeDocument/2006/relationships/image" Target="/ppt/media/image.png" Id="R98e801f5e2ec4b8f" /><Relationship Type="http://schemas.openxmlformats.org/officeDocument/2006/relationships/image" Target="/ppt/media/image2.png" Id="R8a0fd9b8733e426b" /><Relationship Type="http://schemas.openxmlformats.org/officeDocument/2006/relationships/image" Target="/ppt/media/image3.png" Id="Rda012f8e48ea4e4d" /><Relationship Type="http://schemas.openxmlformats.org/officeDocument/2006/relationships/image" Target="/ppt/media/image4.png" Id="R5c8c52bb1fef4853" /><Relationship Type="http://schemas.openxmlformats.org/officeDocument/2006/relationships/notesSlide" Target="/ppt/notesSlides/notesSlide1.xml" Id="R3d3d87b660ef4b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eb44b789754f6d" /><Relationship Type="http://schemas.openxmlformats.org/officeDocument/2006/relationships/image" Target="/ppt/media/image5.png" Id="Rfe6b6fb9ea914698" /><Relationship Type="http://schemas.openxmlformats.org/officeDocument/2006/relationships/image" Target="/ppt/media/image6.png" Id="Rea6164b303af4036" /><Relationship Type="http://schemas.openxmlformats.org/officeDocument/2006/relationships/notesSlide" Target="/ppt/notesSlides/notesSlide2.xml" Id="R47c52308f23049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40818578ea4619" /><Relationship Type="http://schemas.openxmlformats.org/officeDocument/2006/relationships/image" Target="/ppt/media/image5.png" Id="R9dd1c7aecff14e7f" /><Relationship Type="http://schemas.openxmlformats.org/officeDocument/2006/relationships/image" Target="/ppt/media/image7.png" Id="Rba43f2b69f124a02" /><Relationship Type="http://schemas.openxmlformats.org/officeDocument/2006/relationships/notesSlide" Target="/ppt/notesSlides/notesSlide3.xml" Id="Re3947845a76741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36439a98db4710" /><Relationship Type="http://schemas.openxmlformats.org/officeDocument/2006/relationships/image" Target="/ppt/media/image5.png" Id="R15fc54fee55a4b8c" /><Relationship Type="http://schemas.openxmlformats.org/officeDocument/2006/relationships/image" Target="/ppt/media/image8.png" Id="Re54d6b7441a34936" /><Relationship Type="http://schemas.openxmlformats.org/officeDocument/2006/relationships/image" Target="/ppt/media/image9.png" Id="Rf6ba660f2e8c4b29" /><Relationship Type="http://schemas.openxmlformats.org/officeDocument/2006/relationships/notesSlide" Target="/ppt/notesSlides/notesSlide4.xml" Id="R8ee95018de0842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5a1e28fba24015" /><Relationship Type="http://schemas.openxmlformats.org/officeDocument/2006/relationships/image" Target="/ppt/media/image5.png" Id="Rc65d298f94894440" /><Relationship Type="http://schemas.openxmlformats.org/officeDocument/2006/relationships/image" Target="/ppt/media/image10.png" Id="R57a80f39715e4ed9" /><Relationship Type="http://schemas.openxmlformats.org/officeDocument/2006/relationships/notesSlide" Target="/ppt/notesSlides/notesSlide5.xml" Id="R5762fef1d59d44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d62b18a91743f7" /><Relationship Type="http://schemas.openxmlformats.org/officeDocument/2006/relationships/image" Target="/ppt/media/image5.png" Id="Rb86d0b89064d4fbb" /><Relationship Type="http://schemas.openxmlformats.org/officeDocument/2006/relationships/notesSlide" Target="/ppt/notesSlides/notesSlide6.xml" Id="R0c102eca022b4b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f7afffa2f54017" /><Relationship Type="http://schemas.openxmlformats.org/officeDocument/2006/relationships/image" Target="/ppt/media/image5.png" Id="Rb20e25b569f441e1" /><Relationship Type="http://schemas.openxmlformats.org/officeDocument/2006/relationships/notesSlide" Target="/ppt/notesSlides/notesSlide7.xml" Id="R70e0fcacadca40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6c473d21e4f4868" /><Relationship Type="http://schemas.openxmlformats.org/officeDocument/2006/relationships/image" Target="/ppt/media/image5.png" Id="R6d5b2fda34be4aa4" /><Relationship Type="http://schemas.openxmlformats.org/officeDocument/2006/relationships/image" Target="/ppt/media/image11.png" Id="R3d2a6b0d93b24d80" /><Relationship Type="http://schemas.openxmlformats.org/officeDocument/2006/relationships/notesSlide" Target="/ppt/notesSlides/notesSlide8.xml" Id="R9f94f43cdc564ea7" /></Relationships>
</file>

<file path=ppt/slides/slide1.xml><?xml version="1.0" encoding="utf-8"?>
<p:sld xmlns:p="http://schemas.openxmlformats.org/presentationml/2006/main">
  <p:cSld>
    <p:bg>
      <p:bgPr>
        <a:solidFill xmlns:a="http://schemas.openxmlformats.org/drawingml/2006/main">
          <a:srgbClr val="0F0F0F"/>
        </a:solidFill>
      </p:bgPr>
    </p:bg>
    <p:spTree>
      <p:nvGrpSpPr>
        <p:cNvPr id="1" name=""/>
        <p:cNvGrpSpPr/>
        <p:nvPr/>
      </p:nvGrpSpPr>
      <p:grpSpPr>
        <a:xfrm xmlns:a="http://schemas.openxmlformats.org/drawingml/2006/main"/>
      </p:grpSpPr>
      <p:sp>
        <p:nvSpPr>
          <p:cNvPr id="84" name="Google Shape;84;p13">
            <a:extLst xmlns:a="http://schemas.openxmlformats.org/drawingml/2006/main">
              <a:ext uri="{FF2B5EF4-FFF2-40B4-BE49-F238E27FC236}">
                <a16:creationId xmlns:a16="http://schemas.microsoft.com/office/drawing/2014/main" id="{BA0C68AD-BA6A-4564-A9AE-67754B5BF92C}"/>
              </a:ext>
            </a:extLst>
          </p:cNvPr>
          <p:cNvSpPr>
            <a:spLocks xmlns:a="http://schemas.openxmlformats.org/drawingml/2006/main" noGrp="1"/>
          </p:cNvSpPr>
          <p:nvPr/>
        </p:nvSpPr>
        <p:spPr>
          <a:xfrm xmlns:a="http://schemas.openxmlformats.org/drawingml/2006/main">
            <a:off x="914400" y="777240"/>
            <a:ext cx="82296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85" name="Google Shape;85;p13">
            <a:extLst xmlns:a="http://schemas.openxmlformats.org/drawingml/2006/main">
              <a:ext uri="{FF2B5EF4-FFF2-40B4-BE49-F238E27FC236}">
                <a16:creationId xmlns:a16="http://schemas.microsoft.com/office/drawing/2014/main" id="{FE2B9670-030C-4846-8D0F-0E93521E8EED}"/>
              </a:ext>
            </a:extLst>
          </p:cNvPr>
          <p:cNvSpPr>
            <a:spLocks xmlns:a="http://schemas.openxmlformats.org/drawingml/2006/main" noGrp="1"/>
          </p:cNvSpPr>
          <p:nvPr/>
        </p:nvSpPr>
        <p:spPr>
          <a:xfrm xmlns:a="http://schemas.openxmlformats.org/drawingml/2006/main">
            <a:off x="10058400" y="777240"/>
            <a:ext cx="73152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DDA24"/>
                </a:solidFill>
                <a:latin typeface="JetBrains Mono"/>
                <a:ea typeface="JetBrains Mono"/>
                <a:cs typeface="JetBrains Mono"/>
              </a:rPr>
              <a:t>PLATFORM 01 / 08</a:t>
            </a:r>
            <a:endParaRPr/>
          </a:p>
        </p:txBody>
      </p:sp>
      <p:sp>
        <p:nvSpPr>
          <p:cNvPr id="86" name="Google Shape;86;p13">
            <a:extLst xmlns:a="http://schemas.openxmlformats.org/drawingml/2006/main">
              <a:ext uri="{FF2B5EF4-FFF2-40B4-BE49-F238E27FC236}">
                <a16:creationId xmlns:a16="http://schemas.microsoft.com/office/drawing/2014/main" id="{7BD023C7-EAB8-4CCA-B4B6-32F1B00FEB5C}"/>
              </a:ext>
            </a:extLst>
          </p:cNvPr>
          <p:cNvSpPr>
            <a:spLocks xmlns:a="http://schemas.openxmlformats.org/drawingml/2006/main" noGrp="1"/>
          </p:cNvSpPr>
          <p:nvPr/>
        </p:nvSpPr>
        <p:spPr>
          <a:xfrm xmlns:a="http://schemas.openxmlformats.org/drawingml/2006/main">
            <a:off x="914400" y="1600200"/>
            <a:ext cx="4000500" cy="475488"/>
          </a:xfrm>
          <a:prstGeom xmlns:a="http://schemas.openxmlformats.org/drawingml/2006/main" prst="roundRect">
            <a:avLst>
              <a:gd name="adj" fmla="val 50000"/>
            </a:avLst>
          </a:prstGeom>
          <a:noFill xmlns:a="http://schemas.openxmlformats.org/drawingml/2006/main"/>
          <a:ln xmlns:a="http://schemas.openxmlformats.org/drawingml/2006/main" w="19050" cap="flat" cmpd="sng">
            <a:solidFill>
              <a:srgbClr val="FDDA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FDDA24"/>
                </a:solidFill>
                <a:latin typeface="JetBrains Mono"/>
                <a:ea typeface="JetBrains Mono"/>
                <a:cs typeface="JetBrains Mono"/>
              </a:rPr>
              <a:t>GENESIS / STELLAR UNLOCKED</a:t>
            </a:r>
            <a:endParaRPr/>
          </a:p>
        </p:txBody>
      </p:sp>
      <p:sp>
        <p:nvSpPr>
          <p:cNvPr id="87" name="Google Shape;87;p13">
            <a:extLst xmlns:a="http://schemas.openxmlformats.org/drawingml/2006/main">
              <a:ext uri="{FF2B5EF4-FFF2-40B4-BE49-F238E27FC236}">
                <a16:creationId xmlns:a16="http://schemas.microsoft.com/office/drawing/2014/main" id="{0DC0EDCE-22B6-45EC-879F-0469A9C01675}"/>
              </a:ext>
            </a:extLst>
          </p:cNvPr>
          <p:cNvSpPr>
            <a:spLocks xmlns:a="http://schemas.openxmlformats.org/drawingml/2006/main" noGrp="1"/>
          </p:cNvSpPr>
          <p:nvPr/>
        </p:nvSpPr>
        <p:spPr>
          <a:xfrm xmlns:a="http://schemas.openxmlformats.org/drawingml/2006/main">
            <a:off x="914400" y="2514600"/>
            <a:ext cx="10972800" cy="35112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DEAL</a:t>
            </a:r>
            <a:endParaRPr/>
          </a:p>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PASSPORT</a:t>
            </a:r>
            <a:endParaRPr/>
          </a:p>
        </p:txBody>
      </p:sp>
      <p:sp>
        <p:nvSpPr>
          <p:cNvPr id="88" name="Google Shape;88;p13">
            <a:extLst xmlns:a="http://schemas.openxmlformats.org/drawingml/2006/main">
              <a:ext uri="{FF2B5EF4-FFF2-40B4-BE49-F238E27FC236}">
                <a16:creationId xmlns:a16="http://schemas.microsoft.com/office/drawing/2014/main" id="{D230AFE3-2D23-45DA-84BC-0E9A6DD6A67D}"/>
              </a:ext>
            </a:extLst>
          </p:cNvPr>
          <p:cNvSpPr>
            <a:spLocks xmlns:a="http://schemas.openxmlformats.org/drawingml/2006/main" noGrp="1"/>
          </p:cNvSpPr>
          <p:nvPr/>
        </p:nvSpPr>
        <p:spPr>
          <a:xfrm xmlns:a="http://schemas.openxmlformats.org/drawingml/2006/main">
            <a:off x="12435840" y="2103120"/>
            <a:ext cx="4937760" cy="2862850"/>
          </a:xfrm>
          <a:custGeom xmlns:a="http://schemas.openxmlformats.org/drawingml/2006/main">
            <a:rect l="l" t="t" r="r" b="b"/>
            <a:pathLst>
              <a:path w="4937760" h="2862850">
                <a:moveTo>
                  <a:pt x="0" y="0"/>
                </a:moveTo>
                <a:lnTo>
                  <a:pt x="0" y="1103116"/>
                </a:lnTo>
                <a:lnTo>
                  <a:pt x="2468880" y="2862850"/>
                </a:lnTo>
                <a:lnTo>
                  <a:pt x="4937760" y="1103116"/>
                </a:lnTo>
                <a:lnTo>
                  <a:pt x="4937760" y="0"/>
                </a:lnTo>
                <a:lnTo>
                  <a:pt x="2468880" y="1497086"/>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89" name="Google Shape;89;p13">
            <a:extLst xmlns:a="http://schemas.openxmlformats.org/drawingml/2006/main">
              <a:ext uri="{FF2B5EF4-FFF2-40B4-BE49-F238E27FC236}">
                <a16:creationId xmlns:a16="http://schemas.microsoft.com/office/drawing/2014/main" id="{AF36E3A8-3AC1-4502-991F-EC228CFF6A01}"/>
              </a:ext>
            </a:extLst>
          </p:cNvPr>
          <p:cNvSpPr>
            <a:spLocks xmlns:a="http://schemas.openxmlformats.org/drawingml/2006/main" noGrp="1"/>
          </p:cNvSpPr>
          <p:nvPr/>
        </p:nvSpPr>
        <p:spPr>
          <a:xfrm xmlns:a="http://schemas.openxmlformats.org/drawingml/2006/main">
            <a:off x="12435840" y="4151765"/>
            <a:ext cx="1444557" cy="1785998"/>
          </a:xfrm>
          <a:custGeom xmlns:a="http://schemas.openxmlformats.org/drawingml/2006/main">
            <a:rect l="l" t="t" r="r" b="b"/>
            <a:pathLst>
              <a:path w="1444557" h="1785998">
                <a:moveTo>
                  <a:pt x="0" y="0"/>
                </a:moveTo>
                <a:lnTo>
                  <a:pt x="0" y="1785998"/>
                </a:lnTo>
                <a:lnTo>
                  <a:pt x="1444557"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0" name="Google Shape;90;p13">
            <a:extLst xmlns:a="http://schemas.openxmlformats.org/drawingml/2006/main">
              <a:ext uri="{FF2B5EF4-FFF2-40B4-BE49-F238E27FC236}">
                <a16:creationId xmlns:a16="http://schemas.microsoft.com/office/drawing/2014/main" id="{0B1B65CD-6F4A-4726-AFF7-60FBDFBE7BBA}"/>
              </a:ext>
            </a:extLst>
          </p:cNvPr>
          <p:cNvSpPr>
            <a:spLocks xmlns:a="http://schemas.openxmlformats.org/drawingml/2006/main" noGrp="1"/>
          </p:cNvSpPr>
          <p:nvPr/>
        </p:nvSpPr>
        <p:spPr>
          <a:xfrm xmlns:a="http://schemas.openxmlformats.org/drawingml/2006/main">
            <a:off x="15929042" y="4151765"/>
            <a:ext cx="1444558" cy="1785998"/>
          </a:xfrm>
          <a:custGeom xmlns:a="http://schemas.openxmlformats.org/drawingml/2006/main">
            <a:rect l="l" t="t" r="r" b="b"/>
            <a:pathLst>
              <a:path w="1444558" h="1785998">
                <a:moveTo>
                  <a:pt x="1444558" y="0"/>
                </a:moveTo>
                <a:lnTo>
                  <a:pt x="1444558" y="1785998"/>
                </a:lnTo>
                <a:lnTo>
                  <a:pt x="0"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1" name="Google Shape;91;p13">
            <a:extLst xmlns:a="http://schemas.openxmlformats.org/drawingml/2006/main">
              <a:ext uri="{FF2B5EF4-FFF2-40B4-BE49-F238E27FC236}">
                <a16:creationId xmlns:a16="http://schemas.microsoft.com/office/drawing/2014/main" id="{41B6D316-C6C3-4E89-B2B0-A9BDCC9514C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8e801f5e2ec4b8f">
            <a:alphaModFix/>
          </a:blip>
          <a:srcRect xmlns:a="http://schemas.openxmlformats.org/drawingml/2006/main" l="0" t="0" r="0" b="0"/>
          <a:stretch xmlns:a="http://schemas.openxmlformats.org/drawingml/2006/main"/>
        </p:blipFill>
        <p:spPr>
          <a:xfrm xmlns:a="http://schemas.openxmlformats.org/drawingml/2006/main">
            <a:off x="914400" y="6812280"/>
            <a:ext cx="4721192" cy="822960"/>
          </a:xfrm>
          <a:prstGeom xmlns:a="http://schemas.openxmlformats.org/drawingml/2006/main" prst="rect">
            <a:avLst/>
          </a:prstGeom>
          <a:ln xmlns:a="http://schemas.openxmlformats.org/drawingml/2006/main">
            <a:noFill/>
          </a:ln>
        </p:spPr>
      </p:pic>
      <p:sp>
        <p:nvSpPr>
          <p:cNvPr id="92" name="Google Shape;92;p13">
            <a:extLst xmlns:a="http://schemas.openxmlformats.org/drawingml/2006/main">
              <a:ext uri="{FF2B5EF4-FFF2-40B4-BE49-F238E27FC236}">
                <a16:creationId xmlns:a16="http://schemas.microsoft.com/office/drawing/2014/main" id="{7C093E93-EA03-4939-9D2A-F00FC76376A5}"/>
              </a:ext>
            </a:extLst>
          </p:cNvPr>
          <p:cNvSpPr>
            <a:spLocks xmlns:a="http://schemas.openxmlformats.org/drawingml/2006/main" noGrp="1"/>
          </p:cNvSpPr>
          <p:nvPr/>
        </p:nvSpPr>
        <p:spPr>
          <a:xfrm xmlns:a="http://schemas.openxmlformats.org/drawingml/2006/main">
            <a:off x="5989320" y="6766560"/>
            <a:ext cx="18288" cy="914400"/>
          </a:xfrm>
          <a:prstGeom xmlns:a="http://schemas.openxmlformats.org/drawingml/2006/main" prst="rect">
            <a:avLst/>
          </a:prstGeom>
          <a:solidFill xmlns:a="http://schemas.openxmlformats.org/drawingml/2006/main">
            <a:srgbClr val="4A4A4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3" name="Google Shape;93;p13">
            <a:extLst xmlns:a="http://schemas.openxmlformats.org/drawingml/2006/main">
              <a:ext uri="{FF2B5EF4-FFF2-40B4-BE49-F238E27FC236}">
                <a16:creationId xmlns:a16="http://schemas.microsoft.com/office/drawing/2014/main" id="{B5677C19-056E-47BF-A2CE-CE31674481B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a0fd9b8733e426b">
            <a:alphaModFix/>
          </a:blip>
          <a:srcRect xmlns:a="http://schemas.openxmlformats.org/drawingml/2006/main" l="0" t="0" r="0" b="0"/>
          <a:stretch xmlns:a="http://schemas.openxmlformats.org/drawingml/2006/main"/>
        </p:blipFill>
        <p:spPr>
          <a:xfrm xmlns:a="http://schemas.openxmlformats.org/drawingml/2006/main">
            <a:off x="6355080" y="6967728"/>
            <a:ext cx="2159633" cy="512064"/>
          </a:xfrm>
          <a:prstGeom xmlns:a="http://schemas.openxmlformats.org/drawingml/2006/main" prst="rect">
            <a:avLst/>
          </a:prstGeom>
          <a:ln xmlns:a="http://schemas.openxmlformats.org/drawingml/2006/main">
            <a:noFill/>
          </a:ln>
        </p:spPr>
      </p:pic>
      <p:pic>
        <p:nvPicPr>
          <p:cNvPr id="94" name="Google Shape;94;p13">
            <a:extLst xmlns:a="http://schemas.openxmlformats.org/drawingml/2006/main">
              <a:ext uri="{FF2B5EF4-FFF2-40B4-BE49-F238E27FC236}">
                <a16:creationId xmlns:a16="http://schemas.microsoft.com/office/drawing/2014/main" id="{43C58BC6-8541-4D14-9159-0306196445B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a012f8e48ea4e4d">
            <a:alphaModFix/>
          </a:blip>
          <a:srcRect xmlns:a="http://schemas.openxmlformats.org/drawingml/2006/main" l="0" t="0" r="0" b="0"/>
          <a:stretch xmlns:a="http://schemas.openxmlformats.org/drawingml/2006/main"/>
        </p:blipFill>
        <p:spPr>
          <a:xfrm xmlns:a="http://schemas.openxmlformats.org/drawingml/2006/main">
            <a:off x="8823960" y="6903720"/>
            <a:ext cx="2483581" cy="621792"/>
          </a:xfrm>
          <a:prstGeom xmlns:a="http://schemas.openxmlformats.org/drawingml/2006/main" prst="rect">
            <a:avLst/>
          </a:prstGeom>
          <a:ln xmlns:a="http://schemas.openxmlformats.org/drawingml/2006/main">
            <a:noFill/>
          </a:ln>
        </p:spPr>
      </p:pic>
      <p:sp>
        <p:nvSpPr>
          <p:cNvPr id="95" name="Google Shape;95;p13">
            <a:extLst xmlns:a="http://schemas.openxmlformats.org/drawingml/2006/main">
              <a:ext uri="{FF2B5EF4-FFF2-40B4-BE49-F238E27FC236}">
                <a16:creationId xmlns:a16="http://schemas.microsoft.com/office/drawing/2014/main" id="{9328E81F-E823-4542-BA00-9CB6A770699B}"/>
              </a:ext>
            </a:extLst>
          </p:cNvPr>
          <p:cNvSpPr>
            <a:spLocks xmlns:a="http://schemas.openxmlformats.org/drawingml/2006/main" noGrp="1"/>
          </p:cNvSpPr>
          <p:nvPr/>
        </p:nvSpPr>
        <p:spPr>
          <a:xfrm xmlns:a="http://schemas.openxmlformats.org/drawingml/2006/main" rot="5400000">
            <a:off x="14904720" y="6858000"/>
            <a:ext cx="731520" cy="7315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6" name="Google Shape;96;p13">
            <a:extLst xmlns:a="http://schemas.openxmlformats.org/drawingml/2006/main">
              <a:ext uri="{FF2B5EF4-FFF2-40B4-BE49-F238E27FC236}">
                <a16:creationId xmlns:a16="http://schemas.microsoft.com/office/drawing/2014/main" id="{492169ED-42C5-492D-A1C1-0CA2BF1FEB1C}"/>
              </a:ext>
            </a:extLst>
          </p:cNvPr>
          <p:cNvSpPr>
            <a:spLocks xmlns:a="http://schemas.openxmlformats.org/drawingml/2006/main" noGrp="1"/>
          </p:cNvSpPr>
          <p:nvPr/>
        </p:nvSpPr>
        <p:spPr>
          <a:xfrm xmlns:a="http://schemas.openxmlformats.org/drawingml/2006/main" rot="5400000">
            <a:off x="15599664" y="6858000"/>
            <a:ext cx="731520" cy="7315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7" name="Google Shape;97;p13">
            <a:extLst xmlns:a="http://schemas.openxmlformats.org/drawingml/2006/main">
              <a:ext uri="{FF2B5EF4-FFF2-40B4-BE49-F238E27FC236}">
                <a16:creationId xmlns:a16="http://schemas.microsoft.com/office/drawing/2014/main" id="{D89C7A8F-4101-49FC-B703-320ABA673AB0}"/>
              </a:ext>
            </a:extLst>
          </p:cNvPr>
          <p:cNvSpPr>
            <a:spLocks xmlns:a="http://schemas.openxmlformats.org/drawingml/2006/main" noGrp="1"/>
          </p:cNvSpPr>
          <p:nvPr/>
        </p:nvSpPr>
        <p:spPr>
          <a:xfrm xmlns:a="http://schemas.openxmlformats.org/drawingml/2006/main" rot="5400000">
            <a:off x="16294608" y="6858000"/>
            <a:ext cx="731520" cy="7315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8" name="Google Shape;98;p13">
            <a:extLst xmlns:a="http://schemas.openxmlformats.org/drawingml/2006/main">
              <a:ext uri="{FF2B5EF4-FFF2-40B4-BE49-F238E27FC236}">
                <a16:creationId xmlns:a16="http://schemas.microsoft.com/office/drawing/2014/main" id="{F25DF466-91DB-4704-A4DF-1EDE292B1B74}"/>
              </a:ext>
            </a:extLst>
          </p:cNvPr>
          <p:cNvSpPr>
            <a:spLocks xmlns:a="http://schemas.openxmlformats.org/drawingml/2006/main" noGrp="1"/>
          </p:cNvSpPr>
          <p:nvPr/>
        </p:nvSpPr>
        <p:spPr>
          <a:xfrm xmlns:a="http://schemas.openxmlformats.org/drawingml/2006/main">
            <a:off x="914400" y="8641080"/>
            <a:ext cx="16459200" cy="13716"/>
          </a:xfrm>
          <a:prstGeom xmlns:a="http://schemas.openxmlformats.org/drawingml/2006/main" prst="rect">
            <a:avLst/>
          </a:prstGeom>
          <a:solidFill xmlns:a="http://schemas.openxmlformats.org/drawingml/2006/main">
            <a:srgbClr val="3A3A3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9" name="Google Shape;99;p13">
            <a:extLst xmlns:a="http://schemas.openxmlformats.org/drawingml/2006/main">
              <a:ext uri="{FF2B5EF4-FFF2-40B4-BE49-F238E27FC236}">
                <a16:creationId xmlns:a16="http://schemas.microsoft.com/office/drawing/2014/main" id="{5CD7E1A6-0837-4560-965E-4D18CC5F5032}"/>
              </a:ext>
            </a:extLst>
          </p:cNvPr>
          <p:cNvSpPr>
            <a:spLocks xmlns:a="http://schemas.openxmlformats.org/drawingml/2006/main" noGrp="1"/>
          </p:cNvSpPr>
          <p:nvPr/>
        </p:nvSpPr>
        <p:spPr>
          <a:xfrm xmlns:a="http://schemas.openxmlformats.org/drawingml/2006/main">
            <a:off x="914400" y="8961120"/>
            <a:ext cx="457200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600" b="1" i="0" u="none" strike="noStrike" cap="none">
                <a:solidFill>
                  <a:srgbClr val="FFFFFF"/>
                </a:solidFill>
                <a:latin typeface="JetBrains Mono"/>
                <a:ea typeface="JetBrains Mono"/>
                <a:cs typeface="JetBrains Mono"/>
              </a:rPr>
              <a:t>TESTNET MVP / 26 OCT 2026</a:t>
            </a:r>
            <a:endParaRPr/>
          </a:p>
        </p:txBody>
      </p:sp>
      <p:sp>
        <p:nvSpPr>
          <p:cNvPr id="100" name="Google Shape;100;p13">
            <a:extLst xmlns:a="http://schemas.openxmlformats.org/drawingml/2006/main">
              <a:ext uri="{FF2B5EF4-FFF2-40B4-BE49-F238E27FC236}">
                <a16:creationId xmlns:a16="http://schemas.microsoft.com/office/drawing/2014/main" id="{A15B962B-8ADF-4E7F-8174-2E0E6A232D76}"/>
              </a:ext>
            </a:extLst>
          </p:cNvPr>
          <p:cNvSpPr>
            <a:spLocks xmlns:a="http://schemas.openxmlformats.org/drawingml/2006/main" noGrp="1"/>
          </p:cNvSpPr>
          <p:nvPr/>
        </p:nvSpPr>
        <p:spPr>
          <a:xfrm xmlns:a="http://schemas.openxmlformats.org/drawingml/2006/main">
            <a:off x="64008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DDA24"/>
                </a:solidFill>
                <a:latin typeface="JetBrains Mono"/>
                <a:ea typeface="JetBrains Mono"/>
                <a:cs typeface="JetBrains Mono"/>
              </a:rPr>
              <a:t>#HackMeridian26</a:t>
            </a:r>
            <a:endParaRPr/>
          </a:p>
        </p:txBody>
      </p:sp>
      <p:sp>
        <p:nvSpPr>
          <p:cNvPr id="101" name="Google Shape;101;p13">
            <a:extLst xmlns:a="http://schemas.openxmlformats.org/drawingml/2006/main">
              <a:ext uri="{FF2B5EF4-FFF2-40B4-BE49-F238E27FC236}">
                <a16:creationId xmlns:a16="http://schemas.microsoft.com/office/drawing/2014/main" id="{30B39000-4DD0-4DA3-B6BC-A2AD6F609BFA}"/>
              </a:ext>
            </a:extLst>
          </p:cNvPr>
          <p:cNvSpPr>
            <a:spLocks xmlns:a="http://schemas.openxmlformats.org/drawingml/2006/main" noGrp="1"/>
          </p:cNvSpPr>
          <p:nvPr/>
        </p:nvSpPr>
        <p:spPr>
          <a:xfrm xmlns:a="http://schemas.openxmlformats.org/drawingml/2006/main">
            <a:off x="118872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0" i="0" u="none" strike="noStrike" cap="none">
                <a:solidFill>
                  <a:srgbClr val="A7A7A7"/>
                </a:solidFill>
                <a:latin typeface="JetBrains Mono"/>
                <a:ea typeface="JetBrains Mono"/>
                <a:cs typeface="JetBrains Mono"/>
              </a:rPr>
              <a:t>© 2026 HackMeridian · Lisbon</a:t>
            </a:r>
            <a:endParaRPr/>
          </a:p>
        </p:txBody>
      </p:sp>
      <p:sp>
        <p:nvSpPr>
          <p:cNvPr id="102" name="Private real estate. Verified qualificat">
            <a:extLst xmlns:a="http://schemas.openxmlformats.org/drawingml/2006/main">
              <a:ext uri="{FF2B5EF4-FFF2-40B4-BE49-F238E27FC236}">
                <a16:creationId xmlns:a16="http://schemas.microsoft.com/office/drawing/2014/main" id="{9E0F2680-4F6B-4EA7-A43D-7E4AD2224127}"/>
              </a:ext>
            </a:extLst>
          </p:cNvPr>
          <p:cNvSpPr>
            <a:spLocks xmlns:a="http://schemas.openxmlformats.org/drawingml/2006/main" noGrp="1"/>
          </p:cNvSpPr>
          <p:nvPr/>
        </p:nvSpPr>
        <p:spPr>
          <a:xfrm xmlns:a="http://schemas.openxmlformats.org/drawingml/2006/main">
            <a:off x="914400" y="6191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00">
                <a:solidFill>
                  <a:srgbClr val="FFFFFF"/>
                </a:solidFill>
                <a:latin typeface="Instrument Sans"/>
                <a:ea typeface="Instrument Sans"/>
                <a:cs typeface="Instrument Sans"/>
              </a:defRPr>
            </a:defPPr>
            <a:lvl1pPr>
              <a:buNone/>
              <a:defRPr sz="2800">
                <a:solidFill>
                  <a:srgbClr val="FFFFFF"/>
                </a:solidFill>
                <a:latin typeface="Instrument Sans"/>
                <a:ea typeface="Instrument Sans"/>
                <a:cs typeface="Instrument Sans"/>
              </a:defRPr>
            </a:lvl1pPr>
            <a:lvl2pPr>
              <a:buNone/>
              <a:defRPr sz="2800">
                <a:solidFill>
                  <a:srgbClr val="FFFFFF"/>
                </a:solidFill>
                <a:latin typeface="Instrument Sans"/>
                <a:ea typeface="Instrument Sans"/>
                <a:cs typeface="Instrument Sans"/>
              </a:defRPr>
            </a:lvl2pPr>
            <a:lvl3pPr>
              <a:buNone/>
              <a:defRPr sz="2800">
                <a:solidFill>
                  <a:srgbClr val="FFFFFF"/>
                </a:solidFill>
                <a:latin typeface="Instrument Sans"/>
                <a:ea typeface="Instrument Sans"/>
                <a:cs typeface="Instrument Sans"/>
              </a:defRPr>
            </a:lvl3pPr>
            <a:lvl4pPr>
              <a:buNone/>
              <a:defRPr sz="2800">
                <a:solidFill>
                  <a:srgbClr val="FFFFFF"/>
                </a:solidFill>
                <a:latin typeface="Instrument Sans"/>
                <a:ea typeface="Instrument Sans"/>
                <a:cs typeface="Instrument Sans"/>
              </a:defRPr>
            </a:lvl4pPr>
            <a:lvl5pPr>
              <a:buNone/>
              <a:defRPr sz="2800">
                <a:solidFill>
                  <a:srgbClr val="FFFFFF"/>
                </a:solidFill>
                <a:latin typeface="Instrument Sans"/>
                <a:ea typeface="Instrument Sans"/>
                <a:cs typeface="Instrument Sans"/>
              </a:defRPr>
            </a:lvl5pPr>
            <a:lvl6pPr>
              <a:buNone/>
              <a:defRPr sz="2800">
                <a:solidFill>
                  <a:srgbClr val="FFFFFF"/>
                </a:solidFill>
                <a:latin typeface="Instrument Sans"/>
                <a:ea typeface="Instrument Sans"/>
                <a:cs typeface="Instrument Sans"/>
              </a:defRPr>
            </a:lvl6pPr>
            <a:lvl7pPr>
              <a:buNone/>
              <a:defRPr sz="2800">
                <a:solidFill>
                  <a:srgbClr val="FFFFFF"/>
                </a:solidFill>
                <a:latin typeface="Instrument Sans"/>
                <a:ea typeface="Instrument Sans"/>
                <a:cs typeface="Instrument Sans"/>
              </a:defRPr>
            </a:lvl7pPr>
            <a:lvl8pPr>
              <a:buNone/>
              <a:defRPr sz="2800">
                <a:solidFill>
                  <a:srgbClr val="FFFFFF"/>
                </a:solidFill>
                <a:latin typeface="Instrument Sans"/>
                <a:ea typeface="Instrument Sans"/>
                <a:cs typeface="Instrument Sans"/>
              </a:defRPr>
            </a:lvl8pPr>
            <a:lvl9pPr>
              <a:buNone/>
              <a:defRPr sz="2800">
                <a:solidFill>
                  <a:srgbClr val="FFFFFF"/>
                </a:solidFill>
                <a:latin typeface="Instrument Sans"/>
                <a:ea typeface="Instrument Sans"/>
                <a:cs typeface="Instrument Sans"/>
              </a:defRPr>
            </a:lvl9pPr>
          </a:lstStyle>
          <a:p xmlns:a="http://schemas.openxmlformats.org/drawingml/2006/main">
            <a:pPr>
              <a:buNone/>
              <a:defRPr sz="2800">
                <a:solidFill>
                  <a:srgbClr val="FFFFFF"/>
                </a:solidFill>
                <a:latin typeface="Instrument Sans"/>
                <a:ea typeface="Instrument Sans"/>
                <a:cs typeface="Instrument Sans"/>
              </a:defRPr>
            </a:pPr>
            <a:r>
              <a:rPr sz="2800">
                <a:solidFill>
                  <a:srgbClr val="FFFFFF"/>
                </a:solidFill>
                <a:latin typeface="Instrument Sans"/>
                <a:ea typeface="Instrument Sans"/>
                <a:cs typeface="Instrument Sans"/>
              </a:rPr>
              <a:t>Private qualification. Mutual consent. Real Testnet.</a:t>
            </a:r>
          </a:p>
        </p:txBody>
      </p:sp>
      <p:sp>
        <p:nvSpPr>
          <p:cNvPr id="103" name="EasyAI / Oleksiy Onishchenko / Solo buil">
            <a:extLst xmlns:a="http://schemas.openxmlformats.org/drawingml/2006/main">
              <a:ext uri="{FF2B5EF4-FFF2-40B4-BE49-F238E27FC236}">
                <a16:creationId xmlns:a16="http://schemas.microsoft.com/office/drawing/2014/main" id="{C935F9A8-2B94-4611-AA48-C70F83C986D2}"/>
              </a:ext>
            </a:extLst>
          </p:cNvPr>
          <p:cNvSpPr>
            <a:spLocks xmlns:a="http://schemas.openxmlformats.org/drawingml/2006/main" noGrp="1"/>
          </p:cNvSpPr>
          <p:nvPr/>
        </p:nvSpPr>
        <p:spPr>
          <a:xfrm xmlns:a="http://schemas.openxmlformats.org/drawingml/2006/main">
            <a:off x="914400" y="79629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00">
                <a:solidFill>
                  <a:srgbClr val="FDDA24"/>
                </a:solidFill>
                <a:latin typeface="Instrument Sans"/>
                <a:ea typeface="Instrument Sans"/>
                <a:cs typeface="Instrument Sans"/>
              </a:defRPr>
            </a:defPPr>
            <a:lvl1pPr>
              <a:buNone/>
              <a:defRPr sz="1900">
                <a:solidFill>
                  <a:srgbClr val="FDDA24"/>
                </a:solidFill>
                <a:latin typeface="Instrument Sans"/>
                <a:ea typeface="Instrument Sans"/>
                <a:cs typeface="Instrument Sans"/>
              </a:defRPr>
            </a:lvl1pPr>
            <a:lvl2pPr>
              <a:buNone/>
              <a:defRPr sz="1900">
                <a:solidFill>
                  <a:srgbClr val="FDDA24"/>
                </a:solidFill>
                <a:latin typeface="Instrument Sans"/>
                <a:ea typeface="Instrument Sans"/>
                <a:cs typeface="Instrument Sans"/>
              </a:defRPr>
            </a:lvl2pPr>
            <a:lvl3pPr>
              <a:buNone/>
              <a:defRPr sz="1900">
                <a:solidFill>
                  <a:srgbClr val="FDDA24"/>
                </a:solidFill>
                <a:latin typeface="Instrument Sans"/>
                <a:ea typeface="Instrument Sans"/>
                <a:cs typeface="Instrument Sans"/>
              </a:defRPr>
            </a:lvl3pPr>
            <a:lvl4pPr>
              <a:buNone/>
              <a:defRPr sz="1900">
                <a:solidFill>
                  <a:srgbClr val="FDDA24"/>
                </a:solidFill>
                <a:latin typeface="Instrument Sans"/>
                <a:ea typeface="Instrument Sans"/>
                <a:cs typeface="Instrument Sans"/>
              </a:defRPr>
            </a:lvl4pPr>
            <a:lvl5pPr>
              <a:buNone/>
              <a:defRPr sz="1900">
                <a:solidFill>
                  <a:srgbClr val="FDDA24"/>
                </a:solidFill>
                <a:latin typeface="Instrument Sans"/>
                <a:ea typeface="Instrument Sans"/>
                <a:cs typeface="Instrument Sans"/>
              </a:defRPr>
            </a:lvl5pPr>
            <a:lvl6pPr>
              <a:buNone/>
              <a:defRPr sz="1900">
                <a:solidFill>
                  <a:srgbClr val="FDDA24"/>
                </a:solidFill>
                <a:latin typeface="Instrument Sans"/>
                <a:ea typeface="Instrument Sans"/>
                <a:cs typeface="Instrument Sans"/>
              </a:defRPr>
            </a:lvl6pPr>
            <a:lvl7pPr>
              <a:buNone/>
              <a:defRPr sz="1900">
                <a:solidFill>
                  <a:srgbClr val="FDDA24"/>
                </a:solidFill>
                <a:latin typeface="Instrument Sans"/>
                <a:ea typeface="Instrument Sans"/>
                <a:cs typeface="Instrument Sans"/>
              </a:defRPr>
            </a:lvl7pPr>
            <a:lvl8pPr>
              <a:buNone/>
              <a:defRPr sz="1900">
                <a:solidFill>
                  <a:srgbClr val="FDDA24"/>
                </a:solidFill>
                <a:latin typeface="Instrument Sans"/>
                <a:ea typeface="Instrument Sans"/>
                <a:cs typeface="Instrument Sans"/>
              </a:defRPr>
            </a:lvl8pPr>
            <a:lvl9pPr>
              <a:buNone/>
              <a:defRPr sz="1900">
                <a:solidFill>
                  <a:srgbClr val="FDDA24"/>
                </a:solidFill>
                <a:latin typeface="Instrument Sans"/>
                <a:ea typeface="Instrument Sans"/>
                <a:cs typeface="Instrument Sans"/>
              </a:defRPr>
            </a:lvl9pPr>
          </a:lstStyle>
          <a:p xmlns:a="http://schemas.openxmlformats.org/drawingml/2006/main">
            <a:pPr>
              <a:buNone/>
              <a:defRPr sz="1900">
                <a:solidFill>
                  <a:srgbClr val="FDDA24"/>
                </a:solidFill>
                <a:latin typeface="Instrument Sans"/>
                <a:ea typeface="Instrument Sans"/>
                <a:cs typeface="Instrument Sans"/>
              </a:defRPr>
            </a:pPr>
            <a:r>
              <a:rPr sz="1900">
                <a:solidFill>
                  <a:srgbClr val="FDDA24"/>
                </a:solidFill>
                <a:latin typeface="Instrument Sans"/>
                <a:ea typeface="Instrument Sans"/>
                <a:cs typeface="Instrument Sans"/>
              </a:rPr>
              <a:t>EasyAI / Oleksiy Onishchenko / Solo builder</a:t>
            </a:r>
          </a:p>
        </p:txBody>
      </p:sp>
      <p:pic>
        <p:nvPicPr>
          <p:cNvPr id="104" name="">
            <a:extLst xmlns:a="http://schemas.openxmlformats.org/drawingml/2006/main">
              <a:ext uri="{FF2B5EF4-FFF2-40B4-BE49-F238E27FC236}">
                <a16:creationId xmlns:a16="http://schemas.microsoft.com/office/drawing/2014/main" id="{68FC5410-9236-4B69-A5EE-8653E7006825}"/>
              </a:ext>
            </a:extLst>
          </p:cNvPr>
          <p:cNvPicPr>
            <a:picLocks xmlns:a="http://schemas.openxmlformats.org/drawingml/2006/main" noChangeAspect="1"/>
          </p:cNvPicPr>
          <p:nvPr/>
        </p:nvPicPr>
        <p:blipFill>
          <a:blip xmlns:r="http://schemas.openxmlformats.org/officeDocument/2006/relationships" xmlns:a="http://schemas.openxmlformats.org/drawingml/2006/main" r:embed="R5c8c52bb1fef4853"/>
          <a:srcRect xmlns:a="http://schemas.openxmlformats.org/drawingml/2006/main" l="0" t="0" r="0" b="0"/>
          <a:stretch xmlns:a="http://schemas.openxmlformats.org/drawingml/2006/main"/>
        </p:blipFill>
        <p:spPr>
          <a:xfrm xmlns:a="http://schemas.openxmlformats.org/drawingml/2006/main">
            <a:off x="11906250" y="1571625"/>
            <a:ext cx="5619750" cy="5334000"/>
          </a:xfrm>
          <a:prstGeom xmlns:a="http://schemas.openxmlformats.org/drawingml/2006/main" prst="rect">
            <a:avLst/>
          </a:prstGeom>
        </p:spPr>
      </p:pic>
    </p:spTree>
    <p:extLst>
      <p:ext uri="{BB962C8B-B14F-4D97-AF65-F5344CB8AC3E}">
        <p14:creationId xmlns:p14="http://schemas.microsoft.com/office/powerpoint/2010/main" val="2011376075"/>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6" name="Google Shape;106;p14">
            <a:extLst xmlns:a="http://schemas.openxmlformats.org/drawingml/2006/main">
              <a:ext uri="{FF2B5EF4-FFF2-40B4-BE49-F238E27FC236}">
                <a16:creationId xmlns:a16="http://schemas.microsoft.com/office/drawing/2014/main" id="{70E11B06-8417-427C-A23D-803C60D38FC9}"/>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07" name="Google Shape;107;p14">
            <a:extLst xmlns:a="http://schemas.openxmlformats.org/drawingml/2006/main">
              <a:ext uri="{FF2B5EF4-FFF2-40B4-BE49-F238E27FC236}">
                <a16:creationId xmlns:a16="http://schemas.microsoft.com/office/drawing/2014/main" id="{746CBDD3-DF20-44FE-9C23-82AC6858FB5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02 / 08</a:t>
            </a:r>
            <a:endParaRPr/>
          </a:p>
        </p:txBody>
      </p:sp>
      <p:sp>
        <p:nvSpPr>
          <p:cNvPr id="108" name="Google Shape;108;p14">
            <a:extLst xmlns:a="http://schemas.openxmlformats.org/drawingml/2006/main">
              <a:ext uri="{FF2B5EF4-FFF2-40B4-BE49-F238E27FC236}">
                <a16:creationId xmlns:a16="http://schemas.microsoft.com/office/drawing/2014/main" id="{7681E986-32BF-4F6B-B0D7-E82EE8E4AB55}"/>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09" name="Google Shape;109;p14">
            <a:extLst xmlns:a="http://schemas.openxmlformats.org/drawingml/2006/main">
              <a:ext uri="{FF2B5EF4-FFF2-40B4-BE49-F238E27FC236}">
                <a16:creationId xmlns:a16="http://schemas.microsoft.com/office/drawing/2014/main" id="{BADBA48E-2C3C-4CD7-A3C1-30FE99A25EC3}"/>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PMF</a:t>
            </a:r>
            <a:endParaRPr/>
          </a:p>
        </p:txBody>
      </p:sp>
      <p:sp>
        <p:nvSpPr>
          <p:cNvPr id="110" name="Google Shape;110;p14">
            <a:extLst xmlns:a="http://schemas.openxmlformats.org/drawingml/2006/main">
              <a:ext uri="{FF2B5EF4-FFF2-40B4-BE49-F238E27FC236}">
                <a16:creationId xmlns:a16="http://schemas.microsoft.com/office/drawing/2014/main" id="{76EC8AF0-91A8-46C8-9619-E9326D84EB7C}"/>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01 / 04</a:t>
            </a:r>
            <a:endParaRPr/>
          </a:p>
        </p:txBody>
      </p:sp>
      <p:sp>
        <p:nvSpPr>
          <p:cNvPr id="111" name="Google Shape;111;p14">
            <a:extLst xmlns:a="http://schemas.openxmlformats.org/drawingml/2006/main">
              <a:ext uri="{FF2B5EF4-FFF2-40B4-BE49-F238E27FC236}">
                <a16:creationId xmlns:a16="http://schemas.microsoft.com/office/drawing/2014/main" id="{7BCCE537-65B3-4A99-8083-A2E05B310299}"/>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SOLUTION</a:t>
            </a:r>
            <a:endParaRPr/>
          </a:p>
        </p:txBody>
      </p:sp>
      <p:sp>
        <p:nvSpPr>
          <p:cNvPr id="112" name="Google Shape;112;p14">
            <a:extLst xmlns:a="http://schemas.openxmlformats.org/drawingml/2006/main">
              <a:ext uri="{FF2B5EF4-FFF2-40B4-BE49-F238E27FC236}">
                <a16:creationId xmlns:a16="http://schemas.microsoft.com/office/drawing/2014/main" id="{C8AC25D4-C6DB-495B-BBD9-30859022B09E}"/>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Qualified introductions with privacy and control built in.</a:t>
            </a:r>
            <a:endParaRPr/>
          </a:p>
        </p:txBody>
      </p:sp>
      <p:sp>
        <p:nvSpPr>
          <p:cNvPr id="113" name="Google Shape;113;p14">
            <a:extLst xmlns:a="http://schemas.openxmlformats.org/drawingml/2006/main">
              <a:ext uri="{FF2B5EF4-FFF2-40B4-BE49-F238E27FC236}">
                <a16:creationId xmlns:a16="http://schemas.microsoft.com/office/drawing/2014/main" id="{575838C8-E0E8-4B38-8E1E-F73F17AABCED}"/>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Buyer Passport: prove eligibility without revealing the exact balance.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Property Passport: issuer-attested authority to market this property.</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Deal Passport: both qualifications and both consents unlock the dossier.</a:t>
            </a:r>
            <a:endParaRPr/>
          </a:p>
        </p:txBody>
      </p:sp>
      <p:sp>
        <p:nvSpPr>
          <p:cNvPr id="114" name="Google Shape;114;p14">
            <a:extLst xmlns:a="http://schemas.openxmlformats.org/drawingml/2006/main">
              <a:ext uri="{FF2B5EF4-FFF2-40B4-BE49-F238E27FC236}">
                <a16:creationId xmlns:a16="http://schemas.microsoft.com/office/drawing/2014/main" id="{119145C6-24F2-490C-A942-7F294DD00FAB}"/>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€900k qualifies against a €750k threshold.</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Underfunding and expiry fail. Both parties must consent.</a:t>
            </a:r>
            <a:endParaRPr/>
          </a:p>
        </p:txBody>
      </p:sp>
      <p:sp>
        <p:nvSpPr>
          <p:cNvPr id="115" name="Google Shape;115;p14">
            <a:extLst xmlns:a="http://schemas.openxmlformats.org/drawingml/2006/main">
              <a:ext uri="{FF2B5EF4-FFF2-40B4-BE49-F238E27FC236}">
                <a16:creationId xmlns:a16="http://schemas.microsoft.com/office/drawing/2014/main" id="{0907B409-EB4C-4A63-8288-9089BBF80F81}"/>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6" name="Google Shape;116;p14">
            <a:extLst xmlns:a="http://schemas.openxmlformats.org/drawingml/2006/main">
              <a:ext uri="{FF2B5EF4-FFF2-40B4-BE49-F238E27FC236}">
                <a16:creationId xmlns:a16="http://schemas.microsoft.com/office/drawing/2014/main" id="{CADFC95E-9482-46B0-AABD-F263E4F8097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7" name="Google Shape;117;p14">
            <a:extLst xmlns:a="http://schemas.openxmlformats.org/drawingml/2006/main">
              <a:ext uri="{FF2B5EF4-FFF2-40B4-BE49-F238E27FC236}">
                <a16:creationId xmlns:a16="http://schemas.microsoft.com/office/drawing/2014/main" id="{9CD542A6-8DEB-4898-A281-8402746B1D0E}"/>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8" name="Google Shape;118;p14">
            <a:extLst xmlns:a="http://schemas.openxmlformats.org/drawingml/2006/main">
              <a:ext uri="{FF2B5EF4-FFF2-40B4-BE49-F238E27FC236}">
                <a16:creationId xmlns:a16="http://schemas.microsoft.com/office/drawing/2014/main" id="{A3FE0BC3-2E75-4D4E-9B66-C1A94E6646F2}"/>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9" name="Google Shape;119;p14">
            <a:extLst xmlns:a="http://schemas.openxmlformats.org/drawingml/2006/main">
              <a:ext uri="{FF2B5EF4-FFF2-40B4-BE49-F238E27FC236}">
                <a16:creationId xmlns:a16="http://schemas.microsoft.com/office/drawing/2014/main" id="{6A459216-0876-486B-B38E-114B6197E706}"/>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0" name="Google Shape;120;p14">
            <a:extLst xmlns:a="http://schemas.openxmlformats.org/drawingml/2006/main">
              <a:ext uri="{FF2B5EF4-FFF2-40B4-BE49-F238E27FC236}">
                <a16:creationId xmlns:a16="http://schemas.microsoft.com/office/drawing/2014/main" id="{D457603E-45EF-4622-9F0F-76F2C3D6BE00}"/>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1" name="Google Shape;121;p14">
            <a:extLst xmlns:a="http://schemas.openxmlformats.org/drawingml/2006/main">
              <a:ext uri="{FF2B5EF4-FFF2-40B4-BE49-F238E27FC236}">
                <a16:creationId xmlns:a16="http://schemas.microsoft.com/office/drawing/2014/main" id="{A9CA88B7-E994-43ED-8C8D-34932C8B4232}"/>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2" name="Google Shape;122;p14">
            <a:extLst xmlns:a="http://schemas.openxmlformats.org/drawingml/2006/main">
              <a:ext uri="{FF2B5EF4-FFF2-40B4-BE49-F238E27FC236}">
                <a16:creationId xmlns:a16="http://schemas.microsoft.com/office/drawing/2014/main" id="{4BDFE980-D927-4EE4-ADDC-EA1789DB6742}"/>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23" name="Google Shape;123;p14">
            <a:extLst xmlns:a="http://schemas.openxmlformats.org/drawingml/2006/main">
              <a:ext uri="{FF2B5EF4-FFF2-40B4-BE49-F238E27FC236}">
                <a16:creationId xmlns:a16="http://schemas.microsoft.com/office/drawing/2014/main" id="{CB0DE5D6-1B94-416A-A432-CD32CB185E6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e6b6fb9ea914698">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24" name="MVP target / Synthetic credentials / Res">
            <a:extLst xmlns:a="http://schemas.openxmlformats.org/drawingml/2006/main">
              <a:ext uri="{FF2B5EF4-FFF2-40B4-BE49-F238E27FC236}">
                <a16:creationId xmlns:a16="http://schemas.microsoft.com/office/drawing/2014/main" id="{CDDD72DE-ED6D-40A2-B14F-4852985CDD99}"/>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pic>
        <p:nvPicPr>
          <p:cNvPr id="125" name="">
            <a:extLst xmlns:a="http://schemas.openxmlformats.org/drawingml/2006/main">
              <a:ext uri="{FF2B5EF4-FFF2-40B4-BE49-F238E27FC236}">
                <a16:creationId xmlns:a16="http://schemas.microsoft.com/office/drawing/2014/main" id="{165CA867-D90E-417C-9138-1953F2654B79}"/>
              </a:ext>
            </a:extLst>
          </p:cNvPr>
          <p:cNvPicPr>
            <a:picLocks xmlns:a="http://schemas.openxmlformats.org/drawingml/2006/main" noChangeAspect="1"/>
          </p:cNvPicPr>
          <p:nvPr/>
        </p:nvPicPr>
        <p:blipFill>
          <a:blip xmlns:r="http://schemas.openxmlformats.org/officeDocument/2006/relationships" xmlns:a="http://schemas.openxmlformats.org/drawingml/2006/main" r:embed="Rea6164b303af4036"/>
          <a:srcRect xmlns:a="http://schemas.openxmlformats.org/drawingml/2006/main" l="0" t="0" r="0" b="0"/>
          <a:stretch xmlns:a="http://schemas.openxmlformats.org/drawingml/2006/main"/>
        </p:blipFill>
        <p:spPr>
          <a:xfrm xmlns:a="http://schemas.openxmlformats.org/drawingml/2006/main">
            <a:off x="12611100" y="3238500"/>
            <a:ext cx="4762500" cy="4095750"/>
          </a:xfrm>
          <a:prstGeom xmlns:a="http://schemas.openxmlformats.org/drawingml/2006/main" prst="rect">
            <a:avLst/>
          </a:prstGeom>
        </p:spPr>
      </p:pic>
    </p:spTree>
    <p:extLst>
      <p:ext uri="{BB962C8B-B14F-4D97-AF65-F5344CB8AC3E}">
        <p14:creationId xmlns:p14="http://schemas.microsoft.com/office/powerpoint/2010/main" val="164759222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03 / 08</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MARKET &amp; NOVELTY</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PMF</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Brokers need trust before sharing private deal information</a:t>
            </a:r>
            <a:endParaRPr/>
          </a:p>
        </p:txBody>
      </p:sp>
      <p:sp>
        <p:nvSpPr>
          <p:cNvPr id="135" name="Google Shape;135;p15">
            <a:extLst xmlns:a="http://schemas.openxmlformats.org/drawingml/2006/main">
              <a:ext uri="{FF2B5EF4-FFF2-40B4-BE49-F238E27FC236}">
                <a16:creationId xmlns:a16="http://schemas.microsoft.com/office/drawing/2014/main" id="{C9CD2F9F-16B4-4510-9D95-C313CC3C4553}"/>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Customer: licensed brokers and off-market platforms in Portugal.</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Pain: document chasing, repeated funds checks and premature disclosure.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Pricing hypothesis: €89/month or per-verification fees.</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Pilot: measure document requests and qualification time.</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Test conversion and willingness to pay. PMF unvalidated.</a:t>
            </a:r>
            <a:endParaRPr/>
          </a:p>
        </p:txBody>
      </p:sp>
      <p:sp>
        <p:nvSpPr>
          <p:cNvPr id="137" name="Google Shape;137;p15">
            <a:extLst xmlns:a="http://schemas.openxmlformats.org/drawingml/2006/main">
              <a:ext uri="{FF2B5EF4-FFF2-40B4-BE49-F238E27FC236}">
                <a16:creationId xmlns:a16="http://schemas.microsoft.com/office/drawing/2014/main" id="{74F228A4-C746-4172-9FB0-86AEC9DA356F}"/>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8" name="Google Shape;138;p15">
            <a:extLst xmlns:a="http://schemas.openxmlformats.org/drawingml/2006/main">
              <a:ext uri="{FF2B5EF4-FFF2-40B4-BE49-F238E27FC236}">
                <a16:creationId xmlns:a16="http://schemas.microsoft.com/office/drawing/2014/main" id="{2E0B6FF8-3448-46FD-9EA1-839F36DB9CA0}"/>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9" name="Google Shape;139;p15">
            <a:extLst xmlns:a="http://schemas.openxmlformats.org/drawingml/2006/main">
              <a:ext uri="{FF2B5EF4-FFF2-40B4-BE49-F238E27FC236}">
                <a16:creationId xmlns:a16="http://schemas.microsoft.com/office/drawing/2014/main" id="{B8FB9B13-CCB3-4F02-B634-D4975EA775EB}"/>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0" name="Google Shape;140;p15">
            <a:extLst xmlns:a="http://schemas.openxmlformats.org/drawingml/2006/main">
              <a:ext uri="{FF2B5EF4-FFF2-40B4-BE49-F238E27FC236}">
                <a16:creationId xmlns:a16="http://schemas.microsoft.com/office/drawing/2014/main" id="{C412191C-F8EC-4378-B412-8AB4044C6565}"/>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1" name="Google Shape;141;p15">
            <a:extLst xmlns:a="http://schemas.openxmlformats.org/drawingml/2006/main">
              <a:ext uri="{FF2B5EF4-FFF2-40B4-BE49-F238E27FC236}">
                <a16:creationId xmlns:a16="http://schemas.microsoft.com/office/drawing/2014/main" id="{9CE10CBE-059A-4300-9838-5EDF75E014D4}"/>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2" name="Google Shape;142;p15">
            <a:extLst xmlns:a="http://schemas.openxmlformats.org/drawingml/2006/main">
              <a:ext uri="{FF2B5EF4-FFF2-40B4-BE49-F238E27FC236}">
                <a16:creationId xmlns:a16="http://schemas.microsoft.com/office/drawing/2014/main" id="{A49E3154-44FA-4DE3-AD6F-8DA03BD006BD}"/>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2F23503D-76CD-4E04-840A-9CCC447FF85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dd1c7aecff14e7f">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No real bank or registry integration</a:t>
            </a:r>
          </a:p>
        </p:txBody>
      </p:sp>
      <p:pic>
        <p:nvPicPr>
          <p:cNvPr id="147" name="">
            <a:extLst xmlns:a="http://schemas.openxmlformats.org/drawingml/2006/main">
              <a:ext uri="{FF2B5EF4-FFF2-40B4-BE49-F238E27FC236}">
                <a16:creationId xmlns:a16="http://schemas.microsoft.com/office/drawing/2014/main" id="{71AF5B32-0D61-42FB-AD25-FEE29028EC99}"/>
              </a:ext>
            </a:extLst>
          </p:cNvPr>
          <p:cNvPicPr>
            <a:picLocks xmlns:a="http://schemas.openxmlformats.org/drawingml/2006/main" noChangeAspect="1"/>
          </p:cNvPicPr>
          <p:nvPr/>
        </p:nvPicPr>
        <p:blipFill>
          <a:blip xmlns:r="http://schemas.openxmlformats.org/officeDocument/2006/relationships" xmlns:a="http://schemas.openxmlformats.org/drawingml/2006/main" r:embed="Rba43f2b69f124a02"/>
          <a:srcRect xmlns:a="http://schemas.openxmlformats.org/drawingml/2006/main" l="0" t="0" r="0" b="0"/>
          <a:stretch xmlns:a="http://schemas.openxmlformats.org/drawingml/2006/main"/>
        </p:blipFill>
        <p:spPr>
          <a:xfrm xmlns:a="http://schemas.openxmlformats.org/drawingml/2006/main">
            <a:off x="12611100" y="3238500"/>
            <a:ext cx="4762500" cy="4095750"/>
          </a:xfrm>
          <a:prstGeom xmlns:a="http://schemas.openxmlformats.org/drawingml/2006/main" prst="rect">
            <a:avLst/>
          </a:prstGeom>
        </p:spPr>
      </p:pic>
    </p:spTree>
    <p:extLst>
      <p:ext uri="{BB962C8B-B14F-4D97-AF65-F5344CB8AC3E}">
        <p14:creationId xmlns:p14="http://schemas.microsoft.com/office/powerpoint/2010/main" val="605699683"/>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04 / 08</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TECHNICAL WORKFLOW</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MARKET &amp; NOVELTY</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133475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Existing services validate parts of the same private-deal workflow</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639050"/>
            <a:ext cx="16459200" cy="97155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Market signal: MERKAO reports 250+ verified professionals.</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Our focus: a private buyer proof and one enforceable mutual policy.</a:t>
            </a:r>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F6961B49-7717-4C33-A8A2-ED1872092E7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5fc54fee55a4b8c">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686800"/>
            <a:ext cx="1645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2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200">
                <a:solidFill>
                  <a:srgbClr val="5C5C5C"/>
                </a:solidFill>
                <a:latin typeface="JetBrains Mono"/>
                <a:ea typeface="JetBrains Mono"/>
                <a:cs typeface="JetBrains Mono"/>
              </a:defRPr>
            </a:pPr>
            <a:r>
              <a:rPr sz="1200">
                <a:solidFill>
                  <a:srgbClr val="5C5C5C"/>
                </a:solidFill>
                <a:latin typeface="JetBrains Mono"/>
                <a:ea typeface="JetBrains Mono"/>
                <a:cs typeface="JetBrains Mono"/>
              </a:rPr>
              <a:t>Vendor claims are not audited. Deal Passport demand remains unvalidated.</a:t>
            </a:r>
          </a:p>
        </p:txBody>
      </p:sp>
      <p:graphicFrame>
        <p:nvGraphicFramePr>
          <p:cNvPr id="147" name="">
            <a:extLst xmlns:a="http://schemas.openxmlformats.org/drawingml/2006/main">
              <a:ext uri="{FF2B5EF4-FFF2-40B4-BE49-F238E27FC236}">
                <a16:creationId xmlns:a16="http://schemas.microsoft.com/office/drawing/2014/main" id="{7A9C6A4F-D6DA-4FA0-99E3-64776D0E5956}"/>
              </a:ext>
            </a:extLst>
          </p:cNvPr>
          <p:cNvGraphicFramePr/>
          <p:nvPr/>
        </p:nvGraphicFramePr>
        <p:xfrm>
          <a:off xmlns:a="http://schemas.openxmlformats.org/drawingml/2006/main" x="914400" y="4709160"/>
          <a:ext xmlns:a="http://schemas.openxmlformats.org/drawingml/2006/main" cx="11334750" cy="2686050"/>
        </p:xfrm>
        <a:graphic xmlns:a="http://schemas.openxmlformats.org/drawingml/2006/main">
          <a:graphicData uri="http://schemas.openxmlformats.org/drawingml/2006/table">
            <a:tbl>
              <a:tblPr firstRow="0" bandRow="0"/>
              <a:tblGrid>
                <a:gridCol w="1905000"/>
                <a:gridCol w="4286250"/>
                <a:gridCol w="5143500"/>
              </a:tblGrid>
              <a:tr h="514350">
                <a:tc>
                  <a:txBody>
                    <a:bodyPr lIns="133350" tIns="76200" rIns="133350" bIns="76200">
                      <a:noAutofit/>
                    </a:bodyPr>
                    <a:lstStyle/>
                    <a:p>
                      <a:r>
                        <a:rPr sz="1875" b="1">
                          <a:solidFill>
                            <a:srgbClr val="FDDA24"/>
                          </a:solidFill>
                          <a:latin typeface="Instrument Sans"/>
                          <a:ea typeface="Instrument Sans"/>
                          <a:cs typeface="Instrument Sans"/>
                        </a:rPr>
                        <a:t>Product</a:t>
                      </a:r>
                    </a:p>
                  </a:txBody>
                  <a:tcPr marL="91440" marR="91440" marT="45720" marB="45720" anchor="ctr">
                    <a:lnL w="9525">
                      <a:solidFill>
                        <a:srgbClr val="DFDDD6"/>
                      </a:solidFill>
                      <a:prstDash val="solid"/>
                    </a:lnL>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33350" tIns="76200" rIns="133350" bIns="76200">
                      <a:noAutofit/>
                    </a:bodyPr>
                    <a:lstStyle/>
                    <a:p>
                      <a:r>
                        <a:rPr sz="1875" b="1">
                          <a:solidFill>
                            <a:srgbClr val="FDDA24"/>
                          </a:solidFill>
                          <a:latin typeface="Instrument Sans"/>
                          <a:ea typeface="Instrument Sans"/>
                          <a:cs typeface="Instrument Sans"/>
                        </a:rPr>
                        <a:t>Existing offer</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33350" tIns="76200" rIns="133350" bIns="76200">
                      <a:noAutofit/>
                    </a:bodyPr>
                    <a:lstStyle/>
                    <a:p>
                      <a:r>
                        <a:rPr sz="1875" b="1">
                          <a:solidFill>
                            <a:srgbClr val="FDDA24"/>
                          </a:solidFill>
                          <a:latin typeface="Instrument Sans"/>
                          <a:ea typeface="Instrument Sans"/>
                          <a:cs typeface="Instrument Sans"/>
                        </a:rPr>
                        <a:t>Our implemented MVP</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RealOpen</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Crypto funds letter</a:t>
                      </a:r>
                    </a:p>
                    <a:p>
                      <a:r>
                        <a:rPr sz="1875" b="0">
                          <a:solidFill>
                            <a:srgbClr val="2A2A2A"/>
                          </a:solidFill>
                          <a:latin typeface="Instrument Sans"/>
                          <a:ea typeface="Instrument Sans"/>
                          <a:cs typeface="Instrument Sans"/>
                        </a:rPr>
                        <a:t>Reveals verified balance</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Issuer-bound threshold proof</a:t>
                      </a:r>
                    </a:p>
                    <a:p>
                      <a:r>
                        <a:rPr sz="1875" b="0">
                          <a:solidFill>
                            <a:srgbClr val="2A2A2A"/>
                          </a:solidFill>
                          <a:latin typeface="Instrument Sans"/>
                          <a:ea typeface="Instrument Sans"/>
                          <a:cs typeface="Instrument Sans"/>
                        </a:rPr>
                        <a:t>Hides the exact balance</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IntegraLayer</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Attested property data</a:t>
                      </a:r>
                    </a:p>
                    <a:p>
                      <a:r>
                        <a:rPr sz="1875" b="0">
                          <a:solidFill>
                            <a:srgbClr val="2A2A2A"/>
                          </a:solidFill>
                          <a:latin typeface="Instrument Sans"/>
                          <a:ea typeface="Instrument Sans"/>
                          <a:cs typeface="Instrument Sans"/>
                        </a:rPr>
                        <a:t>Onchain Asset Passport</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Deal-specific authority claim</a:t>
                      </a:r>
                    </a:p>
                    <a:p>
                      <a:r>
                        <a:rPr sz="1875" b="0">
                          <a:solidFill>
                            <a:srgbClr val="2A2A2A"/>
                          </a:solidFill>
                          <a:latin typeface="Instrument Sans"/>
                          <a:ea typeface="Instrument Sans"/>
                          <a:cs typeface="Instrument Sans"/>
                        </a:rPr>
                        <a:t>From an authorized issuer</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23900">
                <a:tc>
                  <a:txBody>
                    <a:bodyPr lIns="133350" tIns="76200" rIns="133350" bIns="76200">
                      <a:noAutofit/>
                    </a:bodyPr>
                    <a:lstStyle/>
                    <a:p>
                      <a:r>
                        <a:rPr sz="1875" b="1">
                          <a:solidFill>
                            <a:srgbClr val="2A2A2A"/>
                          </a:solidFill>
                          <a:latin typeface="Instrument Sans"/>
                          <a:ea typeface="Instrument Sans"/>
                          <a:cs typeface="Instrument Sans"/>
                        </a:rPr>
                        <a:t>MERKAO</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Verified counterparties</a:t>
                      </a:r>
                    </a:p>
                    <a:p>
                      <a:r>
                        <a:rPr sz="1875" b="0">
                          <a:solidFill>
                            <a:srgbClr val="2A2A2A"/>
                          </a:solidFill>
                          <a:latin typeface="Instrument Sans"/>
                          <a:ea typeface="Instrument Sans"/>
                          <a:cs typeface="Instrument Sans"/>
                        </a:rPr>
                        <a:t>NDAs and private data rooms</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33350" tIns="76200" rIns="133350" bIns="76200">
                      <a:noAutofit/>
                    </a:bodyPr>
                    <a:lstStyle/>
                    <a:p>
                      <a:r>
                        <a:rPr sz="1875" b="0">
                          <a:solidFill>
                            <a:srgbClr val="2A2A2A"/>
                          </a:solidFill>
                          <a:latin typeface="Instrument Sans"/>
                          <a:ea typeface="Instrument Sans"/>
                          <a:cs typeface="Instrument Sans"/>
                        </a:rPr>
                        <a:t>Stellar-enforced qualification</a:t>
                      </a:r>
                    </a:p>
                    <a:p>
                      <a:r>
                        <a:rPr sz="1875" b="0">
                          <a:solidFill>
                            <a:srgbClr val="2A2A2A"/>
                          </a:solidFill>
                          <a:latin typeface="Instrument Sans"/>
                          <a:ea typeface="Instrument Sans"/>
                          <a:cs typeface="Instrument Sans"/>
                        </a:rPr>
                        <a:t>And mutual disclosure consent</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bl>
          </a:graphicData>
        </a:graphic>
      </p:graphicFrame>
      <p:pic>
        <p:nvPicPr>
          <p:cNvPr id="148" name="">
            <a:extLst xmlns:a="http://schemas.openxmlformats.org/drawingml/2006/main">
              <a:ext uri="{FF2B5EF4-FFF2-40B4-BE49-F238E27FC236}">
                <a16:creationId xmlns:a16="http://schemas.microsoft.com/office/drawing/2014/main" id="{B3A1CB43-A9E6-4420-85DB-13195483739D}"/>
              </a:ext>
            </a:extLst>
          </p:cNvPr>
          <p:cNvPicPr>
            <a:picLocks xmlns:a="http://schemas.openxmlformats.org/drawingml/2006/main" noChangeAspect="1"/>
          </p:cNvPicPr>
          <p:nvPr/>
        </p:nvPicPr>
        <p:blipFill>
          <a:blip xmlns:r="http://schemas.openxmlformats.org/officeDocument/2006/relationships" xmlns:a="http://schemas.openxmlformats.org/drawingml/2006/main" r:embed="Re54d6b7441a34936"/>
          <a:stretch xmlns:a="http://schemas.openxmlformats.org/drawingml/2006/main"/>
        </p:blipFill>
        <p:spPr>
          <a:xfrm xmlns:a="http://schemas.openxmlformats.org/drawingml/2006/main">
            <a:off x="12893040" y="4023360"/>
            <a:ext cx="4480560" cy="3480435"/>
          </a:xfrm>
          <a:prstGeom xmlns:a="http://schemas.openxmlformats.org/drawingml/2006/main" prst="rect">
            <a:avLst/>
          </a:prstGeom>
        </p:spPr>
      </p:pic>
      <p:pic>
        <p:nvPicPr>
          <p:cNvPr id="149" name="">
            <a:extLst xmlns:a="http://schemas.openxmlformats.org/drawingml/2006/main">
              <a:ext uri="{FF2B5EF4-FFF2-40B4-BE49-F238E27FC236}">
                <a16:creationId xmlns:a16="http://schemas.microsoft.com/office/drawing/2014/main" id="{F98C7D80-0EC0-41CF-936D-E0B00673B076}"/>
              </a:ext>
            </a:extLst>
          </p:cNvPr>
          <p:cNvPicPr>
            <a:picLocks xmlns:a="http://schemas.openxmlformats.org/drawingml/2006/main" noChangeAspect="1"/>
          </p:cNvPicPr>
          <p:nvPr/>
        </p:nvPicPr>
        <p:blipFill>
          <a:blip xmlns:r="http://schemas.openxmlformats.org/officeDocument/2006/relationships" xmlns:a="http://schemas.openxmlformats.org/drawingml/2006/main" r:embed="Rf6ba660f2e8c4b29"/>
          <a:srcRect xmlns:a="http://schemas.openxmlformats.org/drawingml/2006/main" l="0" t="0" r="0" b="0"/>
          <a:stretch xmlns:a="http://schemas.openxmlformats.org/drawingml/2006/main"/>
        </p:blipFill>
        <p:spPr>
          <a:xfrm xmlns:a="http://schemas.openxmlformats.org/drawingml/2006/main">
            <a:off x="12611100" y="3238500"/>
            <a:ext cx="4762500" cy="4095750"/>
          </a:xfrm>
          <a:prstGeom xmlns:a="http://schemas.openxmlformats.org/drawingml/2006/main" prst="rect">
            <a:avLst/>
          </a:prstGeom>
        </p:spPr>
      </p:pic>
    </p:spTree>
    <p:extLst>
      <p:ext uri="{BB962C8B-B14F-4D97-AF65-F5344CB8AC3E}">
        <p14:creationId xmlns:p14="http://schemas.microsoft.com/office/powerpoint/2010/main" val="605699683"/>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05 / 08</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SYSTEM ARCHITECTURE</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103120"/>
            <a:ext cx="164592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VERIFIED WORKFLOW</a:t>
            </a:r>
            <a:endParaRPr/>
          </a:p>
        </p:txBody>
      </p:sp>
      <p:sp>
        <p:nvSpPr>
          <p:cNvPr id="156" name="Google Shape;156;p16">
            <a:extLst xmlns:a="http://schemas.openxmlformats.org/drawingml/2006/main">
              <a:ext uri="{FF2B5EF4-FFF2-40B4-BE49-F238E27FC236}">
                <a16:creationId xmlns:a16="http://schemas.microsoft.com/office/drawing/2014/main" id="{CA0E6CDD-3EB4-4254-809E-2FE090F966A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Buyer proof, seller authority and consent are live on Testnet</a:t>
            </a:r>
            <a:endParaRPr/>
          </a:p>
        </p:txBody>
      </p:sp>
      <p:sp>
        <p:nvSpPr>
          <p:cNvPr id="157" name="Google Shape;157;p16">
            <a:extLst xmlns:a="http://schemas.openxmlformats.org/drawingml/2006/main">
              <a:ext uri="{FF2B5EF4-FFF2-40B4-BE49-F238E27FC236}">
                <a16:creationId xmlns:a16="http://schemas.microsoft.com/office/drawing/2014/main" id="{3780A7D6-3C8C-428E-97D0-8DE277659E5B}"/>
              </a:ext>
            </a:extLst>
          </p:cNvPr>
          <p:cNvSpPr>
            <a:spLocks xmlns:a="http://schemas.openxmlformats.org/drawingml/2006/main" noGrp="1"/>
          </p:cNvSpPr>
          <p:nvPr/>
        </p:nvSpPr>
        <p:spPr>
          <a:xfrm xmlns:a="http://schemas.openxmlformats.org/drawingml/2006/main">
            <a:off x="914400" y="4709160"/>
            <a:ext cx="11612880" cy="1844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Browser generates a genuine Groth16 eligibility proof.</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Stellar verifies the proof and the property issuer’s authority.</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Both parties consent; the API rechecks current chain state.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Underfunding, expiry, forgery, replay and revoked access fail.</a:t>
            </a:r>
            <a:endParaRPr/>
          </a:p>
        </p:txBody>
      </p:sp>
      <p:sp>
        <p:nvSpPr>
          <p:cNvPr id="158" name="Google Shape;158;p16">
            <a:extLst xmlns:a="http://schemas.openxmlformats.org/drawingml/2006/main">
              <a:ext uri="{FF2B5EF4-FFF2-40B4-BE49-F238E27FC236}">
                <a16:creationId xmlns:a16="http://schemas.microsoft.com/office/drawing/2014/main" id="{9E580F45-3BC9-4FD8-AAA0-9BF7110165A8}"/>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1.6–2.6s browser proof observed on this demo device.</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Live operation history and public Testnet receipts.</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42A79C0C-15E7-43F6-9EF0-332A5A651DA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65d298f94894440">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MVP target / Synthetic credentials / Res">
            <a:extLst xmlns:a="http://schemas.openxmlformats.org/drawingml/2006/main">
              <a:ext uri="{FF2B5EF4-FFF2-40B4-BE49-F238E27FC236}">
                <a16:creationId xmlns:a16="http://schemas.microsoft.com/office/drawing/2014/main" id="{9DD9E96E-2EB2-492A-99E2-5FE7CFDECCA8}"/>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Live Testnet MVP / Synthetic credentials / Unaudited demo setup</a:t>
            </a:r>
          </a:p>
        </p:txBody>
      </p:sp>
      <p:pic>
        <p:nvPicPr>
          <p:cNvPr id="169" name="">
            <a:extLst xmlns:a="http://schemas.openxmlformats.org/drawingml/2006/main">
              <a:ext uri="{FF2B5EF4-FFF2-40B4-BE49-F238E27FC236}">
                <a16:creationId xmlns:a16="http://schemas.microsoft.com/office/drawing/2014/main" id="{63811970-A706-4EAF-A92B-8490484598F3}"/>
              </a:ext>
            </a:extLst>
          </p:cNvPr>
          <p:cNvPicPr>
            <a:picLocks xmlns:a="http://schemas.openxmlformats.org/drawingml/2006/main" noChangeAspect="1"/>
          </p:cNvPicPr>
          <p:nvPr/>
        </p:nvPicPr>
        <p:blipFill>
          <a:blip xmlns:r="http://schemas.openxmlformats.org/officeDocument/2006/relationships" xmlns:a="http://schemas.openxmlformats.org/drawingml/2006/main" r:embed="R57a80f39715e4ed9"/>
          <a:srcRect xmlns:a="http://schemas.openxmlformats.org/drawingml/2006/main" l="0" t="0" r="0" b="0"/>
          <a:stretch xmlns:a="http://schemas.openxmlformats.org/drawingml/2006/main"/>
        </p:blipFill>
        <p:spPr>
          <a:xfrm xmlns:a="http://schemas.openxmlformats.org/drawingml/2006/main">
            <a:off x="12611100" y="3238500"/>
            <a:ext cx="4762500" cy="4095750"/>
          </a:xfrm>
          <a:prstGeom xmlns:a="http://schemas.openxmlformats.org/drawingml/2006/main" prst="rect">
            <a:avLst/>
          </a:prstGeom>
        </p:spPr>
      </p:pic>
    </p:spTree>
    <p:extLst>
      <p:ext uri="{BB962C8B-B14F-4D97-AF65-F5344CB8AC3E}">
        <p14:creationId xmlns:p14="http://schemas.microsoft.com/office/powerpoint/2010/main" val="697853663"/>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06 / 08</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AI CONCIERGE</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324100"/>
            <a:ext cx="164592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7125" b="1">
                <a:solidFill>
                  <a:srgbClr val="0F0F0F"/>
                </a:solidFill>
                <a:latin typeface="Inter Tight"/>
                <a:ea typeface="Inter Tight"/>
                <a:cs typeface="Inter Tight"/>
              </a:defRPr>
            </a:defPPr>
            <a:lvl1pPr>
              <a:buNone/>
              <a:defRPr sz="8100" b="1">
                <a:solidFill>
                  <a:srgbClr val="0F0F0F"/>
                </a:solidFill>
                <a:latin typeface="Inter Tight"/>
                <a:ea typeface="Inter Tight"/>
                <a:cs typeface="Inter Tight"/>
              </a:defRPr>
            </a:lvl1pPr>
            <a:lvl2pPr>
              <a:buNone/>
              <a:defRPr sz="8100" b="1">
                <a:solidFill>
                  <a:srgbClr val="0F0F0F"/>
                </a:solidFill>
                <a:latin typeface="Inter Tight"/>
                <a:ea typeface="Inter Tight"/>
                <a:cs typeface="Inter Tight"/>
              </a:defRPr>
            </a:lvl2pPr>
            <a:lvl3pPr>
              <a:buNone/>
              <a:defRPr sz="8100" b="1">
                <a:solidFill>
                  <a:srgbClr val="0F0F0F"/>
                </a:solidFill>
                <a:latin typeface="Inter Tight"/>
                <a:ea typeface="Inter Tight"/>
                <a:cs typeface="Inter Tight"/>
              </a:defRPr>
            </a:lvl3pPr>
            <a:lvl4pPr>
              <a:buNone/>
              <a:defRPr sz="8100" b="1">
                <a:solidFill>
                  <a:srgbClr val="0F0F0F"/>
                </a:solidFill>
                <a:latin typeface="Inter Tight"/>
                <a:ea typeface="Inter Tight"/>
                <a:cs typeface="Inter Tight"/>
              </a:defRPr>
            </a:lvl4pPr>
            <a:lvl5pPr>
              <a:buNone/>
              <a:defRPr sz="8100" b="1">
                <a:solidFill>
                  <a:srgbClr val="0F0F0F"/>
                </a:solidFill>
                <a:latin typeface="Inter Tight"/>
                <a:ea typeface="Inter Tight"/>
                <a:cs typeface="Inter Tight"/>
              </a:defRPr>
            </a:lvl5pPr>
            <a:lvl6pPr>
              <a:buNone/>
              <a:defRPr sz="8100" b="1">
                <a:solidFill>
                  <a:srgbClr val="0F0F0F"/>
                </a:solidFill>
                <a:latin typeface="Inter Tight"/>
                <a:ea typeface="Inter Tight"/>
                <a:cs typeface="Inter Tight"/>
              </a:defRPr>
            </a:lvl6pPr>
            <a:lvl7pPr>
              <a:buNone/>
              <a:defRPr sz="8100" b="1">
                <a:solidFill>
                  <a:srgbClr val="0F0F0F"/>
                </a:solidFill>
                <a:latin typeface="Inter Tight"/>
                <a:ea typeface="Inter Tight"/>
                <a:cs typeface="Inter Tight"/>
              </a:defRPr>
            </a:lvl7pPr>
            <a:lvl8pPr>
              <a:buNone/>
              <a:defRPr sz="8100" b="1">
                <a:solidFill>
                  <a:srgbClr val="0F0F0F"/>
                </a:solidFill>
                <a:latin typeface="Inter Tight"/>
                <a:ea typeface="Inter Tight"/>
                <a:cs typeface="Inter Tight"/>
              </a:defRPr>
            </a:lvl8pPr>
            <a:lvl9pPr>
              <a:buNone/>
              <a:defRPr sz="8100" b="1">
                <a:solidFill>
                  <a:srgbClr val="0F0F0F"/>
                </a:solidFill>
                <a:latin typeface="Inter Tight"/>
                <a:ea typeface="Inter Tight"/>
                <a:cs typeface="Inter Tight"/>
              </a:defRPr>
            </a:lvl9pPr>
          </a:lstStyle>
          <a:p xmlns:a="http://schemas.openxmlformats.org/drawingml/2006/main">
            <a:pPr marL="0" marR="0" lvl="0" indent="0" algn="l">
              <a:spcBef>
                <a:spcPts val="0"/>
              </a:spcBef>
              <a:spcAft>
                <a:spcPts val="0"/>
              </a:spcAft>
              <a:buNone/>
              <a:defRPr sz="7125" b="1">
                <a:solidFill>
                  <a:srgbClr val="0F0F0F"/>
                </a:solidFill>
                <a:latin typeface="Inter Tight"/>
                <a:ea typeface="Inter Tight"/>
                <a:cs typeface="Inter Tight"/>
              </a:defRPr>
            </a:pPr>
            <a:r>
              <a:rPr sz="7125" b="1" i="0" u="none" strike="noStrike" cap="none">
                <a:solidFill>
                  <a:srgbClr val="0F0F0F"/>
                </a:solidFill>
                <a:latin typeface="Inter Tight"/>
                <a:ea typeface="Inter Tight"/>
                <a:cs typeface="Inter Tight"/>
              </a:rPr>
              <a:t>PRODUCTION ARCHITECTURE</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D8BC8F72-1AD0-4AB0-A8B4-CF769F74E03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86d0b89064d4fbb">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Production architecture canvas">
            <a:extLst xmlns:a="http://schemas.openxmlformats.org/drawingml/2006/main">
              <a:ext uri="{FF2B5EF4-FFF2-40B4-BE49-F238E27FC236}">
                <a16:creationId xmlns:a16="http://schemas.microsoft.com/office/drawing/2014/main" id="{51BA9C72-C476-4925-B9FB-695EED212BF6}"/>
              </a:ext>
            </a:extLst>
          </p:cNvPr>
          <p:cNvSpPr>
            <a:spLocks xmlns:a="http://schemas.openxmlformats.org/drawingml/2006/main" noGrp="1"/>
          </p:cNvSpPr>
          <p:nvPr/>
        </p:nvSpPr>
        <p:spPr>
          <a:xfrm xmlns:a="http://schemas.openxmlformats.org/drawingml/2006/main">
            <a:off x="914400" y="3476625"/>
            <a:ext cx="16459200" cy="5536276"/>
          </a:xfrm>
          <a:prstGeom xmlns:a="http://schemas.openxmlformats.org/drawingml/2006/main" prst="rect">
            <a:avLst/>
          </a:prstGeom>
          <a:solidFill xmlns:a="http://schemas.openxmlformats.org/drawingml/2006/main">
            <a:srgbClr val="F7F6F2"/>
          </a:solidFill>
          <a:ln xmlns:a="http://schemas.openxmlformats.org/drawingml/2006/main" w="0">
            <a:noFill/>
          </a:ln>
        </p:spPr>
      </p:sp>
      <p:sp>
        <p:nvSpPr>
          <p:cNvPr id="169" name="Architecture flow 1">
            <a:extLst xmlns:a="http://schemas.openxmlformats.org/drawingml/2006/main">
              <a:ext uri="{FF2B5EF4-FFF2-40B4-BE49-F238E27FC236}">
                <a16:creationId xmlns:a16="http://schemas.microsoft.com/office/drawing/2014/main" id="{0E1EC73F-5F43-4169-AAC4-9E73A231A296}"/>
              </a:ext>
            </a:extLst>
          </p:cNvPr>
          <p:cNvSpPr>
            <a:spLocks xmlns:a="http://schemas.openxmlformats.org/drawingml/2006/main" noGrp="1"/>
          </p:cNvSpPr>
          <p:nvPr/>
        </p:nvSpPr>
        <p:spPr>
          <a:xfrm xmlns:a="http://schemas.openxmlformats.org/drawingml/2006/main">
            <a:off x="3532909" y="6783428"/>
            <a:ext cx="972589" cy="7481"/>
          </a:xfrm>
          <a:custGeom xmlns:a="http://schemas.openxmlformats.org/drawingml/2006/main">
            <a:pathLst>
              <a:path w="1238250" h="9525">
                <a:moveTo>
                  <a:pt x="0" y="0"/>
                </a:moveTo>
                <a:lnTo>
                  <a:pt x="1238250" y="0"/>
                </a:lnTo>
              </a:path>
            </a:pathLst>
          </a:custGeom>
          <a:noFill xmlns:a="http://schemas.openxmlformats.org/drawingml/2006/main"/>
          <a:ln xmlns:a="http://schemas.openxmlformats.org/drawingml/2006/main" w="18704">
            <a:solidFill>
              <a:srgbClr val="343B42"/>
            </a:solidFill>
          </a:ln>
        </p:spPr>
      </p:sp>
      <p:sp>
        <p:nvSpPr>
          <p:cNvPr id="170" name="Flow arrow">
            <a:extLst xmlns:a="http://schemas.openxmlformats.org/drawingml/2006/main">
              <a:ext uri="{FF2B5EF4-FFF2-40B4-BE49-F238E27FC236}">
                <a16:creationId xmlns:a16="http://schemas.microsoft.com/office/drawing/2014/main" id="{59C5EFF4-4542-425B-A64F-CF802F252767}"/>
              </a:ext>
            </a:extLst>
          </p:cNvPr>
          <p:cNvSpPr>
            <a:spLocks xmlns:a="http://schemas.openxmlformats.org/drawingml/2006/main" noGrp="1"/>
          </p:cNvSpPr>
          <p:nvPr/>
        </p:nvSpPr>
        <p:spPr>
          <a:xfrm xmlns:a="http://schemas.openxmlformats.org/drawingml/2006/main">
            <a:off x="4428961" y="6736502"/>
            <a:ext cx="76537" cy="93851"/>
          </a:xfrm>
          <a:custGeom xmlns:a="http://schemas.openxmlformats.org/drawingml/2006/main">
            <a:pathLst>
              <a:path w="97444" h="119486">
                <a:moveTo>
                  <a:pt x="0" y="119486"/>
                </a:moveTo>
                <a:lnTo>
                  <a:pt x="97444" y="59743"/>
                </a:lnTo>
                <a:lnTo>
                  <a:pt x="0" y="0"/>
                </a:lnTo>
              </a:path>
            </a:pathLst>
          </a:custGeom>
          <a:noFill xmlns:a="http://schemas.openxmlformats.org/drawingml/2006/main"/>
          <a:ln xmlns:a="http://schemas.openxmlformats.org/drawingml/2006/main" w="18704">
            <a:solidFill>
              <a:srgbClr val="343B42"/>
            </a:solidFill>
          </a:ln>
        </p:spPr>
      </p:sp>
      <p:sp>
        <p:nvSpPr>
          <p:cNvPr id="171" name="Architecture flow 2">
            <a:extLst xmlns:a="http://schemas.openxmlformats.org/drawingml/2006/main">
              <a:ext uri="{FF2B5EF4-FFF2-40B4-BE49-F238E27FC236}">
                <a16:creationId xmlns:a16="http://schemas.microsoft.com/office/drawing/2014/main" id="{20ABD115-4DE1-434B-8F1D-52E3E6DC650C}"/>
              </a:ext>
            </a:extLst>
          </p:cNvPr>
          <p:cNvSpPr>
            <a:spLocks xmlns:a="http://schemas.openxmlformats.org/drawingml/2006/main" noGrp="1"/>
          </p:cNvSpPr>
          <p:nvPr/>
        </p:nvSpPr>
        <p:spPr>
          <a:xfrm xmlns:a="http://schemas.openxmlformats.org/drawingml/2006/main">
            <a:off x="7872153" y="5085138"/>
            <a:ext cx="7481" cy="561109"/>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18704">
            <a:solidFill>
              <a:srgbClr val="343B42"/>
            </a:solidFill>
          </a:ln>
        </p:spPr>
      </p:sp>
      <p:sp>
        <p:nvSpPr>
          <p:cNvPr id="172" name="Flow arrow">
            <a:extLst xmlns:a="http://schemas.openxmlformats.org/drawingml/2006/main">
              <a:ext uri="{FF2B5EF4-FFF2-40B4-BE49-F238E27FC236}">
                <a16:creationId xmlns:a16="http://schemas.microsoft.com/office/drawing/2014/main" id="{7B42552A-981D-4662-8F08-94C55905F3D5}"/>
              </a:ext>
            </a:extLst>
          </p:cNvPr>
          <p:cNvSpPr>
            <a:spLocks xmlns:a="http://schemas.openxmlformats.org/drawingml/2006/main" noGrp="1"/>
          </p:cNvSpPr>
          <p:nvPr/>
        </p:nvSpPr>
        <p:spPr>
          <a:xfrm xmlns:a="http://schemas.openxmlformats.org/drawingml/2006/main">
            <a:off x="7825227" y="5569709"/>
            <a:ext cx="93851" cy="76537"/>
          </a:xfrm>
          <a:custGeom xmlns:a="http://schemas.openxmlformats.org/drawingml/2006/main">
            <a:pathLst>
              <a:path w="119486" h="97444">
                <a:moveTo>
                  <a:pt x="0" y="0"/>
                </a:moveTo>
                <a:lnTo>
                  <a:pt x="59743" y="97444"/>
                </a:lnTo>
                <a:lnTo>
                  <a:pt x="119486" y="0"/>
                </a:lnTo>
              </a:path>
            </a:pathLst>
          </a:custGeom>
          <a:noFill xmlns:a="http://schemas.openxmlformats.org/drawingml/2006/main"/>
          <a:ln xmlns:a="http://schemas.openxmlformats.org/drawingml/2006/main" w="18704">
            <a:solidFill>
              <a:srgbClr val="343B42"/>
            </a:solidFill>
          </a:ln>
        </p:spPr>
      </p:sp>
      <p:sp>
        <p:nvSpPr>
          <p:cNvPr id="173" name="Architecture flow 3">
            <a:extLst xmlns:a="http://schemas.openxmlformats.org/drawingml/2006/main">
              <a:ext uri="{FF2B5EF4-FFF2-40B4-BE49-F238E27FC236}">
                <a16:creationId xmlns:a16="http://schemas.microsoft.com/office/drawing/2014/main" id="{17BD3328-CCC0-4AE7-B1A7-33A1C6767186}"/>
              </a:ext>
            </a:extLst>
          </p:cNvPr>
          <p:cNvSpPr>
            <a:spLocks xmlns:a="http://schemas.openxmlformats.org/drawingml/2006/main" noGrp="1"/>
          </p:cNvSpPr>
          <p:nvPr/>
        </p:nvSpPr>
        <p:spPr>
          <a:xfrm xmlns:a="http://schemas.openxmlformats.org/drawingml/2006/main">
            <a:off x="11238807" y="4411807"/>
            <a:ext cx="1047404" cy="1683327"/>
          </a:xfrm>
          <a:custGeom xmlns:a="http://schemas.openxmlformats.org/drawingml/2006/main">
            <a:pathLst>
              <a:path w="1333500" h="2143125">
                <a:moveTo>
                  <a:pt x="0" y="2143125"/>
                </a:moveTo>
                <a:lnTo>
                  <a:pt x="571500" y="2143125"/>
                </a:lnTo>
                <a:lnTo>
                  <a:pt x="571500" y="0"/>
                </a:lnTo>
                <a:lnTo>
                  <a:pt x="1333500" y="0"/>
                </a:lnTo>
              </a:path>
            </a:pathLst>
          </a:custGeom>
          <a:noFill xmlns:a="http://schemas.openxmlformats.org/drawingml/2006/main"/>
          <a:ln xmlns:a="http://schemas.openxmlformats.org/drawingml/2006/main" w="18704">
            <a:solidFill>
              <a:srgbClr val="343B42"/>
            </a:solidFill>
          </a:ln>
        </p:spPr>
      </p:sp>
      <p:sp>
        <p:nvSpPr>
          <p:cNvPr id="174" name="Flow arrow">
            <a:extLst xmlns:a="http://schemas.openxmlformats.org/drawingml/2006/main">
              <a:ext uri="{FF2B5EF4-FFF2-40B4-BE49-F238E27FC236}">
                <a16:creationId xmlns:a16="http://schemas.microsoft.com/office/drawing/2014/main" id="{4E7CB94D-0051-4938-AC6C-44653F20E6A4}"/>
              </a:ext>
            </a:extLst>
          </p:cNvPr>
          <p:cNvSpPr>
            <a:spLocks xmlns:a="http://schemas.openxmlformats.org/drawingml/2006/main" noGrp="1"/>
          </p:cNvSpPr>
          <p:nvPr/>
        </p:nvSpPr>
        <p:spPr>
          <a:xfrm xmlns:a="http://schemas.openxmlformats.org/drawingml/2006/main">
            <a:off x="12209673" y="4364881"/>
            <a:ext cx="76537" cy="93851"/>
          </a:xfrm>
          <a:custGeom xmlns:a="http://schemas.openxmlformats.org/drawingml/2006/main">
            <a:pathLst>
              <a:path w="97444" h="119486">
                <a:moveTo>
                  <a:pt x="0" y="119486"/>
                </a:moveTo>
                <a:lnTo>
                  <a:pt x="97444" y="59743"/>
                </a:lnTo>
                <a:lnTo>
                  <a:pt x="0" y="0"/>
                </a:lnTo>
              </a:path>
            </a:pathLst>
          </a:custGeom>
          <a:noFill xmlns:a="http://schemas.openxmlformats.org/drawingml/2006/main"/>
          <a:ln xmlns:a="http://schemas.openxmlformats.org/drawingml/2006/main" w="18704">
            <a:solidFill>
              <a:srgbClr val="343B42"/>
            </a:solidFill>
          </a:ln>
        </p:spPr>
      </p:sp>
      <p:sp>
        <p:nvSpPr>
          <p:cNvPr id="175" name="Architecture flow 4">
            <a:extLst xmlns:a="http://schemas.openxmlformats.org/drawingml/2006/main">
              <a:ext uri="{FF2B5EF4-FFF2-40B4-BE49-F238E27FC236}">
                <a16:creationId xmlns:a16="http://schemas.microsoft.com/office/drawing/2014/main" id="{AA7A55A5-2604-45DC-AA28-A07ADA809989}"/>
              </a:ext>
            </a:extLst>
          </p:cNvPr>
          <p:cNvSpPr>
            <a:spLocks xmlns:a="http://schemas.openxmlformats.org/drawingml/2006/main" noGrp="1"/>
          </p:cNvSpPr>
          <p:nvPr/>
        </p:nvSpPr>
        <p:spPr>
          <a:xfrm xmlns:a="http://schemas.openxmlformats.org/drawingml/2006/main">
            <a:off x="14680276" y="5197360"/>
            <a:ext cx="7481" cy="748145"/>
          </a:xfrm>
          <a:custGeom xmlns:a="http://schemas.openxmlformats.org/drawingml/2006/main">
            <a:pathLst>
              <a:path w="9525" h="952500">
                <a:moveTo>
                  <a:pt x="0" y="0"/>
                </a:moveTo>
                <a:lnTo>
                  <a:pt x="0" y="952500"/>
                </a:lnTo>
              </a:path>
            </a:pathLst>
          </a:custGeom>
          <a:noFill xmlns:a="http://schemas.openxmlformats.org/drawingml/2006/main"/>
          <a:ln xmlns:a="http://schemas.openxmlformats.org/drawingml/2006/main" w="18704">
            <a:solidFill>
              <a:srgbClr val="343B42"/>
            </a:solidFill>
          </a:ln>
        </p:spPr>
      </p:sp>
      <p:sp>
        <p:nvSpPr>
          <p:cNvPr id="176" name="Flow arrow">
            <a:extLst xmlns:a="http://schemas.openxmlformats.org/drawingml/2006/main">
              <a:ext uri="{FF2B5EF4-FFF2-40B4-BE49-F238E27FC236}">
                <a16:creationId xmlns:a16="http://schemas.microsoft.com/office/drawing/2014/main" id="{07DA05EC-8BC4-4322-B916-27FF9E571C97}"/>
              </a:ext>
            </a:extLst>
          </p:cNvPr>
          <p:cNvSpPr>
            <a:spLocks xmlns:a="http://schemas.openxmlformats.org/drawingml/2006/main" noGrp="1"/>
          </p:cNvSpPr>
          <p:nvPr/>
        </p:nvSpPr>
        <p:spPr>
          <a:xfrm xmlns:a="http://schemas.openxmlformats.org/drawingml/2006/main">
            <a:off x="14633351" y="5868968"/>
            <a:ext cx="93851" cy="76537"/>
          </a:xfrm>
          <a:custGeom xmlns:a="http://schemas.openxmlformats.org/drawingml/2006/main">
            <a:pathLst>
              <a:path w="119486" h="97444">
                <a:moveTo>
                  <a:pt x="0" y="0"/>
                </a:moveTo>
                <a:lnTo>
                  <a:pt x="59743" y="97444"/>
                </a:lnTo>
                <a:lnTo>
                  <a:pt x="119486" y="0"/>
                </a:lnTo>
              </a:path>
            </a:pathLst>
          </a:custGeom>
          <a:noFill xmlns:a="http://schemas.openxmlformats.org/drawingml/2006/main"/>
          <a:ln xmlns:a="http://schemas.openxmlformats.org/drawingml/2006/main" w="18704">
            <a:solidFill>
              <a:srgbClr val="343B42"/>
            </a:solidFill>
          </a:ln>
        </p:spPr>
      </p:sp>
      <p:sp>
        <p:nvSpPr>
          <p:cNvPr id="177" name="Architecture flow 5">
            <a:extLst xmlns:a="http://schemas.openxmlformats.org/drawingml/2006/main">
              <a:ext uri="{FF2B5EF4-FFF2-40B4-BE49-F238E27FC236}">
                <a16:creationId xmlns:a16="http://schemas.microsoft.com/office/drawing/2014/main" id="{59F31923-E4C3-4DD6-A75A-5DA91D7B1BEB}"/>
              </a:ext>
            </a:extLst>
          </p:cNvPr>
          <p:cNvSpPr>
            <a:spLocks xmlns:a="http://schemas.openxmlformats.org/drawingml/2006/main" noGrp="1"/>
          </p:cNvSpPr>
          <p:nvPr/>
        </p:nvSpPr>
        <p:spPr>
          <a:xfrm xmlns:a="http://schemas.openxmlformats.org/drawingml/2006/main">
            <a:off x="11238807" y="7292167"/>
            <a:ext cx="1047404" cy="7481"/>
          </a:xfrm>
          <a:custGeom xmlns:a="http://schemas.openxmlformats.org/drawingml/2006/main">
            <a:pathLst>
              <a:path w="1333500" h="9525">
                <a:moveTo>
                  <a:pt x="0" y="0"/>
                </a:moveTo>
                <a:lnTo>
                  <a:pt x="1333500" y="0"/>
                </a:lnTo>
              </a:path>
            </a:pathLst>
          </a:custGeom>
          <a:noFill xmlns:a="http://schemas.openxmlformats.org/drawingml/2006/main"/>
          <a:ln xmlns:a="http://schemas.openxmlformats.org/drawingml/2006/main" w="18704">
            <a:solidFill>
              <a:srgbClr val="343B42"/>
            </a:solidFill>
          </a:ln>
        </p:spPr>
      </p:sp>
      <p:sp>
        <p:nvSpPr>
          <p:cNvPr id="178" name="Flow arrow">
            <a:extLst xmlns:a="http://schemas.openxmlformats.org/drawingml/2006/main">
              <a:ext uri="{FF2B5EF4-FFF2-40B4-BE49-F238E27FC236}">
                <a16:creationId xmlns:a16="http://schemas.microsoft.com/office/drawing/2014/main" id="{0B777A99-5E5D-4B80-A5DD-46CAF7E96577}"/>
              </a:ext>
            </a:extLst>
          </p:cNvPr>
          <p:cNvSpPr>
            <a:spLocks xmlns:a="http://schemas.openxmlformats.org/drawingml/2006/main" noGrp="1"/>
          </p:cNvSpPr>
          <p:nvPr/>
        </p:nvSpPr>
        <p:spPr>
          <a:xfrm xmlns:a="http://schemas.openxmlformats.org/drawingml/2006/main">
            <a:off x="12209673" y="7245241"/>
            <a:ext cx="76537" cy="93851"/>
          </a:xfrm>
          <a:custGeom xmlns:a="http://schemas.openxmlformats.org/drawingml/2006/main">
            <a:pathLst>
              <a:path w="97444" h="119486">
                <a:moveTo>
                  <a:pt x="0" y="119486"/>
                </a:moveTo>
                <a:lnTo>
                  <a:pt x="97444" y="59743"/>
                </a:lnTo>
                <a:lnTo>
                  <a:pt x="0" y="0"/>
                </a:lnTo>
              </a:path>
            </a:pathLst>
          </a:custGeom>
          <a:noFill xmlns:a="http://schemas.openxmlformats.org/drawingml/2006/main"/>
          <a:ln xmlns:a="http://schemas.openxmlformats.org/drawingml/2006/main" w="18704">
            <a:solidFill>
              <a:srgbClr val="343B42"/>
            </a:solidFill>
          </a:ln>
        </p:spPr>
      </p:sp>
      <p:sp>
        <p:nvSpPr>
          <p:cNvPr id="179" name="Flow arrow">
            <a:extLst xmlns:a="http://schemas.openxmlformats.org/drawingml/2006/main">
              <a:ext uri="{FF2B5EF4-FFF2-40B4-BE49-F238E27FC236}">
                <a16:creationId xmlns:a16="http://schemas.microsoft.com/office/drawing/2014/main" id="{51D74BFF-E1D8-4056-B3A0-69378484C29B}"/>
              </a:ext>
            </a:extLst>
          </p:cNvPr>
          <p:cNvSpPr>
            <a:spLocks xmlns:a="http://schemas.openxmlformats.org/drawingml/2006/main" noGrp="1"/>
          </p:cNvSpPr>
          <p:nvPr/>
        </p:nvSpPr>
        <p:spPr>
          <a:xfrm xmlns:a="http://schemas.openxmlformats.org/drawingml/2006/main">
            <a:off x="11238807" y="7245241"/>
            <a:ext cx="76537" cy="93851"/>
          </a:xfrm>
          <a:custGeom xmlns:a="http://schemas.openxmlformats.org/drawingml/2006/main">
            <a:pathLst>
              <a:path w="97444" h="119486">
                <a:moveTo>
                  <a:pt x="97444" y="0"/>
                </a:moveTo>
                <a:lnTo>
                  <a:pt x="0" y="59743"/>
                </a:lnTo>
                <a:lnTo>
                  <a:pt x="97444" y="119486"/>
                </a:lnTo>
              </a:path>
            </a:pathLst>
          </a:custGeom>
          <a:noFill xmlns:a="http://schemas.openxmlformats.org/drawingml/2006/main"/>
          <a:ln xmlns:a="http://schemas.openxmlformats.org/drawingml/2006/main" w="18704">
            <a:solidFill>
              <a:srgbClr val="343B42"/>
            </a:solidFill>
          </a:ln>
        </p:spPr>
      </p:sp>
      <p:sp>
        <p:nvSpPr>
          <p:cNvPr id="180" name="Architecture frontend">
            <a:extLst xmlns:a="http://schemas.openxmlformats.org/drawingml/2006/main">
              <a:ext uri="{FF2B5EF4-FFF2-40B4-BE49-F238E27FC236}">
                <a16:creationId xmlns:a16="http://schemas.microsoft.com/office/drawing/2014/main" id="{3460771A-4E29-4198-B615-7C572E602DC0}"/>
              </a:ext>
            </a:extLst>
          </p:cNvPr>
          <p:cNvSpPr>
            <a:spLocks xmlns:a="http://schemas.openxmlformats.org/drawingml/2006/main" noGrp="1"/>
          </p:cNvSpPr>
          <p:nvPr/>
        </p:nvSpPr>
        <p:spPr>
          <a:xfrm xmlns:a="http://schemas.openxmlformats.org/drawingml/2006/main">
            <a:off x="1213658" y="5870690"/>
            <a:ext cx="2319251" cy="1832956"/>
          </a:xfrm>
          <a:prstGeom xmlns:a="http://schemas.openxmlformats.org/drawingml/2006/main" prst="roundRect">
            <a:avLst>
              <a:gd name="adj" fmla="val 4082"/>
            </a:avLst>
          </a:prstGeom>
          <a:solidFill xmlns:a="http://schemas.openxmlformats.org/drawingml/2006/main">
            <a:srgbClr val="F2F4F7"/>
          </a:solidFill>
          <a:ln xmlns:a="http://schemas.openxmlformats.org/drawingml/2006/main" w="14963">
            <a:solidFill>
              <a:srgbClr val="63748B"/>
            </a:solidFill>
          </a:ln>
        </p:spPr>
      </p:sp>
      <p:sp>
        <p:nvSpPr>
          <p:cNvPr id="181" name="Architecture external">
            <a:extLst xmlns:a="http://schemas.openxmlformats.org/drawingml/2006/main">
              <a:ext uri="{FF2B5EF4-FFF2-40B4-BE49-F238E27FC236}">
                <a16:creationId xmlns:a16="http://schemas.microsoft.com/office/drawing/2014/main" id="{2B03BD45-5C48-4038-B5EB-F6D1F599758F}"/>
              </a:ext>
            </a:extLst>
          </p:cNvPr>
          <p:cNvSpPr>
            <a:spLocks xmlns:a="http://schemas.openxmlformats.org/drawingml/2006/main" noGrp="1"/>
          </p:cNvSpPr>
          <p:nvPr/>
        </p:nvSpPr>
        <p:spPr>
          <a:xfrm xmlns:a="http://schemas.openxmlformats.org/drawingml/2006/main">
            <a:off x="4505498" y="3626254"/>
            <a:ext cx="6733309" cy="1458884"/>
          </a:xfrm>
          <a:prstGeom xmlns:a="http://schemas.openxmlformats.org/drawingml/2006/main" prst="roundRect">
            <a:avLst>
              <a:gd name="adj" fmla="val 5128"/>
            </a:avLst>
          </a:prstGeom>
          <a:solidFill xmlns:a="http://schemas.openxmlformats.org/drawingml/2006/main">
            <a:srgbClr val="EDF4FB"/>
          </a:solidFill>
          <a:ln xmlns:a="http://schemas.openxmlformats.org/drawingml/2006/main" w="14963">
            <a:solidFill>
              <a:srgbClr val="396B9B"/>
            </a:solidFill>
          </a:ln>
        </p:spPr>
      </p:sp>
      <p:sp>
        <p:nvSpPr>
          <p:cNvPr id="182" name="Architecture cloudflare">
            <a:extLst xmlns:a="http://schemas.openxmlformats.org/drawingml/2006/main">
              <a:ext uri="{FF2B5EF4-FFF2-40B4-BE49-F238E27FC236}">
                <a16:creationId xmlns:a16="http://schemas.microsoft.com/office/drawing/2014/main" id="{79AB6B85-C004-4119-8253-A283EE067420}"/>
              </a:ext>
            </a:extLst>
          </p:cNvPr>
          <p:cNvSpPr>
            <a:spLocks xmlns:a="http://schemas.openxmlformats.org/drawingml/2006/main" noGrp="1"/>
          </p:cNvSpPr>
          <p:nvPr/>
        </p:nvSpPr>
        <p:spPr>
          <a:xfrm xmlns:a="http://schemas.openxmlformats.org/drawingml/2006/main">
            <a:off x="4505498" y="5646247"/>
            <a:ext cx="6733309" cy="2618509"/>
          </a:xfrm>
          <a:prstGeom xmlns:a="http://schemas.openxmlformats.org/drawingml/2006/main" prst="roundRect">
            <a:avLst>
              <a:gd name="adj" fmla="val 2857"/>
            </a:avLst>
          </a:prstGeom>
          <a:solidFill xmlns:a="http://schemas.openxmlformats.org/drawingml/2006/main">
            <a:srgbClr val="FFF5E8"/>
          </a:solidFill>
          <a:ln xmlns:a="http://schemas.openxmlformats.org/drawingml/2006/main" w="14963">
            <a:solidFill>
              <a:srgbClr val="B97122"/>
            </a:solidFill>
          </a:ln>
        </p:spPr>
      </p:sp>
      <p:sp>
        <p:nvSpPr>
          <p:cNvPr id="183" name="Architecture zk">
            <a:extLst xmlns:a="http://schemas.openxmlformats.org/drawingml/2006/main">
              <a:ext uri="{FF2B5EF4-FFF2-40B4-BE49-F238E27FC236}">
                <a16:creationId xmlns:a16="http://schemas.microsoft.com/office/drawing/2014/main" id="{F99DC02B-02CC-4AEE-99E2-989E15CF09DC}"/>
              </a:ext>
            </a:extLst>
          </p:cNvPr>
          <p:cNvSpPr>
            <a:spLocks xmlns:a="http://schemas.openxmlformats.org/drawingml/2006/main" noGrp="1"/>
          </p:cNvSpPr>
          <p:nvPr/>
        </p:nvSpPr>
        <p:spPr>
          <a:xfrm xmlns:a="http://schemas.openxmlformats.org/drawingml/2006/main">
            <a:off x="12286211" y="3626254"/>
            <a:ext cx="4788131" cy="1571105"/>
          </a:xfrm>
          <a:prstGeom xmlns:a="http://schemas.openxmlformats.org/drawingml/2006/main" prst="roundRect">
            <a:avLst>
              <a:gd name="adj" fmla="val 4762"/>
            </a:avLst>
          </a:prstGeom>
          <a:solidFill xmlns:a="http://schemas.openxmlformats.org/drawingml/2006/main">
            <a:srgbClr val="F2EEFA"/>
          </a:solidFill>
          <a:ln xmlns:a="http://schemas.openxmlformats.org/drawingml/2006/main" w="14963">
            <a:solidFill>
              <a:srgbClr val="7653A7"/>
            </a:solidFill>
          </a:ln>
        </p:spPr>
      </p:sp>
      <p:sp>
        <p:nvSpPr>
          <p:cNvPr id="184" name="Architecture stellar">
            <a:extLst xmlns:a="http://schemas.openxmlformats.org/drawingml/2006/main">
              <a:ext uri="{FF2B5EF4-FFF2-40B4-BE49-F238E27FC236}">
                <a16:creationId xmlns:a16="http://schemas.microsoft.com/office/drawing/2014/main" id="{CBEBD4C7-40B2-465E-8A7E-A7DB79235205}"/>
              </a:ext>
            </a:extLst>
          </p:cNvPr>
          <p:cNvSpPr>
            <a:spLocks xmlns:a="http://schemas.openxmlformats.org/drawingml/2006/main" noGrp="1"/>
          </p:cNvSpPr>
          <p:nvPr/>
        </p:nvSpPr>
        <p:spPr>
          <a:xfrm xmlns:a="http://schemas.openxmlformats.org/drawingml/2006/main">
            <a:off x="12286211" y="5945505"/>
            <a:ext cx="4788131" cy="2319251"/>
          </a:xfrm>
          <a:prstGeom xmlns:a="http://schemas.openxmlformats.org/drawingml/2006/main" prst="roundRect">
            <a:avLst>
              <a:gd name="adj" fmla="val 3226"/>
            </a:avLst>
          </a:prstGeom>
          <a:solidFill xmlns:a="http://schemas.openxmlformats.org/drawingml/2006/main">
            <a:srgbClr val="EDF5EF"/>
          </a:solidFill>
          <a:ln xmlns:a="http://schemas.openxmlformats.org/drawingml/2006/main" w="14963">
            <a:solidFill>
              <a:srgbClr val="397552"/>
            </a:solidFill>
          </a:ln>
        </p:spPr>
      </p:sp>
      <p:sp>
        <p:nvSpPr>
          <p:cNvPr id="185" name="Architecture identity">
            <a:extLst xmlns:a="http://schemas.openxmlformats.org/drawingml/2006/main">
              <a:ext uri="{FF2B5EF4-FFF2-40B4-BE49-F238E27FC236}">
                <a16:creationId xmlns:a16="http://schemas.microsoft.com/office/drawing/2014/main" id="{884B6C26-E1A2-46BB-9EA5-2180CE618121}"/>
              </a:ext>
            </a:extLst>
          </p:cNvPr>
          <p:cNvSpPr>
            <a:spLocks xmlns:a="http://schemas.openxmlformats.org/drawingml/2006/main" noGrp="1"/>
          </p:cNvSpPr>
          <p:nvPr/>
        </p:nvSpPr>
        <p:spPr>
          <a:xfrm xmlns:a="http://schemas.openxmlformats.org/drawingml/2006/main">
            <a:off x="4655127" y="4164919"/>
            <a:ext cx="1496291" cy="74814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963">
            <a:solidFill>
              <a:srgbClr val="9CB9D4"/>
            </a:solidFill>
          </a:ln>
        </p:spPr>
      </p:sp>
      <p:sp>
        <p:nvSpPr>
          <p:cNvPr id="186" name="Architecture financial-evidence">
            <a:extLst xmlns:a="http://schemas.openxmlformats.org/drawingml/2006/main">
              <a:ext uri="{FF2B5EF4-FFF2-40B4-BE49-F238E27FC236}">
                <a16:creationId xmlns:a16="http://schemas.microsoft.com/office/drawing/2014/main" id="{61E51BF1-F87C-42C1-8CA9-7B9A25E9D534}"/>
              </a:ext>
            </a:extLst>
          </p:cNvPr>
          <p:cNvSpPr>
            <a:spLocks xmlns:a="http://schemas.openxmlformats.org/drawingml/2006/main" noGrp="1"/>
          </p:cNvSpPr>
          <p:nvPr/>
        </p:nvSpPr>
        <p:spPr>
          <a:xfrm xmlns:a="http://schemas.openxmlformats.org/drawingml/2006/main">
            <a:off x="6301047" y="4164919"/>
            <a:ext cx="1496291" cy="74814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963">
            <a:solidFill>
              <a:srgbClr val="9CB9D4"/>
            </a:solidFill>
          </a:ln>
        </p:spPr>
      </p:sp>
      <p:sp>
        <p:nvSpPr>
          <p:cNvPr id="187" name="Architecture property-records">
            <a:extLst xmlns:a="http://schemas.openxmlformats.org/drawingml/2006/main">
              <a:ext uri="{FF2B5EF4-FFF2-40B4-BE49-F238E27FC236}">
                <a16:creationId xmlns:a16="http://schemas.microsoft.com/office/drawing/2014/main" id="{C3552CC7-D431-4FCB-A06A-8362AFD03B15}"/>
              </a:ext>
            </a:extLst>
          </p:cNvPr>
          <p:cNvSpPr>
            <a:spLocks xmlns:a="http://schemas.openxmlformats.org/drawingml/2006/main" noGrp="1"/>
          </p:cNvSpPr>
          <p:nvPr/>
        </p:nvSpPr>
        <p:spPr>
          <a:xfrm xmlns:a="http://schemas.openxmlformats.org/drawingml/2006/main">
            <a:off x="7946967" y="4164919"/>
            <a:ext cx="1496291" cy="74814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963">
            <a:solidFill>
              <a:srgbClr val="9CB9D4"/>
            </a:solidFill>
          </a:ln>
        </p:spPr>
      </p:sp>
      <p:sp>
        <p:nvSpPr>
          <p:cNvPr id="188" name="Architecture credentials">
            <a:extLst xmlns:a="http://schemas.openxmlformats.org/drawingml/2006/main">
              <a:ext uri="{FF2B5EF4-FFF2-40B4-BE49-F238E27FC236}">
                <a16:creationId xmlns:a16="http://schemas.microsoft.com/office/drawing/2014/main" id="{77059645-5690-4A66-BE55-AE07131ABCA7}"/>
              </a:ext>
            </a:extLst>
          </p:cNvPr>
          <p:cNvSpPr>
            <a:spLocks xmlns:a="http://schemas.openxmlformats.org/drawingml/2006/main" noGrp="1"/>
          </p:cNvSpPr>
          <p:nvPr/>
        </p:nvSpPr>
        <p:spPr>
          <a:xfrm xmlns:a="http://schemas.openxmlformats.org/drawingml/2006/main">
            <a:off x="9592887" y="4164919"/>
            <a:ext cx="1496291" cy="74814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963">
            <a:solidFill>
              <a:srgbClr val="9CB9D4"/>
            </a:solidFill>
          </a:ln>
        </p:spPr>
      </p:sp>
      <p:sp>
        <p:nvSpPr>
          <p:cNvPr id="189" name="Architecture buyer-verification">
            <a:extLst xmlns:a="http://schemas.openxmlformats.org/drawingml/2006/main">
              <a:ext uri="{FF2B5EF4-FFF2-40B4-BE49-F238E27FC236}">
                <a16:creationId xmlns:a16="http://schemas.microsoft.com/office/drawing/2014/main" id="{C47823B3-D6C1-48A1-800A-74928D0928EB}"/>
              </a:ext>
            </a:extLst>
          </p:cNvPr>
          <p:cNvSpPr>
            <a:spLocks xmlns:a="http://schemas.openxmlformats.org/drawingml/2006/main" noGrp="1"/>
          </p:cNvSpPr>
          <p:nvPr/>
        </p:nvSpPr>
        <p:spPr>
          <a:xfrm xmlns:a="http://schemas.openxmlformats.org/drawingml/2006/main">
            <a:off x="4655127" y="6581429"/>
            <a:ext cx="2094807" cy="1122218"/>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963">
            <a:solidFill>
              <a:srgbClr val="D8B282"/>
            </a:solidFill>
          </a:ln>
        </p:spPr>
      </p:sp>
      <p:sp>
        <p:nvSpPr>
          <p:cNvPr id="190" name="Architecture seller-verification">
            <a:extLst xmlns:a="http://schemas.openxmlformats.org/drawingml/2006/main">
              <a:ext uri="{FF2B5EF4-FFF2-40B4-BE49-F238E27FC236}">
                <a16:creationId xmlns:a16="http://schemas.microsoft.com/office/drawing/2014/main" id="{59CDE555-7F70-48C5-9D09-3F380056A29F}"/>
              </a:ext>
            </a:extLst>
          </p:cNvPr>
          <p:cNvSpPr>
            <a:spLocks xmlns:a="http://schemas.openxmlformats.org/drawingml/2006/main" noGrp="1"/>
          </p:cNvSpPr>
          <p:nvPr/>
        </p:nvSpPr>
        <p:spPr>
          <a:xfrm xmlns:a="http://schemas.openxmlformats.org/drawingml/2006/main">
            <a:off x="6824749" y="6581429"/>
            <a:ext cx="2094807" cy="1122218"/>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963">
            <a:solidFill>
              <a:srgbClr val="D8B282"/>
            </a:solidFill>
          </a:ln>
        </p:spPr>
      </p:sp>
      <p:sp>
        <p:nvSpPr>
          <p:cNvPr id="191" name="Architecture deal-access">
            <a:extLst xmlns:a="http://schemas.openxmlformats.org/drawingml/2006/main">
              <a:ext uri="{FF2B5EF4-FFF2-40B4-BE49-F238E27FC236}">
                <a16:creationId xmlns:a16="http://schemas.microsoft.com/office/drawing/2014/main" id="{442D09EB-4AE9-41B2-94BE-AAE0E7ECCDC5}"/>
              </a:ext>
            </a:extLst>
          </p:cNvPr>
          <p:cNvSpPr>
            <a:spLocks xmlns:a="http://schemas.openxmlformats.org/drawingml/2006/main" noGrp="1"/>
          </p:cNvSpPr>
          <p:nvPr/>
        </p:nvSpPr>
        <p:spPr>
          <a:xfrm xmlns:a="http://schemas.openxmlformats.org/drawingml/2006/main">
            <a:off x="8994371" y="6581429"/>
            <a:ext cx="2094807" cy="1122218"/>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963">
            <a:solidFill>
              <a:srgbClr val="D8B282"/>
            </a:solidFill>
          </a:ln>
        </p:spPr>
      </p:sp>
      <p:sp>
        <p:nvSpPr>
          <p:cNvPr id="192" name="Architecture database">
            <a:extLst xmlns:a="http://schemas.openxmlformats.org/drawingml/2006/main">
              <a:ext uri="{FF2B5EF4-FFF2-40B4-BE49-F238E27FC236}">
                <a16:creationId xmlns:a16="http://schemas.microsoft.com/office/drawing/2014/main" id="{F383D2B4-D346-4F53-A45E-715BA6257457}"/>
              </a:ext>
            </a:extLst>
          </p:cNvPr>
          <p:cNvSpPr>
            <a:spLocks xmlns:a="http://schemas.openxmlformats.org/drawingml/2006/main" noGrp="1"/>
          </p:cNvSpPr>
          <p:nvPr/>
        </p:nvSpPr>
        <p:spPr>
          <a:xfrm xmlns:a="http://schemas.openxmlformats.org/drawingml/2006/main">
            <a:off x="4655127" y="7815869"/>
            <a:ext cx="3142211" cy="35911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4963">
            <a:solidFill>
              <a:srgbClr val="D8B282"/>
            </a:solidFill>
          </a:ln>
        </p:spPr>
      </p:sp>
      <p:sp>
        <p:nvSpPr>
          <p:cNvPr id="193" name="Architecture documents">
            <a:extLst xmlns:a="http://schemas.openxmlformats.org/drawingml/2006/main">
              <a:ext uri="{FF2B5EF4-FFF2-40B4-BE49-F238E27FC236}">
                <a16:creationId xmlns:a16="http://schemas.microsoft.com/office/drawing/2014/main" id="{EACBAB2A-2AAC-4B39-B123-D73646B671F3}"/>
              </a:ext>
            </a:extLst>
          </p:cNvPr>
          <p:cNvSpPr>
            <a:spLocks xmlns:a="http://schemas.openxmlformats.org/drawingml/2006/main" noGrp="1"/>
          </p:cNvSpPr>
          <p:nvPr/>
        </p:nvSpPr>
        <p:spPr>
          <a:xfrm xmlns:a="http://schemas.openxmlformats.org/drawingml/2006/main">
            <a:off x="7946967" y="7815869"/>
            <a:ext cx="3142211" cy="35911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4963">
            <a:solidFill>
              <a:srgbClr val="D8B282"/>
            </a:solidFill>
          </a:ln>
        </p:spPr>
      </p:sp>
      <p:sp>
        <p:nvSpPr>
          <p:cNvPr id="194" name="Architecture proof-engine">
            <a:extLst xmlns:a="http://schemas.openxmlformats.org/drawingml/2006/main">
              <a:ext uri="{FF2B5EF4-FFF2-40B4-BE49-F238E27FC236}">
                <a16:creationId xmlns:a16="http://schemas.microsoft.com/office/drawing/2014/main" id="{2BF34F1B-A2C5-4372-997C-F4F61D0852A8}"/>
              </a:ext>
            </a:extLst>
          </p:cNvPr>
          <p:cNvSpPr>
            <a:spLocks xmlns:a="http://schemas.openxmlformats.org/drawingml/2006/main" noGrp="1"/>
          </p:cNvSpPr>
          <p:nvPr/>
        </p:nvSpPr>
        <p:spPr>
          <a:xfrm xmlns:a="http://schemas.openxmlformats.org/drawingml/2006/main">
            <a:off x="12435840" y="4164919"/>
            <a:ext cx="4488873" cy="882812"/>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4963">
            <a:solidFill>
              <a:srgbClr val="B9A4D2"/>
            </a:solidFill>
          </a:ln>
        </p:spPr>
      </p:sp>
      <p:sp>
        <p:nvSpPr>
          <p:cNvPr id="195" name="Architecture issuer-state">
            <a:extLst xmlns:a="http://schemas.openxmlformats.org/drawingml/2006/main">
              <a:ext uri="{FF2B5EF4-FFF2-40B4-BE49-F238E27FC236}">
                <a16:creationId xmlns:a16="http://schemas.microsoft.com/office/drawing/2014/main" id="{79ABE91B-00BB-40AF-A64F-FFA9CB9E85D9}"/>
              </a:ext>
            </a:extLst>
          </p:cNvPr>
          <p:cNvSpPr>
            <a:spLocks xmlns:a="http://schemas.openxmlformats.org/drawingml/2006/main" noGrp="1"/>
          </p:cNvSpPr>
          <p:nvPr/>
        </p:nvSpPr>
        <p:spPr>
          <a:xfrm xmlns:a="http://schemas.openxmlformats.org/drawingml/2006/main">
            <a:off x="12435840" y="6521577"/>
            <a:ext cx="4488873" cy="329184"/>
          </a:xfrm>
          <a:prstGeom xmlns:a="http://schemas.openxmlformats.org/drawingml/2006/main" prst="roundRect">
            <a:avLst>
              <a:gd name="adj" fmla="val 22727"/>
            </a:avLst>
          </a:prstGeom>
          <a:solidFill xmlns:a="http://schemas.openxmlformats.org/drawingml/2006/main">
            <a:srgbClr val="FFFFFF"/>
          </a:solidFill>
          <a:ln xmlns:a="http://schemas.openxmlformats.org/drawingml/2006/main" w="14963">
            <a:solidFill>
              <a:srgbClr val="91B39B"/>
            </a:solidFill>
          </a:ln>
        </p:spPr>
      </p:sp>
      <p:sp>
        <p:nvSpPr>
          <p:cNvPr id="196" name="Architecture proof-verifier">
            <a:extLst xmlns:a="http://schemas.openxmlformats.org/drawingml/2006/main">
              <a:ext uri="{FF2B5EF4-FFF2-40B4-BE49-F238E27FC236}">
                <a16:creationId xmlns:a16="http://schemas.microsoft.com/office/drawing/2014/main" id="{ED4B4EA9-3B12-40EE-B70D-8F93335A3EC3}"/>
              </a:ext>
            </a:extLst>
          </p:cNvPr>
          <p:cNvSpPr>
            <a:spLocks xmlns:a="http://schemas.openxmlformats.org/drawingml/2006/main" noGrp="1"/>
          </p:cNvSpPr>
          <p:nvPr/>
        </p:nvSpPr>
        <p:spPr>
          <a:xfrm xmlns:a="http://schemas.openxmlformats.org/drawingml/2006/main">
            <a:off x="12435840" y="6903131"/>
            <a:ext cx="4488873" cy="329184"/>
          </a:xfrm>
          <a:prstGeom xmlns:a="http://schemas.openxmlformats.org/drawingml/2006/main" prst="roundRect">
            <a:avLst>
              <a:gd name="adj" fmla="val 22727"/>
            </a:avLst>
          </a:prstGeom>
          <a:solidFill xmlns:a="http://schemas.openxmlformats.org/drawingml/2006/main">
            <a:srgbClr val="FFFFFF"/>
          </a:solidFill>
          <a:ln xmlns:a="http://schemas.openxmlformats.org/drawingml/2006/main" w="14963">
            <a:solidFill>
              <a:srgbClr val="91B39B"/>
            </a:solidFill>
          </a:ln>
        </p:spPr>
      </p:sp>
      <p:sp>
        <p:nvSpPr>
          <p:cNvPr id="197" name="Architecture qualification">
            <a:extLst xmlns:a="http://schemas.openxmlformats.org/drawingml/2006/main">
              <a:ext uri="{FF2B5EF4-FFF2-40B4-BE49-F238E27FC236}">
                <a16:creationId xmlns:a16="http://schemas.microsoft.com/office/drawing/2014/main" id="{A976E466-23F9-40F6-B6B1-3CF36FF2E294}"/>
              </a:ext>
            </a:extLst>
          </p:cNvPr>
          <p:cNvSpPr>
            <a:spLocks xmlns:a="http://schemas.openxmlformats.org/drawingml/2006/main" noGrp="1"/>
          </p:cNvSpPr>
          <p:nvPr/>
        </p:nvSpPr>
        <p:spPr>
          <a:xfrm xmlns:a="http://schemas.openxmlformats.org/drawingml/2006/main">
            <a:off x="12435840" y="7284685"/>
            <a:ext cx="4488873" cy="329184"/>
          </a:xfrm>
          <a:prstGeom xmlns:a="http://schemas.openxmlformats.org/drawingml/2006/main" prst="roundRect">
            <a:avLst>
              <a:gd name="adj" fmla="val 22727"/>
            </a:avLst>
          </a:prstGeom>
          <a:solidFill xmlns:a="http://schemas.openxmlformats.org/drawingml/2006/main">
            <a:srgbClr val="FFFFFF"/>
          </a:solidFill>
          <a:ln xmlns:a="http://schemas.openxmlformats.org/drawingml/2006/main" w="14963">
            <a:solidFill>
              <a:srgbClr val="91B39B"/>
            </a:solidFill>
          </a:ln>
        </p:spPr>
      </p:sp>
      <p:sp>
        <p:nvSpPr>
          <p:cNvPr id="198" name="Architecture consent">
            <a:extLst xmlns:a="http://schemas.openxmlformats.org/drawingml/2006/main">
              <a:ext uri="{FF2B5EF4-FFF2-40B4-BE49-F238E27FC236}">
                <a16:creationId xmlns:a16="http://schemas.microsoft.com/office/drawing/2014/main" id="{55A6D3D2-2AA0-4047-9E21-4A426D311281}"/>
              </a:ext>
            </a:extLst>
          </p:cNvPr>
          <p:cNvSpPr>
            <a:spLocks xmlns:a="http://schemas.openxmlformats.org/drawingml/2006/main" noGrp="1"/>
          </p:cNvSpPr>
          <p:nvPr/>
        </p:nvSpPr>
        <p:spPr>
          <a:xfrm xmlns:a="http://schemas.openxmlformats.org/drawingml/2006/main">
            <a:off x="12435840" y="7666240"/>
            <a:ext cx="4488873" cy="329184"/>
          </a:xfrm>
          <a:prstGeom xmlns:a="http://schemas.openxmlformats.org/drawingml/2006/main" prst="roundRect">
            <a:avLst>
              <a:gd name="adj" fmla="val 22727"/>
            </a:avLst>
          </a:prstGeom>
          <a:solidFill xmlns:a="http://schemas.openxmlformats.org/drawingml/2006/main">
            <a:srgbClr val="FFFFFF"/>
          </a:solidFill>
          <a:ln xmlns:a="http://schemas.openxmlformats.org/drawingml/2006/main" w="14963">
            <a:solidFill>
              <a:srgbClr val="91B39B"/>
            </a:solidFill>
          </a:ln>
        </p:spPr>
      </p:sp>
      <p:sp>
        <p:nvSpPr>
          <p:cNvPr id="199" name="Architecture label: React interface">
            <a:extLst xmlns:a="http://schemas.openxmlformats.org/drawingml/2006/main">
              <a:ext uri="{FF2B5EF4-FFF2-40B4-BE49-F238E27FC236}">
                <a16:creationId xmlns:a16="http://schemas.microsoft.com/office/drawing/2014/main" id="{58565EEA-54CA-4352-B6FD-74D2CE881EF1}"/>
              </a:ext>
            </a:extLst>
          </p:cNvPr>
          <p:cNvSpPr>
            <a:spLocks xmlns:a="http://schemas.openxmlformats.org/drawingml/2006/main" noGrp="1"/>
          </p:cNvSpPr>
          <p:nvPr/>
        </p:nvSpPr>
        <p:spPr>
          <a:xfrm xmlns:a="http://schemas.openxmlformats.org/drawingml/2006/main">
            <a:off x="1400695" y="6095134"/>
            <a:ext cx="1982585" cy="3740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3" b="1">
                <a:solidFill>
                  <a:srgbClr val="182028"/>
                </a:solidFill>
                <a:latin typeface="Instrument Sans"/>
                <a:ea typeface="Instrument Sans"/>
                <a:cs typeface="Instrument Sans"/>
              </a:defRPr>
            </a:defPPr>
            <a:lvl1pPr>
              <a:buNone/>
              <a:defRPr sz="2003" b="1">
                <a:solidFill>
                  <a:srgbClr val="182028"/>
                </a:solidFill>
                <a:latin typeface="Instrument Sans"/>
                <a:ea typeface="Instrument Sans"/>
                <a:cs typeface="Instrument Sans"/>
              </a:defRPr>
            </a:lvl1pPr>
            <a:lvl2pPr>
              <a:buNone/>
              <a:defRPr sz="2003" b="1">
                <a:solidFill>
                  <a:srgbClr val="182028"/>
                </a:solidFill>
                <a:latin typeface="Instrument Sans"/>
                <a:ea typeface="Instrument Sans"/>
                <a:cs typeface="Instrument Sans"/>
              </a:defRPr>
            </a:lvl2pPr>
            <a:lvl3pPr>
              <a:buNone/>
              <a:defRPr sz="2003" b="1">
                <a:solidFill>
                  <a:srgbClr val="182028"/>
                </a:solidFill>
                <a:latin typeface="Instrument Sans"/>
                <a:ea typeface="Instrument Sans"/>
                <a:cs typeface="Instrument Sans"/>
              </a:defRPr>
            </a:lvl3pPr>
            <a:lvl4pPr>
              <a:buNone/>
              <a:defRPr sz="2003" b="1">
                <a:solidFill>
                  <a:srgbClr val="182028"/>
                </a:solidFill>
                <a:latin typeface="Instrument Sans"/>
                <a:ea typeface="Instrument Sans"/>
                <a:cs typeface="Instrument Sans"/>
              </a:defRPr>
            </a:lvl4pPr>
            <a:lvl5pPr>
              <a:buNone/>
              <a:defRPr sz="2003" b="1">
                <a:solidFill>
                  <a:srgbClr val="182028"/>
                </a:solidFill>
                <a:latin typeface="Instrument Sans"/>
                <a:ea typeface="Instrument Sans"/>
                <a:cs typeface="Instrument Sans"/>
              </a:defRPr>
            </a:lvl5pPr>
            <a:lvl6pPr>
              <a:buNone/>
              <a:defRPr sz="2003" b="1">
                <a:solidFill>
                  <a:srgbClr val="182028"/>
                </a:solidFill>
                <a:latin typeface="Instrument Sans"/>
                <a:ea typeface="Instrument Sans"/>
                <a:cs typeface="Instrument Sans"/>
              </a:defRPr>
            </a:lvl6pPr>
            <a:lvl7pPr>
              <a:buNone/>
              <a:defRPr sz="2003" b="1">
                <a:solidFill>
                  <a:srgbClr val="182028"/>
                </a:solidFill>
                <a:latin typeface="Instrument Sans"/>
                <a:ea typeface="Instrument Sans"/>
                <a:cs typeface="Instrument Sans"/>
              </a:defRPr>
            </a:lvl7pPr>
            <a:lvl8pPr>
              <a:buNone/>
              <a:defRPr sz="2003" b="1">
                <a:solidFill>
                  <a:srgbClr val="182028"/>
                </a:solidFill>
                <a:latin typeface="Instrument Sans"/>
                <a:ea typeface="Instrument Sans"/>
                <a:cs typeface="Instrument Sans"/>
              </a:defRPr>
            </a:lvl8pPr>
            <a:lvl9pPr>
              <a:buNone/>
              <a:defRPr sz="2003" b="1">
                <a:solidFill>
                  <a:srgbClr val="182028"/>
                </a:solidFill>
                <a:latin typeface="Instrument Sans"/>
                <a:ea typeface="Instrument Sans"/>
                <a:cs typeface="Instrument Sans"/>
              </a:defRPr>
            </a:lvl9pPr>
          </a:lstStyle>
          <a:p xmlns:a="http://schemas.openxmlformats.org/drawingml/2006/main">
            <a:pPr>
              <a:buNone/>
              <a:defRPr sz="2003" b="1">
                <a:solidFill>
                  <a:srgbClr val="182028"/>
                </a:solidFill>
                <a:latin typeface="Instrument Sans"/>
                <a:ea typeface="Instrument Sans"/>
                <a:cs typeface="Instrument Sans"/>
              </a:defRPr>
            </a:pPr>
            <a:r>
              <a:rPr sz="2003" b="1">
                <a:solidFill>
                  <a:srgbClr val="182028"/>
                </a:solidFill>
                <a:latin typeface="Instrument Sans"/>
                <a:ea typeface="Instrument Sans"/>
                <a:cs typeface="Instrument Sans"/>
              </a:rPr>
              <a:t>React interface</a:t>
            </a:r>
          </a:p>
        </p:txBody>
      </p:sp>
      <p:sp>
        <p:nvSpPr>
          <p:cNvPr id="200" name="Architecture label: Buyer / seller / issuer">
            <a:extLst xmlns:a="http://schemas.openxmlformats.org/drawingml/2006/main">
              <a:ext uri="{FF2B5EF4-FFF2-40B4-BE49-F238E27FC236}">
                <a16:creationId xmlns:a16="http://schemas.microsoft.com/office/drawing/2014/main" id="{983253B7-A127-4169-8A05-2AF9CF002EFA}"/>
              </a:ext>
            </a:extLst>
          </p:cNvPr>
          <p:cNvSpPr>
            <a:spLocks xmlns:a="http://schemas.openxmlformats.org/drawingml/2006/main" noGrp="1"/>
          </p:cNvSpPr>
          <p:nvPr/>
        </p:nvSpPr>
        <p:spPr>
          <a:xfrm xmlns:a="http://schemas.openxmlformats.org/drawingml/2006/main">
            <a:off x="1400695" y="6573947"/>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Buyer / seller / issuer</a:t>
            </a:r>
          </a:p>
        </p:txBody>
      </p:sp>
      <p:sp>
        <p:nvSpPr>
          <p:cNvPr id="201" name="Architecture label: User wallet signing">
            <a:extLst xmlns:a="http://schemas.openxmlformats.org/drawingml/2006/main">
              <a:ext uri="{FF2B5EF4-FFF2-40B4-BE49-F238E27FC236}">
                <a16:creationId xmlns:a16="http://schemas.microsoft.com/office/drawing/2014/main" id="{553A9FB0-28C3-4772-883E-53509C279BED}"/>
              </a:ext>
            </a:extLst>
          </p:cNvPr>
          <p:cNvSpPr>
            <a:spLocks xmlns:a="http://schemas.openxmlformats.org/drawingml/2006/main" noGrp="1"/>
          </p:cNvSpPr>
          <p:nvPr/>
        </p:nvSpPr>
        <p:spPr>
          <a:xfrm xmlns:a="http://schemas.openxmlformats.org/drawingml/2006/main">
            <a:off x="1400695" y="6895650"/>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User wallet signing</a:t>
            </a:r>
          </a:p>
        </p:txBody>
      </p:sp>
      <p:sp>
        <p:nvSpPr>
          <p:cNvPr id="202" name="Architecture label: Private deal room">
            <a:extLst xmlns:a="http://schemas.openxmlformats.org/drawingml/2006/main">
              <a:ext uri="{FF2B5EF4-FFF2-40B4-BE49-F238E27FC236}">
                <a16:creationId xmlns:a16="http://schemas.microsoft.com/office/drawing/2014/main" id="{974747FC-7E8C-455B-A7F7-BBAF9E23E342}"/>
              </a:ext>
            </a:extLst>
          </p:cNvPr>
          <p:cNvSpPr>
            <a:spLocks xmlns:a="http://schemas.openxmlformats.org/drawingml/2006/main" noGrp="1"/>
          </p:cNvSpPr>
          <p:nvPr/>
        </p:nvSpPr>
        <p:spPr>
          <a:xfrm xmlns:a="http://schemas.openxmlformats.org/drawingml/2006/main">
            <a:off x="1400695" y="7217352"/>
            <a:ext cx="1982585"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Private deal room</a:t>
            </a:r>
          </a:p>
        </p:txBody>
      </p:sp>
      <p:sp>
        <p:nvSpPr>
          <p:cNvPr id="203" name="Architecture label: External verification services">
            <a:extLst xmlns:a="http://schemas.openxmlformats.org/drawingml/2006/main">
              <a:ext uri="{FF2B5EF4-FFF2-40B4-BE49-F238E27FC236}">
                <a16:creationId xmlns:a16="http://schemas.microsoft.com/office/drawing/2014/main" id="{E4C67252-254F-446B-A1C2-27B9F1A12A67}"/>
              </a:ext>
            </a:extLst>
          </p:cNvPr>
          <p:cNvSpPr>
            <a:spLocks xmlns:a="http://schemas.openxmlformats.org/drawingml/2006/main" noGrp="1"/>
          </p:cNvSpPr>
          <p:nvPr/>
        </p:nvSpPr>
        <p:spPr>
          <a:xfrm xmlns:a="http://schemas.openxmlformats.org/drawingml/2006/main">
            <a:off x="4729942" y="3790846"/>
            <a:ext cx="6284422" cy="3740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03" b="1">
                <a:solidFill>
                  <a:srgbClr val="182028"/>
                </a:solidFill>
                <a:latin typeface="Instrument Sans"/>
                <a:ea typeface="Instrument Sans"/>
                <a:cs typeface="Instrument Sans"/>
              </a:defRPr>
            </a:defPPr>
            <a:lvl1pPr>
              <a:buNone/>
              <a:defRPr sz="2003" b="1">
                <a:solidFill>
                  <a:srgbClr val="182028"/>
                </a:solidFill>
                <a:latin typeface="Instrument Sans"/>
                <a:ea typeface="Instrument Sans"/>
                <a:cs typeface="Instrument Sans"/>
              </a:defRPr>
            </a:lvl1pPr>
            <a:lvl2pPr>
              <a:buNone/>
              <a:defRPr sz="2003" b="1">
                <a:solidFill>
                  <a:srgbClr val="182028"/>
                </a:solidFill>
                <a:latin typeface="Instrument Sans"/>
                <a:ea typeface="Instrument Sans"/>
                <a:cs typeface="Instrument Sans"/>
              </a:defRPr>
            </a:lvl2pPr>
            <a:lvl3pPr>
              <a:buNone/>
              <a:defRPr sz="2003" b="1">
                <a:solidFill>
                  <a:srgbClr val="182028"/>
                </a:solidFill>
                <a:latin typeface="Instrument Sans"/>
                <a:ea typeface="Instrument Sans"/>
                <a:cs typeface="Instrument Sans"/>
              </a:defRPr>
            </a:lvl3pPr>
            <a:lvl4pPr>
              <a:buNone/>
              <a:defRPr sz="2003" b="1">
                <a:solidFill>
                  <a:srgbClr val="182028"/>
                </a:solidFill>
                <a:latin typeface="Instrument Sans"/>
                <a:ea typeface="Instrument Sans"/>
                <a:cs typeface="Instrument Sans"/>
              </a:defRPr>
            </a:lvl4pPr>
            <a:lvl5pPr>
              <a:buNone/>
              <a:defRPr sz="2003" b="1">
                <a:solidFill>
                  <a:srgbClr val="182028"/>
                </a:solidFill>
                <a:latin typeface="Instrument Sans"/>
                <a:ea typeface="Instrument Sans"/>
                <a:cs typeface="Instrument Sans"/>
              </a:defRPr>
            </a:lvl5pPr>
            <a:lvl6pPr>
              <a:buNone/>
              <a:defRPr sz="2003" b="1">
                <a:solidFill>
                  <a:srgbClr val="182028"/>
                </a:solidFill>
                <a:latin typeface="Instrument Sans"/>
                <a:ea typeface="Instrument Sans"/>
                <a:cs typeface="Instrument Sans"/>
              </a:defRPr>
            </a:lvl6pPr>
            <a:lvl7pPr>
              <a:buNone/>
              <a:defRPr sz="2003" b="1">
                <a:solidFill>
                  <a:srgbClr val="182028"/>
                </a:solidFill>
                <a:latin typeface="Instrument Sans"/>
                <a:ea typeface="Instrument Sans"/>
                <a:cs typeface="Instrument Sans"/>
              </a:defRPr>
            </a:lvl7pPr>
            <a:lvl8pPr>
              <a:buNone/>
              <a:defRPr sz="2003" b="1">
                <a:solidFill>
                  <a:srgbClr val="182028"/>
                </a:solidFill>
                <a:latin typeface="Instrument Sans"/>
                <a:ea typeface="Instrument Sans"/>
                <a:cs typeface="Instrument Sans"/>
              </a:defRPr>
            </a:lvl8pPr>
            <a:lvl9pPr>
              <a:buNone/>
              <a:defRPr sz="2003" b="1">
                <a:solidFill>
                  <a:srgbClr val="182028"/>
                </a:solidFill>
                <a:latin typeface="Instrument Sans"/>
                <a:ea typeface="Instrument Sans"/>
                <a:cs typeface="Instrument Sans"/>
              </a:defRPr>
            </a:lvl9pPr>
          </a:lstStyle>
          <a:p xmlns:a="http://schemas.openxmlformats.org/drawingml/2006/main">
            <a:pPr>
              <a:buNone/>
              <a:defRPr sz="2003" b="1">
                <a:solidFill>
                  <a:srgbClr val="182028"/>
                </a:solidFill>
                <a:latin typeface="Instrument Sans"/>
                <a:ea typeface="Instrument Sans"/>
                <a:cs typeface="Instrument Sans"/>
              </a:defRPr>
            </a:pPr>
            <a:r>
              <a:rPr sz="2003" b="1">
                <a:solidFill>
                  <a:srgbClr val="182028"/>
                </a:solidFill>
                <a:latin typeface="Instrument Sans"/>
                <a:ea typeface="Instrument Sans"/>
                <a:cs typeface="Instrument Sans"/>
              </a:rPr>
              <a:t>External verification services</a:t>
            </a:r>
          </a:p>
        </p:txBody>
      </p:sp>
      <p:sp>
        <p:nvSpPr>
          <p:cNvPr id="204" name="Architecture label: Identity">
            <a:extLst xmlns:a="http://schemas.openxmlformats.org/drawingml/2006/main">
              <a:ext uri="{FF2B5EF4-FFF2-40B4-BE49-F238E27FC236}">
                <a16:creationId xmlns:a16="http://schemas.microsoft.com/office/drawing/2014/main" id="{5BD84CAE-9B75-4670-9B77-C0FB3FF16B97}"/>
              </a:ext>
            </a:extLst>
          </p:cNvPr>
          <p:cNvSpPr>
            <a:spLocks xmlns:a="http://schemas.openxmlformats.org/drawingml/2006/main" noGrp="1"/>
          </p:cNvSpPr>
          <p:nvPr/>
        </p:nvSpPr>
        <p:spPr>
          <a:xfrm xmlns:a="http://schemas.openxmlformats.org/drawingml/2006/main">
            <a:off x="4767349" y="4269659"/>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1">
                <a:solidFill>
                  <a:srgbClr val="182028"/>
                </a:solidFill>
                <a:latin typeface="Instrument Sans"/>
                <a:ea typeface="Instrument Sans"/>
                <a:cs typeface="Instrument Sans"/>
              </a:defRPr>
            </a:defPPr>
            <a:lvl1pPr>
              <a:buNone/>
              <a:defRPr sz="1591" b="1">
                <a:solidFill>
                  <a:srgbClr val="182028"/>
                </a:solidFill>
                <a:latin typeface="Instrument Sans"/>
                <a:ea typeface="Instrument Sans"/>
                <a:cs typeface="Instrument Sans"/>
              </a:defRPr>
            </a:lvl1pPr>
            <a:lvl2pPr>
              <a:buNone/>
              <a:defRPr sz="1591" b="1">
                <a:solidFill>
                  <a:srgbClr val="182028"/>
                </a:solidFill>
                <a:latin typeface="Instrument Sans"/>
                <a:ea typeface="Instrument Sans"/>
                <a:cs typeface="Instrument Sans"/>
              </a:defRPr>
            </a:lvl2pPr>
            <a:lvl3pPr>
              <a:buNone/>
              <a:defRPr sz="1591" b="1">
                <a:solidFill>
                  <a:srgbClr val="182028"/>
                </a:solidFill>
                <a:latin typeface="Instrument Sans"/>
                <a:ea typeface="Instrument Sans"/>
                <a:cs typeface="Instrument Sans"/>
              </a:defRPr>
            </a:lvl3pPr>
            <a:lvl4pPr>
              <a:buNone/>
              <a:defRPr sz="1591" b="1">
                <a:solidFill>
                  <a:srgbClr val="182028"/>
                </a:solidFill>
                <a:latin typeface="Instrument Sans"/>
                <a:ea typeface="Instrument Sans"/>
                <a:cs typeface="Instrument Sans"/>
              </a:defRPr>
            </a:lvl4pPr>
            <a:lvl5pPr>
              <a:buNone/>
              <a:defRPr sz="1591" b="1">
                <a:solidFill>
                  <a:srgbClr val="182028"/>
                </a:solidFill>
                <a:latin typeface="Instrument Sans"/>
                <a:ea typeface="Instrument Sans"/>
                <a:cs typeface="Instrument Sans"/>
              </a:defRPr>
            </a:lvl5pPr>
            <a:lvl6pPr>
              <a:buNone/>
              <a:defRPr sz="1591" b="1">
                <a:solidFill>
                  <a:srgbClr val="182028"/>
                </a:solidFill>
                <a:latin typeface="Instrument Sans"/>
                <a:ea typeface="Instrument Sans"/>
                <a:cs typeface="Instrument Sans"/>
              </a:defRPr>
            </a:lvl6pPr>
            <a:lvl7pPr>
              <a:buNone/>
              <a:defRPr sz="1591" b="1">
                <a:solidFill>
                  <a:srgbClr val="182028"/>
                </a:solidFill>
                <a:latin typeface="Instrument Sans"/>
                <a:ea typeface="Instrument Sans"/>
                <a:cs typeface="Instrument Sans"/>
              </a:defRPr>
            </a:lvl7pPr>
            <a:lvl8pPr>
              <a:buNone/>
              <a:defRPr sz="1591" b="1">
                <a:solidFill>
                  <a:srgbClr val="182028"/>
                </a:solidFill>
                <a:latin typeface="Instrument Sans"/>
                <a:ea typeface="Instrument Sans"/>
                <a:cs typeface="Instrument Sans"/>
              </a:defRPr>
            </a:lvl8pPr>
            <a:lvl9pPr>
              <a:buNone/>
              <a:defRPr sz="1591" b="1">
                <a:solidFill>
                  <a:srgbClr val="182028"/>
                </a:solidFill>
                <a:latin typeface="Instrument Sans"/>
                <a:ea typeface="Instrument Sans"/>
                <a:cs typeface="Instrument Sans"/>
              </a:defRPr>
            </a:lvl9pPr>
          </a:lstStyle>
          <a:p xmlns:a="http://schemas.openxmlformats.org/drawingml/2006/main">
            <a:pPr>
              <a:buNone/>
              <a:defRPr sz="1591" b="1">
                <a:solidFill>
                  <a:srgbClr val="182028"/>
                </a:solidFill>
                <a:latin typeface="Instrument Sans"/>
                <a:ea typeface="Instrument Sans"/>
                <a:cs typeface="Instrument Sans"/>
              </a:defRPr>
            </a:pPr>
            <a:r>
              <a:rPr sz="1591" b="1">
                <a:solidFill>
                  <a:srgbClr val="182028"/>
                </a:solidFill>
                <a:latin typeface="Instrument Sans"/>
                <a:ea typeface="Instrument Sans"/>
                <a:cs typeface="Instrument Sans"/>
              </a:rPr>
              <a:t>Identity</a:t>
            </a:r>
          </a:p>
        </p:txBody>
      </p:sp>
      <p:sp>
        <p:nvSpPr>
          <p:cNvPr id="205" name="Architecture label: Didit">
            <a:extLst xmlns:a="http://schemas.openxmlformats.org/drawingml/2006/main">
              <a:ext uri="{FF2B5EF4-FFF2-40B4-BE49-F238E27FC236}">
                <a16:creationId xmlns:a16="http://schemas.microsoft.com/office/drawing/2014/main" id="{366807E1-386B-4759-813B-D223CD19DF0A}"/>
              </a:ext>
            </a:extLst>
          </p:cNvPr>
          <p:cNvSpPr>
            <a:spLocks xmlns:a="http://schemas.openxmlformats.org/drawingml/2006/main" noGrp="1"/>
          </p:cNvSpPr>
          <p:nvPr/>
        </p:nvSpPr>
        <p:spPr>
          <a:xfrm xmlns:a="http://schemas.openxmlformats.org/drawingml/2006/main">
            <a:off x="4767349" y="4598843"/>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Didit</a:t>
            </a:r>
          </a:p>
        </p:txBody>
      </p:sp>
      <p:sp>
        <p:nvSpPr>
          <p:cNvPr id="206" name="Architecture label: Funds">
            <a:extLst xmlns:a="http://schemas.openxmlformats.org/drawingml/2006/main">
              <a:ext uri="{FF2B5EF4-FFF2-40B4-BE49-F238E27FC236}">
                <a16:creationId xmlns:a16="http://schemas.microsoft.com/office/drawing/2014/main" id="{3C756808-FBB3-40C1-899A-A72EB0F6A093}"/>
              </a:ext>
            </a:extLst>
          </p:cNvPr>
          <p:cNvSpPr>
            <a:spLocks xmlns:a="http://schemas.openxmlformats.org/drawingml/2006/main" noGrp="1"/>
          </p:cNvSpPr>
          <p:nvPr/>
        </p:nvSpPr>
        <p:spPr>
          <a:xfrm xmlns:a="http://schemas.openxmlformats.org/drawingml/2006/main">
            <a:off x="6413269" y="4269659"/>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buNone/>
              <a:defRPr sz="1649" b="1">
                <a:solidFill>
                  <a:srgbClr val="182028"/>
                </a:solidFill>
                <a:latin typeface="Instrument Sans"/>
                <a:ea typeface="Instrument Sans"/>
                <a:cs typeface="Instrument Sans"/>
              </a:defRPr>
            </a:lvl1pPr>
            <a:lvl2pPr>
              <a:buNone/>
              <a:defRPr sz="1649" b="1">
                <a:solidFill>
                  <a:srgbClr val="182028"/>
                </a:solidFill>
                <a:latin typeface="Instrument Sans"/>
                <a:ea typeface="Instrument Sans"/>
                <a:cs typeface="Instrument Sans"/>
              </a:defRPr>
            </a:lvl2pPr>
            <a:lvl3pPr>
              <a:buNone/>
              <a:defRPr sz="1649" b="1">
                <a:solidFill>
                  <a:srgbClr val="182028"/>
                </a:solidFill>
                <a:latin typeface="Instrument Sans"/>
                <a:ea typeface="Instrument Sans"/>
                <a:cs typeface="Instrument Sans"/>
              </a:defRPr>
            </a:lvl3pPr>
            <a:lvl4pPr>
              <a:buNone/>
              <a:defRPr sz="1649" b="1">
                <a:solidFill>
                  <a:srgbClr val="182028"/>
                </a:solidFill>
                <a:latin typeface="Instrument Sans"/>
                <a:ea typeface="Instrument Sans"/>
                <a:cs typeface="Instrument Sans"/>
              </a:defRPr>
            </a:lvl4pPr>
            <a:lvl5pPr>
              <a:buNone/>
              <a:defRPr sz="1649" b="1">
                <a:solidFill>
                  <a:srgbClr val="182028"/>
                </a:solidFill>
                <a:latin typeface="Instrument Sans"/>
                <a:ea typeface="Instrument Sans"/>
                <a:cs typeface="Instrument Sans"/>
              </a:defRPr>
            </a:lvl5pPr>
            <a:lvl6pPr>
              <a:buNone/>
              <a:defRPr sz="1649" b="1">
                <a:solidFill>
                  <a:srgbClr val="182028"/>
                </a:solidFill>
                <a:latin typeface="Instrument Sans"/>
                <a:ea typeface="Instrument Sans"/>
                <a:cs typeface="Instrument Sans"/>
              </a:defRPr>
            </a:lvl6pPr>
            <a:lvl7pPr>
              <a:buNone/>
              <a:defRPr sz="1649" b="1">
                <a:solidFill>
                  <a:srgbClr val="182028"/>
                </a:solidFill>
                <a:latin typeface="Instrument Sans"/>
                <a:ea typeface="Instrument Sans"/>
                <a:cs typeface="Instrument Sans"/>
              </a:defRPr>
            </a:lvl7pPr>
            <a:lvl8pPr>
              <a:buNone/>
              <a:defRPr sz="1649" b="1">
                <a:solidFill>
                  <a:srgbClr val="182028"/>
                </a:solidFill>
                <a:latin typeface="Instrument Sans"/>
                <a:ea typeface="Instrument Sans"/>
                <a:cs typeface="Instrument Sans"/>
              </a:defRPr>
            </a:lvl8pPr>
            <a:lvl9pPr>
              <a:buNone/>
              <a:defRPr sz="1649" b="1">
                <a:solidFill>
                  <a:srgbClr val="182028"/>
                </a:solidFill>
                <a:latin typeface="Instrument Sans"/>
                <a:ea typeface="Instrument Sans"/>
                <a:cs typeface="Instrument Sans"/>
              </a:defRPr>
            </a:lvl9pPr>
          </a:lstStyle>
          <a:p xmlns:a="http://schemas.openxmlformats.org/drawingml/2006/main">
            <a:pPr>
              <a:buNone/>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Funds</a:t>
            </a:r>
          </a:p>
        </p:txBody>
      </p:sp>
      <p:sp>
        <p:nvSpPr>
          <p:cNvPr id="207" name="Architecture label: Reclaim">
            <a:extLst xmlns:a="http://schemas.openxmlformats.org/drawingml/2006/main">
              <a:ext uri="{FF2B5EF4-FFF2-40B4-BE49-F238E27FC236}">
                <a16:creationId xmlns:a16="http://schemas.microsoft.com/office/drawing/2014/main" id="{8BD7BD0A-0A41-45B2-9620-F6AE2A3016CE}"/>
              </a:ext>
            </a:extLst>
          </p:cNvPr>
          <p:cNvSpPr>
            <a:spLocks xmlns:a="http://schemas.openxmlformats.org/drawingml/2006/main" noGrp="1"/>
          </p:cNvSpPr>
          <p:nvPr/>
        </p:nvSpPr>
        <p:spPr>
          <a:xfrm xmlns:a="http://schemas.openxmlformats.org/drawingml/2006/main">
            <a:off x="6413269" y="4598843"/>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Reclaim</a:t>
            </a:r>
          </a:p>
        </p:txBody>
      </p:sp>
      <p:sp>
        <p:nvSpPr>
          <p:cNvPr id="208" name="Architecture label: Property">
            <a:extLst xmlns:a="http://schemas.openxmlformats.org/drawingml/2006/main">
              <a:ext uri="{FF2B5EF4-FFF2-40B4-BE49-F238E27FC236}">
                <a16:creationId xmlns:a16="http://schemas.microsoft.com/office/drawing/2014/main" id="{11036EE1-B83A-44DA-B8A0-2194DE7B5417}"/>
              </a:ext>
            </a:extLst>
          </p:cNvPr>
          <p:cNvSpPr>
            <a:spLocks xmlns:a="http://schemas.openxmlformats.org/drawingml/2006/main" noGrp="1"/>
          </p:cNvSpPr>
          <p:nvPr/>
        </p:nvSpPr>
        <p:spPr>
          <a:xfrm xmlns:a="http://schemas.openxmlformats.org/drawingml/2006/main">
            <a:off x="8059189" y="4269659"/>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1">
                <a:solidFill>
                  <a:srgbClr val="182028"/>
                </a:solidFill>
                <a:latin typeface="Instrument Sans"/>
                <a:ea typeface="Instrument Sans"/>
                <a:cs typeface="Instrument Sans"/>
              </a:defRPr>
            </a:defPPr>
            <a:lvl1pPr>
              <a:buNone/>
              <a:defRPr sz="1591" b="1">
                <a:solidFill>
                  <a:srgbClr val="182028"/>
                </a:solidFill>
                <a:latin typeface="Instrument Sans"/>
                <a:ea typeface="Instrument Sans"/>
                <a:cs typeface="Instrument Sans"/>
              </a:defRPr>
            </a:lvl1pPr>
            <a:lvl2pPr>
              <a:buNone/>
              <a:defRPr sz="1591" b="1">
                <a:solidFill>
                  <a:srgbClr val="182028"/>
                </a:solidFill>
                <a:latin typeface="Instrument Sans"/>
                <a:ea typeface="Instrument Sans"/>
                <a:cs typeface="Instrument Sans"/>
              </a:defRPr>
            </a:lvl2pPr>
            <a:lvl3pPr>
              <a:buNone/>
              <a:defRPr sz="1591" b="1">
                <a:solidFill>
                  <a:srgbClr val="182028"/>
                </a:solidFill>
                <a:latin typeface="Instrument Sans"/>
                <a:ea typeface="Instrument Sans"/>
                <a:cs typeface="Instrument Sans"/>
              </a:defRPr>
            </a:lvl3pPr>
            <a:lvl4pPr>
              <a:buNone/>
              <a:defRPr sz="1591" b="1">
                <a:solidFill>
                  <a:srgbClr val="182028"/>
                </a:solidFill>
                <a:latin typeface="Instrument Sans"/>
                <a:ea typeface="Instrument Sans"/>
                <a:cs typeface="Instrument Sans"/>
              </a:defRPr>
            </a:lvl4pPr>
            <a:lvl5pPr>
              <a:buNone/>
              <a:defRPr sz="1591" b="1">
                <a:solidFill>
                  <a:srgbClr val="182028"/>
                </a:solidFill>
                <a:latin typeface="Instrument Sans"/>
                <a:ea typeface="Instrument Sans"/>
                <a:cs typeface="Instrument Sans"/>
              </a:defRPr>
            </a:lvl5pPr>
            <a:lvl6pPr>
              <a:buNone/>
              <a:defRPr sz="1591" b="1">
                <a:solidFill>
                  <a:srgbClr val="182028"/>
                </a:solidFill>
                <a:latin typeface="Instrument Sans"/>
                <a:ea typeface="Instrument Sans"/>
                <a:cs typeface="Instrument Sans"/>
              </a:defRPr>
            </a:lvl6pPr>
            <a:lvl7pPr>
              <a:buNone/>
              <a:defRPr sz="1591" b="1">
                <a:solidFill>
                  <a:srgbClr val="182028"/>
                </a:solidFill>
                <a:latin typeface="Instrument Sans"/>
                <a:ea typeface="Instrument Sans"/>
                <a:cs typeface="Instrument Sans"/>
              </a:defRPr>
            </a:lvl7pPr>
            <a:lvl8pPr>
              <a:buNone/>
              <a:defRPr sz="1591" b="1">
                <a:solidFill>
                  <a:srgbClr val="182028"/>
                </a:solidFill>
                <a:latin typeface="Instrument Sans"/>
                <a:ea typeface="Instrument Sans"/>
                <a:cs typeface="Instrument Sans"/>
              </a:defRPr>
            </a:lvl8pPr>
            <a:lvl9pPr>
              <a:buNone/>
              <a:defRPr sz="1591" b="1">
                <a:solidFill>
                  <a:srgbClr val="182028"/>
                </a:solidFill>
                <a:latin typeface="Instrument Sans"/>
                <a:ea typeface="Instrument Sans"/>
                <a:cs typeface="Instrument Sans"/>
              </a:defRPr>
            </a:lvl9pPr>
          </a:lstStyle>
          <a:p xmlns:a="http://schemas.openxmlformats.org/drawingml/2006/main">
            <a:pPr>
              <a:buNone/>
              <a:defRPr sz="1591" b="1">
                <a:solidFill>
                  <a:srgbClr val="182028"/>
                </a:solidFill>
                <a:latin typeface="Instrument Sans"/>
                <a:ea typeface="Instrument Sans"/>
                <a:cs typeface="Instrument Sans"/>
              </a:defRPr>
            </a:pPr>
            <a:r>
              <a:rPr sz="1591" b="1">
                <a:solidFill>
                  <a:srgbClr val="182028"/>
                </a:solidFill>
                <a:latin typeface="Instrument Sans"/>
                <a:ea typeface="Instrument Sans"/>
                <a:cs typeface="Instrument Sans"/>
              </a:rPr>
              <a:t>Property</a:t>
            </a:r>
          </a:p>
        </p:txBody>
      </p:sp>
      <p:sp>
        <p:nvSpPr>
          <p:cNvPr id="209" name="Architecture label: Predial Online">
            <a:extLst xmlns:a="http://schemas.openxmlformats.org/drawingml/2006/main">
              <a:ext uri="{FF2B5EF4-FFF2-40B4-BE49-F238E27FC236}">
                <a16:creationId xmlns:a16="http://schemas.microsoft.com/office/drawing/2014/main" id="{59CA891C-B582-484F-AD14-10E6FF327264}"/>
              </a:ext>
            </a:extLst>
          </p:cNvPr>
          <p:cNvSpPr>
            <a:spLocks xmlns:a="http://schemas.openxmlformats.org/drawingml/2006/main" noGrp="1"/>
          </p:cNvSpPr>
          <p:nvPr/>
        </p:nvSpPr>
        <p:spPr>
          <a:xfrm xmlns:a="http://schemas.openxmlformats.org/drawingml/2006/main">
            <a:off x="8059189" y="4598843"/>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buNone/>
              <a:defRPr sz="1532" b="0">
                <a:solidFill>
                  <a:srgbClr val="182028"/>
                </a:solidFill>
                <a:latin typeface="Instrument Sans"/>
                <a:ea typeface="Instrument Sans"/>
                <a:cs typeface="Instrument Sans"/>
              </a:defRPr>
            </a:lvl1pPr>
            <a:lvl2pPr>
              <a:buNone/>
              <a:defRPr sz="1532" b="0">
                <a:solidFill>
                  <a:srgbClr val="182028"/>
                </a:solidFill>
                <a:latin typeface="Instrument Sans"/>
                <a:ea typeface="Instrument Sans"/>
                <a:cs typeface="Instrument Sans"/>
              </a:defRPr>
            </a:lvl2pPr>
            <a:lvl3pPr>
              <a:buNone/>
              <a:defRPr sz="1532" b="0">
                <a:solidFill>
                  <a:srgbClr val="182028"/>
                </a:solidFill>
                <a:latin typeface="Instrument Sans"/>
                <a:ea typeface="Instrument Sans"/>
                <a:cs typeface="Instrument Sans"/>
              </a:defRPr>
            </a:lvl3pPr>
            <a:lvl4pPr>
              <a:buNone/>
              <a:defRPr sz="1532" b="0">
                <a:solidFill>
                  <a:srgbClr val="182028"/>
                </a:solidFill>
                <a:latin typeface="Instrument Sans"/>
                <a:ea typeface="Instrument Sans"/>
                <a:cs typeface="Instrument Sans"/>
              </a:defRPr>
            </a:lvl4pPr>
            <a:lvl5pPr>
              <a:buNone/>
              <a:defRPr sz="1532" b="0">
                <a:solidFill>
                  <a:srgbClr val="182028"/>
                </a:solidFill>
                <a:latin typeface="Instrument Sans"/>
                <a:ea typeface="Instrument Sans"/>
                <a:cs typeface="Instrument Sans"/>
              </a:defRPr>
            </a:lvl5pPr>
            <a:lvl6pPr>
              <a:buNone/>
              <a:defRPr sz="1532" b="0">
                <a:solidFill>
                  <a:srgbClr val="182028"/>
                </a:solidFill>
                <a:latin typeface="Instrument Sans"/>
                <a:ea typeface="Instrument Sans"/>
                <a:cs typeface="Instrument Sans"/>
              </a:defRPr>
            </a:lvl6pPr>
            <a:lvl7pPr>
              <a:buNone/>
              <a:defRPr sz="1532" b="0">
                <a:solidFill>
                  <a:srgbClr val="182028"/>
                </a:solidFill>
                <a:latin typeface="Instrument Sans"/>
                <a:ea typeface="Instrument Sans"/>
                <a:cs typeface="Instrument Sans"/>
              </a:defRPr>
            </a:lvl7pPr>
            <a:lvl8pPr>
              <a:buNone/>
              <a:defRPr sz="1532" b="0">
                <a:solidFill>
                  <a:srgbClr val="182028"/>
                </a:solidFill>
                <a:latin typeface="Instrument Sans"/>
                <a:ea typeface="Instrument Sans"/>
                <a:cs typeface="Instrument Sans"/>
              </a:defRPr>
            </a:lvl8pPr>
            <a:lvl9pPr>
              <a:buNone/>
              <a:defRPr sz="1532" b="0">
                <a:solidFill>
                  <a:srgbClr val="182028"/>
                </a:solidFill>
                <a:latin typeface="Instrument Sans"/>
                <a:ea typeface="Instrument Sans"/>
                <a:cs typeface="Instrument Sans"/>
              </a:defRPr>
            </a:lvl9pPr>
          </a:lstStyle>
          <a:p xmlns:a="http://schemas.openxmlformats.org/drawingml/2006/main">
            <a:pPr>
              <a:buNone/>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Predial Online</a:t>
            </a:r>
          </a:p>
        </p:txBody>
      </p:sp>
      <p:sp>
        <p:nvSpPr>
          <p:cNvPr id="210" name="Architecture label: Credentials">
            <a:extLst xmlns:a="http://schemas.openxmlformats.org/drawingml/2006/main">
              <a:ext uri="{FF2B5EF4-FFF2-40B4-BE49-F238E27FC236}">
                <a16:creationId xmlns:a16="http://schemas.microsoft.com/office/drawing/2014/main" id="{D05900BE-23DB-4DC0-A10E-208A2D35304B}"/>
              </a:ext>
            </a:extLst>
          </p:cNvPr>
          <p:cNvSpPr>
            <a:spLocks xmlns:a="http://schemas.openxmlformats.org/drawingml/2006/main" noGrp="1"/>
          </p:cNvSpPr>
          <p:nvPr/>
        </p:nvSpPr>
        <p:spPr>
          <a:xfrm xmlns:a="http://schemas.openxmlformats.org/drawingml/2006/main">
            <a:off x="9705109" y="4269659"/>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1">
                <a:solidFill>
                  <a:srgbClr val="182028"/>
                </a:solidFill>
                <a:latin typeface="Instrument Sans"/>
                <a:ea typeface="Instrument Sans"/>
                <a:cs typeface="Instrument Sans"/>
              </a:defRPr>
            </a:defPPr>
            <a:lvl1pPr>
              <a:buNone/>
              <a:defRPr sz="1532" b="1">
                <a:solidFill>
                  <a:srgbClr val="182028"/>
                </a:solidFill>
                <a:latin typeface="Instrument Sans"/>
                <a:ea typeface="Instrument Sans"/>
                <a:cs typeface="Instrument Sans"/>
              </a:defRPr>
            </a:lvl1pPr>
            <a:lvl2pPr>
              <a:buNone/>
              <a:defRPr sz="1532" b="1">
                <a:solidFill>
                  <a:srgbClr val="182028"/>
                </a:solidFill>
                <a:latin typeface="Instrument Sans"/>
                <a:ea typeface="Instrument Sans"/>
                <a:cs typeface="Instrument Sans"/>
              </a:defRPr>
            </a:lvl2pPr>
            <a:lvl3pPr>
              <a:buNone/>
              <a:defRPr sz="1532" b="1">
                <a:solidFill>
                  <a:srgbClr val="182028"/>
                </a:solidFill>
                <a:latin typeface="Instrument Sans"/>
                <a:ea typeface="Instrument Sans"/>
                <a:cs typeface="Instrument Sans"/>
              </a:defRPr>
            </a:lvl3pPr>
            <a:lvl4pPr>
              <a:buNone/>
              <a:defRPr sz="1532" b="1">
                <a:solidFill>
                  <a:srgbClr val="182028"/>
                </a:solidFill>
                <a:latin typeface="Instrument Sans"/>
                <a:ea typeface="Instrument Sans"/>
                <a:cs typeface="Instrument Sans"/>
              </a:defRPr>
            </a:lvl4pPr>
            <a:lvl5pPr>
              <a:buNone/>
              <a:defRPr sz="1532" b="1">
                <a:solidFill>
                  <a:srgbClr val="182028"/>
                </a:solidFill>
                <a:latin typeface="Instrument Sans"/>
                <a:ea typeface="Instrument Sans"/>
                <a:cs typeface="Instrument Sans"/>
              </a:defRPr>
            </a:lvl5pPr>
            <a:lvl6pPr>
              <a:buNone/>
              <a:defRPr sz="1532" b="1">
                <a:solidFill>
                  <a:srgbClr val="182028"/>
                </a:solidFill>
                <a:latin typeface="Instrument Sans"/>
                <a:ea typeface="Instrument Sans"/>
                <a:cs typeface="Instrument Sans"/>
              </a:defRPr>
            </a:lvl6pPr>
            <a:lvl7pPr>
              <a:buNone/>
              <a:defRPr sz="1532" b="1">
                <a:solidFill>
                  <a:srgbClr val="182028"/>
                </a:solidFill>
                <a:latin typeface="Instrument Sans"/>
                <a:ea typeface="Instrument Sans"/>
                <a:cs typeface="Instrument Sans"/>
              </a:defRPr>
            </a:lvl7pPr>
            <a:lvl8pPr>
              <a:buNone/>
              <a:defRPr sz="1532" b="1">
                <a:solidFill>
                  <a:srgbClr val="182028"/>
                </a:solidFill>
                <a:latin typeface="Instrument Sans"/>
                <a:ea typeface="Instrument Sans"/>
                <a:cs typeface="Instrument Sans"/>
              </a:defRPr>
            </a:lvl8pPr>
            <a:lvl9pPr>
              <a:buNone/>
              <a:defRPr sz="1532" b="1">
                <a:solidFill>
                  <a:srgbClr val="182028"/>
                </a:solidFill>
                <a:latin typeface="Instrument Sans"/>
                <a:ea typeface="Instrument Sans"/>
                <a:cs typeface="Instrument Sans"/>
              </a:defRPr>
            </a:lvl9pPr>
          </a:lstStyle>
          <a:p xmlns:a="http://schemas.openxmlformats.org/drawingml/2006/main">
            <a:pPr>
              <a:buNone/>
              <a:defRPr sz="1532" b="1">
                <a:solidFill>
                  <a:srgbClr val="182028"/>
                </a:solidFill>
                <a:latin typeface="Instrument Sans"/>
                <a:ea typeface="Instrument Sans"/>
                <a:cs typeface="Instrument Sans"/>
              </a:defRPr>
            </a:pPr>
            <a:r>
              <a:rPr sz="1532" b="1">
                <a:solidFill>
                  <a:srgbClr val="182028"/>
                </a:solidFill>
                <a:latin typeface="Instrument Sans"/>
                <a:ea typeface="Instrument Sans"/>
                <a:cs typeface="Instrument Sans"/>
              </a:rPr>
              <a:t>Credentials</a:t>
            </a:r>
          </a:p>
        </p:txBody>
      </p:sp>
      <p:sp>
        <p:nvSpPr>
          <p:cNvPr id="211" name="Architecture label: ACTA">
            <a:extLst xmlns:a="http://schemas.openxmlformats.org/drawingml/2006/main">
              <a:ext uri="{FF2B5EF4-FFF2-40B4-BE49-F238E27FC236}">
                <a16:creationId xmlns:a16="http://schemas.microsoft.com/office/drawing/2014/main" id="{89858C87-F28D-4939-BA44-A3E66E87B38F}"/>
              </a:ext>
            </a:extLst>
          </p:cNvPr>
          <p:cNvSpPr>
            <a:spLocks xmlns:a="http://schemas.openxmlformats.org/drawingml/2006/main" noGrp="1"/>
          </p:cNvSpPr>
          <p:nvPr/>
        </p:nvSpPr>
        <p:spPr>
          <a:xfrm xmlns:a="http://schemas.openxmlformats.org/drawingml/2006/main">
            <a:off x="9705109" y="4598843"/>
            <a:ext cx="127184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ACTA</a:t>
            </a:r>
          </a:p>
        </p:txBody>
      </p:sp>
      <p:sp>
        <p:nvSpPr>
          <p:cNvPr id="212" name="Architecture label: Cloudflare backend">
            <a:extLst xmlns:a="http://schemas.openxmlformats.org/drawingml/2006/main">
              <a:ext uri="{FF2B5EF4-FFF2-40B4-BE49-F238E27FC236}">
                <a16:creationId xmlns:a16="http://schemas.microsoft.com/office/drawing/2014/main" id="{C10A7DDF-1165-4663-94B2-68237BFF1E5F}"/>
              </a:ext>
            </a:extLst>
          </p:cNvPr>
          <p:cNvSpPr>
            <a:spLocks xmlns:a="http://schemas.openxmlformats.org/drawingml/2006/main" noGrp="1"/>
          </p:cNvSpPr>
          <p:nvPr/>
        </p:nvSpPr>
        <p:spPr>
          <a:xfrm xmlns:a="http://schemas.openxmlformats.org/drawingml/2006/main">
            <a:off x="4729942" y="5825802"/>
            <a:ext cx="6284422" cy="389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21" b="1">
                <a:solidFill>
                  <a:srgbClr val="182028"/>
                </a:solidFill>
                <a:latin typeface="Instrument Sans"/>
                <a:ea typeface="Instrument Sans"/>
                <a:cs typeface="Instrument Sans"/>
              </a:defRPr>
            </a:defPPr>
            <a:lvl1pPr>
              <a:buNone/>
              <a:defRPr sz="2121" b="1">
                <a:solidFill>
                  <a:srgbClr val="182028"/>
                </a:solidFill>
                <a:latin typeface="Instrument Sans"/>
                <a:ea typeface="Instrument Sans"/>
                <a:cs typeface="Instrument Sans"/>
              </a:defRPr>
            </a:lvl1pPr>
            <a:lvl2pPr>
              <a:buNone/>
              <a:defRPr sz="2121" b="1">
                <a:solidFill>
                  <a:srgbClr val="182028"/>
                </a:solidFill>
                <a:latin typeface="Instrument Sans"/>
                <a:ea typeface="Instrument Sans"/>
                <a:cs typeface="Instrument Sans"/>
              </a:defRPr>
            </a:lvl2pPr>
            <a:lvl3pPr>
              <a:buNone/>
              <a:defRPr sz="2121" b="1">
                <a:solidFill>
                  <a:srgbClr val="182028"/>
                </a:solidFill>
                <a:latin typeface="Instrument Sans"/>
                <a:ea typeface="Instrument Sans"/>
                <a:cs typeface="Instrument Sans"/>
              </a:defRPr>
            </a:lvl3pPr>
            <a:lvl4pPr>
              <a:buNone/>
              <a:defRPr sz="2121" b="1">
                <a:solidFill>
                  <a:srgbClr val="182028"/>
                </a:solidFill>
                <a:latin typeface="Instrument Sans"/>
                <a:ea typeface="Instrument Sans"/>
                <a:cs typeface="Instrument Sans"/>
              </a:defRPr>
            </a:lvl4pPr>
            <a:lvl5pPr>
              <a:buNone/>
              <a:defRPr sz="2121" b="1">
                <a:solidFill>
                  <a:srgbClr val="182028"/>
                </a:solidFill>
                <a:latin typeface="Instrument Sans"/>
                <a:ea typeface="Instrument Sans"/>
                <a:cs typeface="Instrument Sans"/>
              </a:defRPr>
            </a:lvl5pPr>
            <a:lvl6pPr>
              <a:buNone/>
              <a:defRPr sz="2121" b="1">
                <a:solidFill>
                  <a:srgbClr val="182028"/>
                </a:solidFill>
                <a:latin typeface="Instrument Sans"/>
                <a:ea typeface="Instrument Sans"/>
                <a:cs typeface="Instrument Sans"/>
              </a:defRPr>
            </a:lvl6pPr>
            <a:lvl7pPr>
              <a:buNone/>
              <a:defRPr sz="2121" b="1">
                <a:solidFill>
                  <a:srgbClr val="182028"/>
                </a:solidFill>
                <a:latin typeface="Instrument Sans"/>
                <a:ea typeface="Instrument Sans"/>
                <a:cs typeface="Instrument Sans"/>
              </a:defRPr>
            </a:lvl7pPr>
            <a:lvl8pPr>
              <a:buNone/>
              <a:defRPr sz="2121" b="1">
                <a:solidFill>
                  <a:srgbClr val="182028"/>
                </a:solidFill>
                <a:latin typeface="Instrument Sans"/>
                <a:ea typeface="Instrument Sans"/>
                <a:cs typeface="Instrument Sans"/>
              </a:defRPr>
            </a:lvl8pPr>
            <a:lvl9pPr>
              <a:buNone/>
              <a:defRPr sz="2121" b="1">
                <a:solidFill>
                  <a:srgbClr val="182028"/>
                </a:solidFill>
                <a:latin typeface="Instrument Sans"/>
                <a:ea typeface="Instrument Sans"/>
                <a:cs typeface="Instrument Sans"/>
              </a:defRPr>
            </a:lvl9pPr>
          </a:lstStyle>
          <a:p xmlns:a="http://schemas.openxmlformats.org/drawingml/2006/main">
            <a:pPr>
              <a:buNone/>
              <a:defRPr sz="2121" b="1">
                <a:solidFill>
                  <a:srgbClr val="182028"/>
                </a:solidFill>
                <a:latin typeface="Instrument Sans"/>
                <a:ea typeface="Instrument Sans"/>
                <a:cs typeface="Instrument Sans"/>
              </a:defRPr>
            </a:pPr>
            <a:r>
              <a:rPr sz="2121" b="1">
                <a:solidFill>
                  <a:srgbClr val="182028"/>
                </a:solidFill>
                <a:latin typeface="Instrument Sans"/>
                <a:ea typeface="Instrument Sans"/>
                <a:cs typeface="Instrument Sans"/>
              </a:rPr>
              <a:t>Cloudflare backend</a:t>
            </a:r>
          </a:p>
        </p:txBody>
      </p:sp>
      <p:sp>
        <p:nvSpPr>
          <p:cNvPr id="213" name="Architecture label: Workers API / issuer adapters / access control">
            <a:extLst xmlns:a="http://schemas.openxmlformats.org/drawingml/2006/main">
              <a:ext uri="{FF2B5EF4-FFF2-40B4-BE49-F238E27FC236}">
                <a16:creationId xmlns:a16="http://schemas.microsoft.com/office/drawing/2014/main" id="{667AA54B-1000-4847-ADFF-E7626D32056F}"/>
              </a:ext>
            </a:extLst>
          </p:cNvPr>
          <p:cNvSpPr>
            <a:spLocks xmlns:a="http://schemas.openxmlformats.org/drawingml/2006/main" noGrp="1"/>
          </p:cNvSpPr>
          <p:nvPr/>
        </p:nvSpPr>
        <p:spPr>
          <a:xfrm xmlns:a="http://schemas.openxmlformats.org/drawingml/2006/main">
            <a:off x="4729942" y="6207356"/>
            <a:ext cx="6284422"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Workers API / issuer adapters / access control</a:t>
            </a:r>
          </a:p>
        </p:txBody>
      </p:sp>
      <p:sp>
        <p:nvSpPr>
          <p:cNvPr id="214" name="Architecture label: Buyer verification">
            <a:extLst xmlns:a="http://schemas.openxmlformats.org/drawingml/2006/main">
              <a:ext uri="{FF2B5EF4-FFF2-40B4-BE49-F238E27FC236}">
                <a16:creationId xmlns:a16="http://schemas.microsoft.com/office/drawing/2014/main" id="{5892B7C6-A0DF-4A4C-AAFB-BD61739A9126}"/>
              </a:ext>
            </a:extLst>
          </p:cNvPr>
          <p:cNvSpPr>
            <a:spLocks xmlns:a="http://schemas.openxmlformats.org/drawingml/2006/main" noGrp="1"/>
          </p:cNvSpPr>
          <p:nvPr/>
        </p:nvSpPr>
        <p:spPr>
          <a:xfrm xmlns:a="http://schemas.openxmlformats.org/drawingml/2006/main">
            <a:off x="4767349" y="6701132"/>
            <a:ext cx="187036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buNone/>
              <a:defRPr sz="1649" b="1">
                <a:solidFill>
                  <a:srgbClr val="182028"/>
                </a:solidFill>
                <a:latin typeface="Instrument Sans"/>
                <a:ea typeface="Instrument Sans"/>
                <a:cs typeface="Instrument Sans"/>
              </a:defRPr>
            </a:lvl1pPr>
            <a:lvl2pPr>
              <a:buNone/>
              <a:defRPr sz="1649" b="1">
                <a:solidFill>
                  <a:srgbClr val="182028"/>
                </a:solidFill>
                <a:latin typeface="Instrument Sans"/>
                <a:ea typeface="Instrument Sans"/>
                <a:cs typeface="Instrument Sans"/>
              </a:defRPr>
            </a:lvl2pPr>
            <a:lvl3pPr>
              <a:buNone/>
              <a:defRPr sz="1649" b="1">
                <a:solidFill>
                  <a:srgbClr val="182028"/>
                </a:solidFill>
                <a:latin typeface="Instrument Sans"/>
                <a:ea typeface="Instrument Sans"/>
                <a:cs typeface="Instrument Sans"/>
              </a:defRPr>
            </a:lvl3pPr>
            <a:lvl4pPr>
              <a:buNone/>
              <a:defRPr sz="1649" b="1">
                <a:solidFill>
                  <a:srgbClr val="182028"/>
                </a:solidFill>
                <a:latin typeface="Instrument Sans"/>
                <a:ea typeface="Instrument Sans"/>
                <a:cs typeface="Instrument Sans"/>
              </a:defRPr>
            </a:lvl4pPr>
            <a:lvl5pPr>
              <a:buNone/>
              <a:defRPr sz="1649" b="1">
                <a:solidFill>
                  <a:srgbClr val="182028"/>
                </a:solidFill>
                <a:latin typeface="Instrument Sans"/>
                <a:ea typeface="Instrument Sans"/>
                <a:cs typeface="Instrument Sans"/>
              </a:defRPr>
            </a:lvl5pPr>
            <a:lvl6pPr>
              <a:buNone/>
              <a:defRPr sz="1649" b="1">
                <a:solidFill>
                  <a:srgbClr val="182028"/>
                </a:solidFill>
                <a:latin typeface="Instrument Sans"/>
                <a:ea typeface="Instrument Sans"/>
                <a:cs typeface="Instrument Sans"/>
              </a:defRPr>
            </a:lvl6pPr>
            <a:lvl7pPr>
              <a:buNone/>
              <a:defRPr sz="1649" b="1">
                <a:solidFill>
                  <a:srgbClr val="182028"/>
                </a:solidFill>
                <a:latin typeface="Instrument Sans"/>
                <a:ea typeface="Instrument Sans"/>
                <a:cs typeface="Instrument Sans"/>
              </a:defRPr>
            </a:lvl7pPr>
            <a:lvl8pPr>
              <a:buNone/>
              <a:defRPr sz="1649" b="1">
                <a:solidFill>
                  <a:srgbClr val="182028"/>
                </a:solidFill>
                <a:latin typeface="Instrument Sans"/>
                <a:ea typeface="Instrument Sans"/>
                <a:cs typeface="Instrument Sans"/>
              </a:defRPr>
            </a:lvl8pPr>
            <a:lvl9pPr>
              <a:buNone/>
              <a:defRPr sz="1649" b="1">
                <a:solidFill>
                  <a:srgbClr val="182028"/>
                </a:solidFill>
                <a:latin typeface="Instrument Sans"/>
                <a:ea typeface="Instrument Sans"/>
                <a:cs typeface="Instrument Sans"/>
              </a:defRPr>
            </a:lvl9pPr>
          </a:lstStyle>
          <a:p xmlns:a="http://schemas.openxmlformats.org/drawingml/2006/main">
            <a:pPr>
              <a:buNone/>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Buyer verification</a:t>
            </a:r>
          </a:p>
        </p:txBody>
      </p:sp>
      <p:sp>
        <p:nvSpPr>
          <p:cNvPr id="215" name="Architecture label: Funds credentials">
            <a:extLst xmlns:a="http://schemas.openxmlformats.org/drawingml/2006/main">
              <a:ext uri="{FF2B5EF4-FFF2-40B4-BE49-F238E27FC236}">
                <a16:creationId xmlns:a16="http://schemas.microsoft.com/office/drawing/2014/main" id="{A2D14DB7-3BC0-454B-9B66-FC723A6F7F13}"/>
              </a:ext>
            </a:extLst>
          </p:cNvPr>
          <p:cNvSpPr>
            <a:spLocks xmlns:a="http://schemas.openxmlformats.org/drawingml/2006/main" noGrp="1"/>
          </p:cNvSpPr>
          <p:nvPr/>
        </p:nvSpPr>
        <p:spPr>
          <a:xfrm xmlns:a="http://schemas.openxmlformats.org/drawingml/2006/main">
            <a:off x="4767349" y="7060242"/>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Funds credentials</a:t>
            </a:r>
          </a:p>
        </p:txBody>
      </p:sp>
      <p:sp>
        <p:nvSpPr>
          <p:cNvPr id="216" name="Architecture label: Renew / revoke">
            <a:extLst xmlns:a="http://schemas.openxmlformats.org/drawingml/2006/main">
              <a:ext uri="{FF2B5EF4-FFF2-40B4-BE49-F238E27FC236}">
                <a16:creationId xmlns:a16="http://schemas.microsoft.com/office/drawing/2014/main" id="{1FE956E7-8AE8-41D5-BA27-C36E0214F906}"/>
              </a:ext>
            </a:extLst>
          </p:cNvPr>
          <p:cNvSpPr>
            <a:spLocks xmlns:a="http://schemas.openxmlformats.org/drawingml/2006/main" noGrp="1"/>
          </p:cNvSpPr>
          <p:nvPr/>
        </p:nvSpPr>
        <p:spPr>
          <a:xfrm xmlns:a="http://schemas.openxmlformats.org/drawingml/2006/main">
            <a:off x="4767349" y="7359500"/>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Renew / revoke</a:t>
            </a:r>
          </a:p>
        </p:txBody>
      </p:sp>
      <p:sp>
        <p:nvSpPr>
          <p:cNvPr id="217" name="Architecture label: Seller verification">
            <a:extLst xmlns:a="http://schemas.openxmlformats.org/drawingml/2006/main">
              <a:ext uri="{FF2B5EF4-FFF2-40B4-BE49-F238E27FC236}">
                <a16:creationId xmlns:a16="http://schemas.microsoft.com/office/drawing/2014/main" id="{D513F4D4-EBD4-4861-8592-9355C7B64389}"/>
              </a:ext>
            </a:extLst>
          </p:cNvPr>
          <p:cNvSpPr>
            <a:spLocks xmlns:a="http://schemas.openxmlformats.org/drawingml/2006/main" noGrp="1"/>
          </p:cNvSpPr>
          <p:nvPr/>
        </p:nvSpPr>
        <p:spPr>
          <a:xfrm xmlns:a="http://schemas.openxmlformats.org/drawingml/2006/main">
            <a:off x="6936971" y="6701132"/>
            <a:ext cx="187036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buNone/>
              <a:defRPr sz="1649" b="1">
                <a:solidFill>
                  <a:srgbClr val="182028"/>
                </a:solidFill>
                <a:latin typeface="Instrument Sans"/>
                <a:ea typeface="Instrument Sans"/>
                <a:cs typeface="Instrument Sans"/>
              </a:defRPr>
            </a:lvl1pPr>
            <a:lvl2pPr>
              <a:buNone/>
              <a:defRPr sz="1649" b="1">
                <a:solidFill>
                  <a:srgbClr val="182028"/>
                </a:solidFill>
                <a:latin typeface="Instrument Sans"/>
                <a:ea typeface="Instrument Sans"/>
                <a:cs typeface="Instrument Sans"/>
              </a:defRPr>
            </a:lvl2pPr>
            <a:lvl3pPr>
              <a:buNone/>
              <a:defRPr sz="1649" b="1">
                <a:solidFill>
                  <a:srgbClr val="182028"/>
                </a:solidFill>
                <a:latin typeface="Instrument Sans"/>
                <a:ea typeface="Instrument Sans"/>
                <a:cs typeface="Instrument Sans"/>
              </a:defRPr>
            </a:lvl3pPr>
            <a:lvl4pPr>
              <a:buNone/>
              <a:defRPr sz="1649" b="1">
                <a:solidFill>
                  <a:srgbClr val="182028"/>
                </a:solidFill>
                <a:latin typeface="Instrument Sans"/>
                <a:ea typeface="Instrument Sans"/>
                <a:cs typeface="Instrument Sans"/>
              </a:defRPr>
            </a:lvl4pPr>
            <a:lvl5pPr>
              <a:buNone/>
              <a:defRPr sz="1649" b="1">
                <a:solidFill>
                  <a:srgbClr val="182028"/>
                </a:solidFill>
                <a:latin typeface="Instrument Sans"/>
                <a:ea typeface="Instrument Sans"/>
                <a:cs typeface="Instrument Sans"/>
              </a:defRPr>
            </a:lvl5pPr>
            <a:lvl6pPr>
              <a:buNone/>
              <a:defRPr sz="1649" b="1">
                <a:solidFill>
                  <a:srgbClr val="182028"/>
                </a:solidFill>
                <a:latin typeface="Instrument Sans"/>
                <a:ea typeface="Instrument Sans"/>
                <a:cs typeface="Instrument Sans"/>
              </a:defRPr>
            </a:lvl6pPr>
            <a:lvl7pPr>
              <a:buNone/>
              <a:defRPr sz="1649" b="1">
                <a:solidFill>
                  <a:srgbClr val="182028"/>
                </a:solidFill>
                <a:latin typeface="Instrument Sans"/>
                <a:ea typeface="Instrument Sans"/>
                <a:cs typeface="Instrument Sans"/>
              </a:defRPr>
            </a:lvl7pPr>
            <a:lvl8pPr>
              <a:buNone/>
              <a:defRPr sz="1649" b="1">
                <a:solidFill>
                  <a:srgbClr val="182028"/>
                </a:solidFill>
                <a:latin typeface="Instrument Sans"/>
                <a:ea typeface="Instrument Sans"/>
                <a:cs typeface="Instrument Sans"/>
              </a:defRPr>
            </a:lvl8pPr>
            <a:lvl9pPr>
              <a:buNone/>
              <a:defRPr sz="1649" b="1">
                <a:solidFill>
                  <a:srgbClr val="182028"/>
                </a:solidFill>
                <a:latin typeface="Instrument Sans"/>
                <a:ea typeface="Instrument Sans"/>
                <a:cs typeface="Instrument Sans"/>
              </a:defRPr>
            </a:lvl9pPr>
          </a:lstStyle>
          <a:p xmlns:a="http://schemas.openxmlformats.org/drawingml/2006/main">
            <a:pPr>
              <a:buNone/>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Seller verification</a:t>
            </a:r>
          </a:p>
        </p:txBody>
      </p:sp>
      <p:sp>
        <p:nvSpPr>
          <p:cNvPr id="218" name="Architecture label: Identity + mandate">
            <a:extLst xmlns:a="http://schemas.openxmlformats.org/drawingml/2006/main">
              <a:ext uri="{FF2B5EF4-FFF2-40B4-BE49-F238E27FC236}">
                <a16:creationId xmlns:a16="http://schemas.microsoft.com/office/drawing/2014/main" id="{A17EFB61-B4F5-494D-8A3C-3CD91CCF010F}"/>
              </a:ext>
            </a:extLst>
          </p:cNvPr>
          <p:cNvSpPr>
            <a:spLocks xmlns:a="http://schemas.openxmlformats.org/drawingml/2006/main" noGrp="1"/>
          </p:cNvSpPr>
          <p:nvPr/>
        </p:nvSpPr>
        <p:spPr>
          <a:xfrm xmlns:a="http://schemas.openxmlformats.org/drawingml/2006/main">
            <a:off x="6936971" y="7060242"/>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Identity + mandate</a:t>
            </a:r>
          </a:p>
        </p:txBody>
      </p:sp>
      <p:sp>
        <p:nvSpPr>
          <p:cNvPr id="219" name="Architecture label: Evidence review">
            <a:extLst xmlns:a="http://schemas.openxmlformats.org/drawingml/2006/main">
              <a:ext uri="{FF2B5EF4-FFF2-40B4-BE49-F238E27FC236}">
                <a16:creationId xmlns:a16="http://schemas.microsoft.com/office/drawing/2014/main" id="{B1A0A481-6A69-4D8C-BD02-F9E0295F4366}"/>
              </a:ext>
            </a:extLst>
          </p:cNvPr>
          <p:cNvSpPr>
            <a:spLocks xmlns:a="http://schemas.openxmlformats.org/drawingml/2006/main" noGrp="1"/>
          </p:cNvSpPr>
          <p:nvPr/>
        </p:nvSpPr>
        <p:spPr>
          <a:xfrm xmlns:a="http://schemas.openxmlformats.org/drawingml/2006/main">
            <a:off x="6936971" y="7359500"/>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Evidence review</a:t>
            </a:r>
          </a:p>
        </p:txBody>
      </p:sp>
      <p:sp>
        <p:nvSpPr>
          <p:cNvPr id="220" name="Architecture label: Deal access">
            <a:extLst xmlns:a="http://schemas.openxmlformats.org/drawingml/2006/main">
              <a:ext uri="{FF2B5EF4-FFF2-40B4-BE49-F238E27FC236}">
                <a16:creationId xmlns:a16="http://schemas.microsoft.com/office/drawing/2014/main" id="{29EC4737-B9F4-4D78-BEFD-FE231051B913}"/>
              </a:ext>
            </a:extLst>
          </p:cNvPr>
          <p:cNvSpPr>
            <a:spLocks xmlns:a="http://schemas.openxmlformats.org/drawingml/2006/main" noGrp="1"/>
          </p:cNvSpPr>
          <p:nvPr/>
        </p:nvSpPr>
        <p:spPr>
          <a:xfrm xmlns:a="http://schemas.openxmlformats.org/drawingml/2006/main">
            <a:off x="9106593" y="6701132"/>
            <a:ext cx="1870364"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buNone/>
              <a:defRPr sz="1649" b="1">
                <a:solidFill>
                  <a:srgbClr val="182028"/>
                </a:solidFill>
                <a:latin typeface="Instrument Sans"/>
                <a:ea typeface="Instrument Sans"/>
                <a:cs typeface="Instrument Sans"/>
              </a:defRPr>
            </a:lvl1pPr>
            <a:lvl2pPr>
              <a:buNone/>
              <a:defRPr sz="1649" b="1">
                <a:solidFill>
                  <a:srgbClr val="182028"/>
                </a:solidFill>
                <a:latin typeface="Instrument Sans"/>
                <a:ea typeface="Instrument Sans"/>
                <a:cs typeface="Instrument Sans"/>
              </a:defRPr>
            </a:lvl2pPr>
            <a:lvl3pPr>
              <a:buNone/>
              <a:defRPr sz="1649" b="1">
                <a:solidFill>
                  <a:srgbClr val="182028"/>
                </a:solidFill>
                <a:latin typeface="Instrument Sans"/>
                <a:ea typeface="Instrument Sans"/>
                <a:cs typeface="Instrument Sans"/>
              </a:defRPr>
            </a:lvl3pPr>
            <a:lvl4pPr>
              <a:buNone/>
              <a:defRPr sz="1649" b="1">
                <a:solidFill>
                  <a:srgbClr val="182028"/>
                </a:solidFill>
                <a:latin typeface="Instrument Sans"/>
                <a:ea typeface="Instrument Sans"/>
                <a:cs typeface="Instrument Sans"/>
              </a:defRPr>
            </a:lvl4pPr>
            <a:lvl5pPr>
              <a:buNone/>
              <a:defRPr sz="1649" b="1">
                <a:solidFill>
                  <a:srgbClr val="182028"/>
                </a:solidFill>
                <a:latin typeface="Instrument Sans"/>
                <a:ea typeface="Instrument Sans"/>
                <a:cs typeface="Instrument Sans"/>
              </a:defRPr>
            </a:lvl5pPr>
            <a:lvl6pPr>
              <a:buNone/>
              <a:defRPr sz="1649" b="1">
                <a:solidFill>
                  <a:srgbClr val="182028"/>
                </a:solidFill>
                <a:latin typeface="Instrument Sans"/>
                <a:ea typeface="Instrument Sans"/>
                <a:cs typeface="Instrument Sans"/>
              </a:defRPr>
            </a:lvl6pPr>
            <a:lvl7pPr>
              <a:buNone/>
              <a:defRPr sz="1649" b="1">
                <a:solidFill>
                  <a:srgbClr val="182028"/>
                </a:solidFill>
                <a:latin typeface="Instrument Sans"/>
                <a:ea typeface="Instrument Sans"/>
                <a:cs typeface="Instrument Sans"/>
              </a:defRPr>
            </a:lvl7pPr>
            <a:lvl8pPr>
              <a:buNone/>
              <a:defRPr sz="1649" b="1">
                <a:solidFill>
                  <a:srgbClr val="182028"/>
                </a:solidFill>
                <a:latin typeface="Instrument Sans"/>
                <a:ea typeface="Instrument Sans"/>
                <a:cs typeface="Instrument Sans"/>
              </a:defRPr>
            </a:lvl8pPr>
            <a:lvl9pPr>
              <a:buNone/>
              <a:defRPr sz="1649" b="1">
                <a:solidFill>
                  <a:srgbClr val="182028"/>
                </a:solidFill>
                <a:latin typeface="Instrument Sans"/>
                <a:ea typeface="Instrument Sans"/>
                <a:cs typeface="Instrument Sans"/>
              </a:defRPr>
            </a:lvl9pPr>
          </a:lstStyle>
          <a:p xmlns:a="http://schemas.openxmlformats.org/drawingml/2006/main">
            <a:pPr>
              <a:buNone/>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Deal access</a:t>
            </a:r>
          </a:p>
        </p:txBody>
      </p:sp>
      <p:sp>
        <p:nvSpPr>
          <p:cNvPr id="221" name="Architecture label: Rules + consent">
            <a:extLst xmlns:a="http://schemas.openxmlformats.org/drawingml/2006/main">
              <a:ext uri="{FF2B5EF4-FFF2-40B4-BE49-F238E27FC236}">
                <a16:creationId xmlns:a16="http://schemas.microsoft.com/office/drawing/2014/main" id="{EA53D144-A44A-4706-BDBE-24C47D92E30A}"/>
              </a:ext>
            </a:extLst>
          </p:cNvPr>
          <p:cNvSpPr>
            <a:spLocks xmlns:a="http://schemas.openxmlformats.org/drawingml/2006/main" noGrp="1"/>
          </p:cNvSpPr>
          <p:nvPr/>
        </p:nvSpPr>
        <p:spPr>
          <a:xfrm xmlns:a="http://schemas.openxmlformats.org/drawingml/2006/main">
            <a:off x="9106593" y="7060242"/>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Rules + consent</a:t>
            </a:r>
          </a:p>
        </p:txBody>
      </p:sp>
      <p:sp>
        <p:nvSpPr>
          <p:cNvPr id="222" name="Architecture label: Private data room">
            <a:extLst xmlns:a="http://schemas.openxmlformats.org/drawingml/2006/main">
              <a:ext uri="{FF2B5EF4-FFF2-40B4-BE49-F238E27FC236}">
                <a16:creationId xmlns:a16="http://schemas.microsoft.com/office/drawing/2014/main" id="{960869FD-9384-41DF-A23B-48EC8EC9936D}"/>
              </a:ext>
            </a:extLst>
          </p:cNvPr>
          <p:cNvSpPr>
            <a:spLocks xmlns:a="http://schemas.openxmlformats.org/drawingml/2006/main" noGrp="1"/>
          </p:cNvSpPr>
          <p:nvPr/>
        </p:nvSpPr>
        <p:spPr>
          <a:xfrm xmlns:a="http://schemas.openxmlformats.org/drawingml/2006/main">
            <a:off x="9106593" y="7359500"/>
            <a:ext cx="1870364"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Private data room</a:t>
            </a:r>
          </a:p>
        </p:txBody>
      </p:sp>
      <p:sp>
        <p:nvSpPr>
          <p:cNvPr id="223" name="Architecture label: D1 / Records &amp; audit">
            <a:extLst xmlns:a="http://schemas.openxmlformats.org/drawingml/2006/main">
              <a:ext uri="{FF2B5EF4-FFF2-40B4-BE49-F238E27FC236}">
                <a16:creationId xmlns:a16="http://schemas.microsoft.com/office/drawing/2014/main" id="{37442B3E-97BC-494C-935A-24DEAA4DAC4C}"/>
              </a:ext>
            </a:extLst>
          </p:cNvPr>
          <p:cNvSpPr>
            <a:spLocks xmlns:a="http://schemas.openxmlformats.org/drawingml/2006/main" noGrp="1"/>
          </p:cNvSpPr>
          <p:nvPr/>
        </p:nvSpPr>
        <p:spPr>
          <a:xfrm xmlns:a="http://schemas.openxmlformats.org/drawingml/2006/main">
            <a:off x="4767349" y="7860757"/>
            <a:ext cx="291776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buNone/>
              <a:defRPr sz="1532" b="0">
                <a:solidFill>
                  <a:srgbClr val="182028"/>
                </a:solidFill>
                <a:latin typeface="Instrument Sans"/>
                <a:ea typeface="Instrument Sans"/>
                <a:cs typeface="Instrument Sans"/>
              </a:defRPr>
            </a:lvl1pPr>
            <a:lvl2pPr>
              <a:buNone/>
              <a:defRPr sz="1532" b="0">
                <a:solidFill>
                  <a:srgbClr val="182028"/>
                </a:solidFill>
                <a:latin typeface="Instrument Sans"/>
                <a:ea typeface="Instrument Sans"/>
                <a:cs typeface="Instrument Sans"/>
              </a:defRPr>
            </a:lvl2pPr>
            <a:lvl3pPr>
              <a:buNone/>
              <a:defRPr sz="1532" b="0">
                <a:solidFill>
                  <a:srgbClr val="182028"/>
                </a:solidFill>
                <a:latin typeface="Instrument Sans"/>
                <a:ea typeface="Instrument Sans"/>
                <a:cs typeface="Instrument Sans"/>
              </a:defRPr>
            </a:lvl3pPr>
            <a:lvl4pPr>
              <a:buNone/>
              <a:defRPr sz="1532" b="0">
                <a:solidFill>
                  <a:srgbClr val="182028"/>
                </a:solidFill>
                <a:latin typeface="Instrument Sans"/>
                <a:ea typeface="Instrument Sans"/>
                <a:cs typeface="Instrument Sans"/>
              </a:defRPr>
            </a:lvl4pPr>
            <a:lvl5pPr>
              <a:buNone/>
              <a:defRPr sz="1532" b="0">
                <a:solidFill>
                  <a:srgbClr val="182028"/>
                </a:solidFill>
                <a:latin typeface="Instrument Sans"/>
                <a:ea typeface="Instrument Sans"/>
                <a:cs typeface="Instrument Sans"/>
              </a:defRPr>
            </a:lvl5pPr>
            <a:lvl6pPr>
              <a:buNone/>
              <a:defRPr sz="1532" b="0">
                <a:solidFill>
                  <a:srgbClr val="182028"/>
                </a:solidFill>
                <a:latin typeface="Instrument Sans"/>
                <a:ea typeface="Instrument Sans"/>
                <a:cs typeface="Instrument Sans"/>
              </a:defRPr>
            </a:lvl6pPr>
            <a:lvl7pPr>
              <a:buNone/>
              <a:defRPr sz="1532" b="0">
                <a:solidFill>
                  <a:srgbClr val="182028"/>
                </a:solidFill>
                <a:latin typeface="Instrument Sans"/>
                <a:ea typeface="Instrument Sans"/>
                <a:cs typeface="Instrument Sans"/>
              </a:defRPr>
            </a:lvl7pPr>
            <a:lvl8pPr>
              <a:buNone/>
              <a:defRPr sz="1532" b="0">
                <a:solidFill>
                  <a:srgbClr val="182028"/>
                </a:solidFill>
                <a:latin typeface="Instrument Sans"/>
                <a:ea typeface="Instrument Sans"/>
                <a:cs typeface="Instrument Sans"/>
              </a:defRPr>
            </a:lvl8pPr>
            <a:lvl9pPr>
              <a:buNone/>
              <a:defRPr sz="1532" b="0">
                <a:solidFill>
                  <a:srgbClr val="182028"/>
                </a:solidFill>
                <a:latin typeface="Instrument Sans"/>
                <a:ea typeface="Instrument Sans"/>
                <a:cs typeface="Instrument Sans"/>
              </a:defRPr>
            </a:lvl9pPr>
          </a:lstStyle>
          <a:p xmlns:a="http://schemas.openxmlformats.org/drawingml/2006/main">
            <a:pPr>
              <a:buNone/>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D1 / Records &amp; audit</a:t>
            </a:r>
          </a:p>
        </p:txBody>
      </p:sp>
      <p:sp>
        <p:nvSpPr>
          <p:cNvPr id="224" name="Architecture label: R2 / Encrypted documents">
            <a:extLst xmlns:a="http://schemas.openxmlformats.org/drawingml/2006/main">
              <a:ext uri="{FF2B5EF4-FFF2-40B4-BE49-F238E27FC236}">
                <a16:creationId xmlns:a16="http://schemas.microsoft.com/office/drawing/2014/main" id="{F735E42B-D661-4AB5-A1AE-328A9AC04E6A}"/>
              </a:ext>
            </a:extLst>
          </p:cNvPr>
          <p:cNvSpPr>
            <a:spLocks xmlns:a="http://schemas.openxmlformats.org/drawingml/2006/main" noGrp="1"/>
          </p:cNvSpPr>
          <p:nvPr/>
        </p:nvSpPr>
        <p:spPr>
          <a:xfrm xmlns:a="http://schemas.openxmlformats.org/drawingml/2006/main">
            <a:off x="8059189" y="7860757"/>
            <a:ext cx="2917767"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buNone/>
              <a:defRPr sz="1532" b="0">
                <a:solidFill>
                  <a:srgbClr val="182028"/>
                </a:solidFill>
                <a:latin typeface="Instrument Sans"/>
                <a:ea typeface="Instrument Sans"/>
                <a:cs typeface="Instrument Sans"/>
              </a:defRPr>
            </a:lvl1pPr>
            <a:lvl2pPr>
              <a:buNone/>
              <a:defRPr sz="1532" b="0">
                <a:solidFill>
                  <a:srgbClr val="182028"/>
                </a:solidFill>
                <a:latin typeface="Instrument Sans"/>
                <a:ea typeface="Instrument Sans"/>
                <a:cs typeface="Instrument Sans"/>
              </a:defRPr>
            </a:lvl2pPr>
            <a:lvl3pPr>
              <a:buNone/>
              <a:defRPr sz="1532" b="0">
                <a:solidFill>
                  <a:srgbClr val="182028"/>
                </a:solidFill>
                <a:latin typeface="Instrument Sans"/>
                <a:ea typeface="Instrument Sans"/>
                <a:cs typeface="Instrument Sans"/>
              </a:defRPr>
            </a:lvl3pPr>
            <a:lvl4pPr>
              <a:buNone/>
              <a:defRPr sz="1532" b="0">
                <a:solidFill>
                  <a:srgbClr val="182028"/>
                </a:solidFill>
                <a:latin typeface="Instrument Sans"/>
                <a:ea typeface="Instrument Sans"/>
                <a:cs typeface="Instrument Sans"/>
              </a:defRPr>
            </a:lvl4pPr>
            <a:lvl5pPr>
              <a:buNone/>
              <a:defRPr sz="1532" b="0">
                <a:solidFill>
                  <a:srgbClr val="182028"/>
                </a:solidFill>
                <a:latin typeface="Instrument Sans"/>
                <a:ea typeface="Instrument Sans"/>
                <a:cs typeface="Instrument Sans"/>
              </a:defRPr>
            </a:lvl5pPr>
            <a:lvl6pPr>
              <a:buNone/>
              <a:defRPr sz="1532" b="0">
                <a:solidFill>
                  <a:srgbClr val="182028"/>
                </a:solidFill>
                <a:latin typeface="Instrument Sans"/>
                <a:ea typeface="Instrument Sans"/>
                <a:cs typeface="Instrument Sans"/>
              </a:defRPr>
            </a:lvl6pPr>
            <a:lvl7pPr>
              <a:buNone/>
              <a:defRPr sz="1532" b="0">
                <a:solidFill>
                  <a:srgbClr val="182028"/>
                </a:solidFill>
                <a:latin typeface="Instrument Sans"/>
                <a:ea typeface="Instrument Sans"/>
                <a:cs typeface="Instrument Sans"/>
              </a:defRPr>
            </a:lvl7pPr>
            <a:lvl8pPr>
              <a:buNone/>
              <a:defRPr sz="1532" b="0">
                <a:solidFill>
                  <a:srgbClr val="182028"/>
                </a:solidFill>
                <a:latin typeface="Instrument Sans"/>
                <a:ea typeface="Instrument Sans"/>
                <a:cs typeface="Instrument Sans"/>
              </a:defRPr>
            </a:lvl8pPr>
            <a:lvl9pPr>
              <a:buNone/>
              <a:defRPr sz="1532" b="0">
                <a:solidFill>
                  <a:srgbClr val="182028"/>
                </a:solidFill>
                <a:latin typeface="Instrument Sans"/>
                <a:ea typeface="Instrument Sans"/>
                <a:cs typeface="Instrument Sans"/>
              </a:defRPr>
            </a:lvl9pPr>
          </a:lstStyle>
          <a:p xmlns:a="http://schemas.openxmlformats.org/drawingml/2006/main">
            <a:pPr>
              <a:buNone/>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R2 / Encrypted documents</a:t>
            </a:r>
          </a:p>
        </p:txBody>
      </p:sp>
      <p:sp>
        <p:nvSpPr>
          <p:cNvPr id="225" name="Architecture label: Private ZK proofs">
            <a:extLst xmlns:a="http://schemas.openxmlformats.org/drawingml/2006/main">
              <a:ext uri="{FF2B5EF4-FFF2-40B4-BE49-F238E27FC236}">
                <a16:creationId xmlns:a16="http://schemas.microsoft.com/office/drawing/2014/main" id="{84766FA1-C72B-4987-AC7E-5A4215853CB1}"/>
              </a:ext>
            </a:extLst>
          </p:cNvPr>
          <p:cNvSpPr>
            <a:spLocks xmlns:a="http://schemas.openxmlformats.org/drawingml/2006/main" noGrp="1"/>
          </p:cNvSpPr>
          <p:nvPr/>
        </p:nvSpPr>
        <p:spPr>
          <a:xfrm xmlns:a="http://schemas.openxmlformats.org/drawingml/2006/main">
            <a:off x="12510655" y="3805809"/>
            <a:ext cx="4339244" cy="389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21" b="1">
                <a:solidFill>
                  <a:srgbClr val="182028"/>
                </a:solidFill>
                <a:latin typeface="Instrument Sans"/>
                <a:ea typeface="Instrument Sans"/>
                <a:cs typeface="Instrument Sans"/>
              </a:defRPr>
            </a:defPPr>
            <a:lvl1pPr>
              <a:buNone/>
              <a:defRPr sz="2121" b="1">
                <a:solidFill>
                  <a:srgbClr val="182028"/>
                </a:solidFill>
                <a:latin typeface="Instrument Sans"/>
                <a:ea typeface="Instrument Sans"/>
                <a:cs typeface="Instrument Sans"/>
              </a:defRPr>
            </a:lvl1pPr>
            <a:lvl2pPr>
              <a:buNone/>
              <a:defRPr sz="2121" b="1">
                <a:solidFill>
                  <a:srgbClr val="182028"/>
                </a:solidFill>
                <a:latin typeface="Instrument Sans"/>
                <a:ea typeface="Instrument Sans"/>
                <a:cs typeface="Instrument Sans"/>
              </a:defRPr>
            </a:lvl2pPr>
            <a:lvl3pPr>
              <a:buNone/>
              <a:defRPr sz="2121" b="1">
                <a:solidFill>
                  <a:srgbClr val="182028"/>
                </a:solidFill>
                <a:latin typeface="Instrument Sans"/>
                <a:ea typeface="Instrument Sans"/>
                <a:cs typeface="Instrument Sans"/>
              </a:defRPr>
            </a:lvl3pPr>
            <a:lvl4pPr>
              <a:buNone/>
              <a:defRPr sz="2121" b="1">
                <a:solidFill>
                  <a:srgbClr val="182028"/>
                </a:solidFill>
                <a:latin typeface="Instrument Sans"/>
                <a:ea typeface="Instrument Sans"/>
                <a:cs typeface="Instrument Sans"/>
              </a:defRPr>
            </a:lvl4pPr>
            <a:lvl5pPr>
              <a:buNone/>
              <a:defRPr sz="2121" b="1">
                <a:solidFill>
                  <a:srgbClr val="182028"/>
                </a:solidFill>
                <a:latin typeface="Instrument Sans"/>
                <a:ea typeface="Instrument Sans"/>
                <a:cs typeface="Instrument Sans"/>
              </a:defRPr>
            </a:lvl5pPr>
            <a:lvl6pPr>
              <a:buNone/>
              <a:defRPr sz="2121" b="1">
                <a:solidFill>
                  <a:srgbClr val="182028"/>
                </a:solidFill>
                <a:latin typeface="Instrument Sans"/>
                <a:ea typeface="Instrument Sans"/>
                <a:cs typeface="Instrument Sans"/>
              </a:defRPr>
            </a:lvl6pPr>
            <a:lvl7pPr>
              <a:buNone/>
              <a:defRPr sz="2121" b="1">
                <a:solidFill>
                  <a:srgbClr val="182028"/>
                </a:solidFill>
                <a:latin typeface="Instrument Sans"/>
                <a:ea typeface="Instrument Sans"/>
                <a:cs typeface="Instrument Sans"/>
              </a:defRPr>
            </a:lvl7pPr>
            <a:lvl8pPr>
              <a:buNone/>
              <a:defRPr sz="2121" b="1">
                <a:solidFill>
                  <a:srgbClr val="182028"/>
                </a:solidFill>
                <a:latin typeface="Instrument Sans"/>
                <a:ea typeface="Instrument Sans"/>
                <a:cs typeface="Instrument Sans"/>
              </a:defRPr>
            </a:lvl8pPr>
            <a:lvl9pPr>
              <a:buNone/>
              <a:defRPr sz="2121" b="1">
                <a:solidFill>
                  <a:srgbClr val="182028"/>
                </a:solidFill>
                <a:latin typeface="Instrument Sans"/>
                <a:ea typeface="Instrument Sans"/>
                <a:cs typeface="Instrument Sans"/>
              </a:defRPr>
            </a:lvl9pPr>
          </a:lstStyle>
          <a:p xmlns:a="http://schemas.openxmlformats.org/drawingml/2006/main">
            <a:pPr>
              <a:buNone/>
              <a:defRPr sz="2121" b="1">
                <a:solidFill>
                  <a:srgbClr val="182028"/>
                </a:solidFill>
                <a:latin typeface="Instrument Sans"/>
                <a:ea typeface="Instrument Sans"/>
                <a:cs typeface="Instrument Sans"/>
              </a:defRPr>
            </a:pPr>
            <a:r>
              <a:rPr sz="2121" b="1">
                <a:solidFill>
                  <a:srgbClr val="182028"/>
                </a:solidFill>
                <a:latin typeface="Instrument Sans"/>
                <a:ea typeface="Instrument Sans"/>
                <a:cs typeface="Instrument Sans"/>
              </a:rPr>
              <a:t>Private ZK proofs</a:t>
            </a:r>
          </a:p>
        </p:txBody>
      </p:sp>
      <p:sp>
        <p:nvSpPr>
          <p:cNvPr id="226" name="Architecture label: Groth16 / BN254">
            <a:extLst xmlns:a="http://schemas.openxmlformats.org/drawingml/2006/main">
              <a:ext uri="{FF2B5EF4-FFF2-40B4-BE49-F238E27FC236}">
                <a16:creationId xmlns:a16="http://schemas.microsoft.com/office/drawing/2014/main" id="{906A3ADA-8CAA-4E5F-8469-08216AE39FCC}"/>
              </a:ext>
            </a:extLst>
          </p:cNvPr>
          <p:cNvSpPr>
            <a:spLocks xmlns:a="http://schemas.openxmlformats.org/drawingml/2006/main" noGrp="1"/>
          </p:cNvSpPr>
          <p:nvPr/>
        </p:nvSpPr>
        <p:spPr>
          <a:xfrm xmlns:a="http://schemas.openxmlformats.org/drawingml/2006/main">
            <a:off x="12548062" y="4224770"/>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1">
                <a:solidFill>
                  <a:srgbClr val="182028"/>
                </a:solidFill>
                <a:latin typeface="Instrument Sans"/>
                <a:ea typeface="Instrument Sans"/>
                <a:cs typeface="Instrument Sans"/>
              </a:defRPr>
            </a:defPPr>
            <a:lvl1pPr>
              <a:buNone/>
              <a:defRPr sz="1649" b="1">
                <a:solidFill>
                  <a:srgbClr val="182028"/>
                </a:solidFill>
                <a:latin typeface="Instrument Sans"/>
                <a:ea typeface="Instrument Sans"/>
                <a:cs typeface="Instrument Sans"/>
              </a:defRPr>
            </a:lvl1pPr>
            <a:lvl2pPr>
              <a:buNone/>
              <a:defRPr sz="1649" b="1">
                <a:solidFill>
                  <a:srgbClr val="182028"/>
                </a:solidFill>
                <a:latin typeface="Instrument Sans"/>
                <a:ea typeface="Instrument Sans"/>
                <a:cs typeface="Instrument Sans"/>
              </a:defRPr>
            </a:lvl2pPr>
            <a:lvl3pPr>
              <a:buNone/>
              <a:defRPr sz="1649" b="1">
                <a:solidFill>
                  <a:srgbClr val="182028"/>
                </a:solidFill>
                <a:latin typeface="Instrument Sans"/>
                <a:ea typeface="Instrument Sans"/>
                <a:cs typeface="Instrument Sans"/>
              </a:defRPr>
            </a:lvl3pPr>
            <a:lvl4pPr>
              <a:buNone/>
              <a:defRPr sz="1649" b="1">
                <a:solidFill>
                  <a:srgbClr val="182028"/>
                </a:solidFill>
                <a:latin typeface="Instrument Sans"/>
                <a:ea typeface="Instrument Sans"/>
                <a:cs typeface="Instrument Sans"/>
              </a:defRPr>
            </a:lvl4pPr>
            <a:lvl5pPr>
              <a:buNone/>
              <a:defRPr sz="1649" b="1">
                <a:solidFill>
                  <a:srgbClr val="182028"/>
                </a:solidFill>
                <a:latin typeface="Instrument Sans"/>
                <a:ea typeface="Instrument Sans"/>
                <a:cs typeface="Instrument Sans"/>
              </a:defRPr>
            </a:lvl5pPr>
            <a:lvl6pPr>
              <a:buNone/>
              <a:defRPr sz="1649" b="1">
                <a:solidFill>
                  <a:srgbClr val="182028"/>
                </a:solidFill>
                <a:latin typeface="Instrument Sans"/>
                <a:ea typeface="Instrument Sans"/>
                <a:cs typeface="Instrument Sans"/>
              </a:defRPr>
            </a:lvl6pPr>
            <a:lvl7pPr>
              <a:buNone/>
              <a:defRPr sz="1649" b="1">
                <a:solidFill>
                  <a:srgbClr val="182028"/>
                </a:solidFill>
                <a:latin typeface="Instrument Sans"/>
                <a:ea typeface="Instrument Sans"/>
                <a:cs typeface="Instrument Sans"/>
              </a:defRPr>
            </a:lvl7pPr>
            <a:lvl8pPr>
              <a:buNone/>
              <a:defRPr sz="1649" b="1">
                <a:solidFill>
                  <a:srgbClr val="182028"/>
                </a:solidFill>
                <a:latin typeface="Instrument Sans"/>
                <a:ea typeface="Instrument Sans"/>
                <a:cs typeface="Instrument Sans"/>
              </a:defRPr>
            </a:lvl8pPr>
            <a:lvl9pPr>
              <a:buNone/>
              <a:defRPr sz="1649" b="1">
                <a:solidFill>
                  <a:srgbClr val="182028"/>
                </a:solidFill>
                <a:latin typeface="Instrument Sans"/>
                <a:ea typeface="Instrument Sans"/>
                <a:cs typeface="Instrument Sans"/>
              </a:defRPr>
            </a:lvl9pPr>
          </a:lstStyle>
          <a:p xmlns:a="http://schemas.openxmlformats.org/drawingml/2006/main">
            <a:pPr>
              <a:buNone/>
              <a:defRPr sz="1649" b="1">
                <a:solidFill>
                  <a:srgbClr val="182028"/>
                </a:solidFill>
                <a:latin typeface="Instrument Sans"/>
                <a:ea typeface="Instrument Sans"/>
                <a:cs typeface="Instrument Sans"/>
              </a:defRPr>
            </a:pPr>
            <a:r>
              <a:rPr sz="1649" b="1">
                <a:solidFill>
                  <a:srgbClr val="182028"/>
                </a:solidFill>
                <a:latin typeface="Instrument Sans"/>
                <a:ea typeface="Instrument Sans"/>
                <a:cs typeface="Instrument Sans"/>
              </a:rPr>
              <a:t>Groth16 / BN254</a:t>
            </a:r>
          </a:p>
        </p:txBody>
      </p:sp>
      <p:sp>
        <p:nvSpPr>
          <p:cNvPr id="227" name="Architecture label: Local WebAssembly proving">
            <a:extLst xmlns:a="http://schemas.openxmlformats.org/drawingml/2006/main">
              <a:ext uri="{FF2B5EF4-FFF2-40B4-BE49-F238E27FC236}">
                <a16:creationId xmlns:a16="http://schemas.microsoft.com/office/drawing/2014/main" id="{84C39980-1AEC-4904-9CEE-C4FF41C0465B}"/>
              </a:ext>
            </a:extLst>
          </p:cNvPr>
          <p:cNvSpPr>
            <a:spLocks xmlns:a="http://schemas.openxmlformats.org/drawingml/2006/main" noGrp="1"/>
          </p:cNvSpPr>
          <p:nvPr/>
        </p:nvSpPr>
        <p:spPr>
          <a:xfrm xmlns:a="http://schemas.openxmlformats.org/drawingml/2006/main">
            <a:off x="12548062" y="4509066"/>
            <a:ext cx="4264429"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buNone/>
              <a:defRPr sz="1532" b="0">
                <a:solidFill>
                  <a:srgbClr val="182028"/>
                </a:solidFill>
                <a:latin typeface="Instrument Sans"/>
                <a:ea typeface="Instrument Sans"/>
                <a:cs typeface="Instrument Sans"/>
              </a:defRPr>
            </a:lvl1pPr>
            <a:lvl2pPr>
              <a:buNone/>
              <a:defRPr sz="1532" b="0">
                <a:solidFill>
                  <a:srgbClr val="182028"/>
                </a:solidFill>
                <a:latin typeface="Instrument Sans"/>
                <a:ea typeface="Instrument Sans"/>
                <a:cs typeface="Instrument Sans"/>
              </a:defRPr>
            </a:lvl2pPr>
            <a:lvl3pPr>
              <a:buNone/>
              <a:defRPr sz="1532" b="0">
                <a:solidFill>
                  <a:srgbClr val="182028"/>
                </a:solidFill>
                <a:latin typeface="Instrument Sans"/>
                <a:ea typeface="Instrument Sans"/>
                <a:cs typeface="Instrument Sans"/>
              </a:defRPr>
            </a:lvl3pPr>
            <a:lvl4pPr>
              <a:buNone/>
              <a:defRPr sz="1532" b="0">
                <a:solidFill>
                  <a:srgbClr val="182028"/>
                </a:solidFill>
                <a:latin typeface="Instrument Sans"/>
                <a:ea typeface="Instrument Sans"/>
                <a:cs typeface="Instrument Sans"/>
              </a:defRPr>
            </a:lvl4pPr>
            <a:lvl5pPr>
              <a:buNone/>
              <a:defRPr sz="1532" b="0">
                <a:solidFill>
                  <a:srgbClr val="182028"/>
                </a:solidFill>
                <a:latin typeface="Instrument Sans"/>
                <a:ea typeface="Instrument Sans"/>
                <a:cs typeface="Instrument Sans"/>
              </a:defRPr>
            </a:lvl5pPr>
            <a:lvl6pPr>
              <a:buNone/>
              <a:defRPr sz="1532" b="0">
                <a:solidFill>
                  <a:srgbClr val="182028"/>
                </a:solidFill>
                <a:latin typeface="Instrument Sans"/>
                <a:ea typeface="Instrument Sans"/>
                <a:cs typeface="Instrument Sans"/>
              </a:defRPr>
            </a:lvl6pPr>
            <a:lvl7pPr>
              <a:buNone/>
              <a:defRPr sz="1532" b="0">
                <a:solidFill>
                  <a:srgbClr val="182028"/>
                </a:solidFill>
                <a:latin typeface="Instrument Sans"/>
                <a:ea typeface="Instrument Sans"/>
                <a:cs typeface="Instrument Sans"/>
              </a:defRPr>
            </a:lvl7pPr>
            <a:lvl8pPr>
              <a:buNone/>
              <a:defRPr sz="1532" b="0">
                <a:solidFill>
                  <a:srgbClr val="182028"/>
                </a:solidFill>
                <a:latin typeface="Instrument Sans"/>
                <a:ea typeface="Instrument Sans"/>
                <a:cs typeface="Instrument Sans"/>
              </a:defRPr>
            </a:lvl8pPr>
            <a:lvl9pPr>
              <a:buNone/>
              <a:defRPr sz="1532" b="0">
                <a:solidFill>
                  <a:srgbClr val="182028"/>
                </a:solidFill>
                <a:latin typeface="Instrument Sans"/>
                <a:ea typeface="Instrument Sans"/>
                <a:cs typeface="Instrument Sans"/>
              </a:defRPr>
            </a:lvl9pPr>
          </a:lstStyle>
          <a:p xmlns:a="http://schemas.openxmlformats.org/drawingml/2006/main">
            <a:pPr>
              <a:buNone/>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Local WebAssembly proving</a:t>
            </a:r>
          </a:p>
        </p:txBody>
      </p:sp>
      <p:sp>
        <p:nvSpPr>
          <p:cNvPr id="228" name="Architecture label: Rust / Arkworks">
            <a:extLst xmlns:a="http://schemas.openxmlformats.org/drawingml/2006/main">
              <a:ext uri="{FF2B5EF4-FFF2-40B4-BE49-F238E27FC236}">
                <a16:creationId xmlns:a16="http://schemas.microsoft.com/office/drawing/2014/main" id="{FA36C2D9-FBD9-4FEB-ACBF-F93FDC0958B1}"/>
              </a:ext>
            </a:extLst>
          </p:cNvPr>
          <p:cNvSpPr>
            <a:spLocks xmlns:a="http://schemas.openxmlformats.org/drawingml/2006/main" noGrp="1"/>
          </p:cNvSpPr>
          <p:nvPr/>
        </p:nvSpPr>
        <p:spPr>
          <a:xfrm xmlns:a="http://schemas.openxmlformats.org/drawingml/2006/main">
            <a:off x="12548062" y="4778398"/>
            <a:ext cx="4264429"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buNone/>
              <a:defRPr sz="1532" b="0">
                <a:solidFill>
                  <a:srgbClr val="182028"/>
                </a:solidFill>
                <a:latin typeface="Instrument Sans"/>
                <a:ea typeface="Instrument Sans"/>
                <a:cs typeface="Instrument Sans"/>
              </a:defRPr>
            </a:lvl1pPr>
            <a:lvl2pPr>
              <a:buNone/>
              <a:defRPr sz="1532" b="0">
                <a:solidFill>
                  <a:srgbClr val="182028"/>
                </a:solidFill>
                <a:latin typeface="Instrument Sans"/>
                <a:ea typeface="Instrument Sans"/>
                <a:cs typeface="Instrument Sans"/>
              </a:defRPr>
            </a:lvl2pPr>
            <a:lvl3pPr>
              <a:buNone/>
              <a:defRPr sz="1532" b="0">
                <a:solidFill>
                  <a:srgbClr val="182028"/>
                </a:solidFill>
                <a:latin typeface="Instrument Sans"/>
                <a:ea typeface="Instrument Sans"/>
                <a:cs typeface="Instrument Sans"/>
              </a:defRPr>
            </a:lvl3pPr>
            <a:lvl4pPr>
              <a:buNone/>
              <a:defRPr sz="1532" b="0">
                <a:solidFill>
                  <a:srgbClr val="182028"/>
                </a:solidFill>
                <a:latin typeface="Instrument Sans"/>
                <a:ea typeface="Instrument Sans"/>
                <a:cs typeface="Instrument Sans"/>
              </a:defRPr>
            </a:lvl4pPr>
            <a:lvl5pPr>
              <a:buNone/>
              <a:defRPr sz="1532" b="0">
                <a:solidFill>
                  <a:srgbClr val="182028"/>
                </a:solidFill>
                <a:latin typeface="Instrument Sans"/>
                <a:ea typeface="Instrument Sans"/>
                <a:cs typeface="Instrument Sans"/>
              </a:defRPr>
            </a:lvl5pPr>
            <a:lvl6pPr>
              <a:buNone/>
              <a:defRPr sz="1532" b="0">
                <a:solidFill>
                  <a:srgbClr val="182028"/>
                </a:solidFill>
                <a:latin typeface="Instrument Sans"/>
                <a:ea typeface="Instrument Sans"/>
                <a:cs typeface="Instrument Sans"/>
              </a:defRPr>
            </a:lvl6pPr>
            <a:lvl7pPr>
              <a:buNone/>
              <a:defRPr sz="1532" b="0">
                <a:solidFill>
                  <a:srgbClr val="182028"/>
                </a:solidFill>
                <a:latin typeface="Instrument Sans"/>
                <a:ea typeface="Instrument Sans"/>
                <a:cs typeface="Instrument Sans"/>
              </a:defRPr>
            </a:lvl7pPr>
            <a:lvl8pPr>
              <a:buNone/>
              <a:defRPr sz="1532" b="0">
                <a:solidFill>
                  <a:srgbClr val="182028"/>
                </a:solidFill>
                <a:latin typeface="Instrument Sans"/>
                <a:ea typeface="Instrument Sans"/>
                <a:cs typeface="Instrument Sans"/>
              </a:defRPr>
            </a:lvl8pPr>
            <a:lvl9pPr>
              <a:buNone/>
              <a:defRPr sz="1532" b="0">
                <a:solidFill>
                  <a:srgbClr val="182028"/>
                </a:solidFill>
                <a:latin typeface="Instrument Sans"/>
                <a:ea typeface="Instrument Sans"/>
                <a:cs typeface="Instrument Sans"/>
              </a:defRPr>
            </a:lvl9pPr>
          </a:lstStyle>
          <a:p xmlns:a="http://schemas.openxmlformats.org/drawingml/2006/main">
            <a:pPr>
              <a:buNone/>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Rust / Arkworks</a:t>
            </a:r>
          </a:p>
        </p:txBody>
      </p:sp>
      <p:sp>
        <p:nvSpPr>
          <p:cNvPr id="229" name="Architecture label: Stellar Mainnet / Soroban">
            <a:extLst xmlns:a="http://schemas.openxmlformats.org/drawingml/2006/main">
              <a:ext uri="{FF2B5EF4-FFF2-40B4-BE49-F238E27FC236}">
                <a16:creationId xmlns:a16="http://schemas.microsoft.com/office/drawing/2014/main" id="{E0AA8A18-B025-4A75-AFE4-847D006A076F}"/>
              </a:ext>
            </a:extLst>
          </p:cNvPr>
          <p:cNvSpPr>
            <a:spLocks xmlns:a="http://schemas.openxmlformats.org/drawingml/2006/main" noGrp="1"/>
          </p:cNvSpPr>
          <p:nvPr/>
        </p:nvSpPr>
        <p:spPr>
          <a:xfrm xmlns:a="http://schemas.openxmlformats.org/drawingml/2006/main">
            <a:off x="12510655" y="6125060"/>
            <a:ext cx="4339244" cy="3890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21" b="1">
                <a:solidFill>
                  <a:srgbClr val="182028"/>
                </a:solidFill>
                <a:latin typeface="Instrument Sans"/>
                <a:ea typeface="Instrument Sans"/>
                <a:cs typeface="Instrument Sans"/>
              </a:defRPr>
            </a:defPPr>
            <a:lvl1pPr>
              <a:buNone/>
              <a:defRPr sz="2121" b="1">
                <a:solidFill>
                  <a:srgbClr val="182028"/>
                </a:solidFill>
                <a:latin typeface="Instrument Sans"/>
                <a:ea typeface="Instrument Sans"/>
                <a:cs typeface="Instrument Sans"/>
              </a:defRPr>
            </a:lvl1pPr>
            <a:lvl2pPr>
              <a:buNone/>
              <a:defRPr sz="2121" b="1">
                <a:solidFill>
                  <a:srgbClr val="182028"/>
                </a:solidFill>
                <a:latin typeface="Instrument Sans"/>
                <a:ea typeface="Instrument Sans"/>
                <a:cs typeface="Instrument Sans"/>
              </a:defRPr>
            </a:lvl2pPr>
            <a:lvl3pPr>
              <a:buNone/>
              <a:defRPr sz="2121" b="1">
                <a:solidFill>
                  <a:srgbClr val="182028"/>
                </a:solidFill>
                <a:latin typeface="Instrument Sans"/>
                <a:ea typeface="Instrument Sans"/>
                <a:cs typeface="Instrument Sans"/>
              </a:defRPr>
            </a:lvl3pPr>
            <a:lvl4pPr>
              <a:buNone/>
              <a:defRPr sz="2121" b="1">
                <a:solidFill>
                  <a:srgbClr val="182028"/>
                </a:solidFill>
                <a:latin typeface="Instrument Sans"/>
                <a:ea typeface="Instrument Sans"/>
                <a:cs typeface="Instrument Sans"/>
              </a:defRPr>
            </a:lvl4pPr>
            <a:lvl5pPr>
              <a:buNone/>
              <a:defRPr sz="2121" b="1">
                <a:solidFill>
                  <a:srgbClr val="182028"/>
                </a:solidFill>
                <a:latin typeface="Instrument Sans"/>
                <a:ea typeface="Instrument Sans"/>
                <a:cs typeface="Instrument Sans"/>
              </a:defRPr>
            </a:lvl5pPr>
            <a:lvl6pPr>
              <a:buNone/>
              <a:defRPr sz="2121" b="1">
                <a:solidFill>
                  <a:srgbClr val="182028"/>
                </a:solidFill>
                <a:latin typeface="Instrument Sans"/>
                <a:ea typeface="Instrument Sans"/>
                <a:cs typeface="Instrument Sans"/>
              </a:defRPr>
            </a:lvl6pPr>
            <a:lvl7pPr>
              <a:buNone/>
              <a:defRPr sz="2121" b="1">
                <a:solidFill>
                  <a:srgbClr val="182028"/>
                </a:solidFill>
                <a:latin typeface="Instrument Sans"/>
                <a:ea typeface="Instrument Sans"/>
                <a:cs typeface="Instrument Sans"/>
              </a:defRPr>
            </a:lvl7pPr>
            <a:lvl8pPr>
              <a:buNone/>
              <a:defRPr sz="2121" b="1">
                <a:solidFill>
                  <a:srgbClr val="182028"/>
                </a:solidFill>
                <a:latin typeface="Instrument Sans"/>
                <a:ea typeface="Instrument Sans"/>
                <a:cs typeface="Instrument Sans"/>
              </a:defRPr>
            </a:lvl8pPr>
            <a:lvl9pPr>
              <a:buNone/>
              <a:defRPr sz="2121" b="1">
                <a:solidFill>
                  <a:srgbClr val="182028"/>
                </a:solidFill>
                <a:latin typeface="Instrument Sans"/>
                <a:ea typeface="Instrument Sans"/>
                <a:cs typeface="Instrument Sans"/>
              </a:defRPr>
            </a:lvl9pPr>
          </a:lstStyle>
          <a:p xmlns:a="http://schemas.openxmlformats.org/drawingml/2006/main">
            <a:pPr>
              <a:buNone/>
              <a:defRPr sz="2121" b="1">
                <a:solidFill>
                  <a:srgbClr val="182028"/>
                </a:solidFill>
                <a:latin typeface="Instrument Sans"/>
                <a:ea typeface="Instrument Sans"/>
                <a:cs typeface="Instrument Sans"/>
              </a:defRPr>
            </a:pPr>
            <a:r>
              <a:rPr sz="2121" b="1">
                <a:solidFill>
                  <a:srgbClr val="182028"/>
                </a:solidFill>
                <a:latin typeface="Instrument Sans"/>
                <a:ea typeface="Instrument Sans"/>
                <a:cs typeface="Instrument Sans"/>
              </a:rPr>
              <a:t>Stellar Mainnet / Soroban</a:t>
            </a:r>
          </a:p>
        </p:txBody>
      </p:sp>
      <p:sp>
        <p:nvSpPr>
          <p:cNvPr id="230" name="Architecture label: Credential roots &amp; revocation">
            <a:extLst xmlns:a="http://schemas.openxmlformats.org/drawingml/2006/main">
              <a:ext uri="{FF2B5EF4-FFF2-40B4-BE49-F238E27FC236}">
                <a16:creationId xmlns:a16="http://schemas.microsoft.com/office/drawing/2014/main" id="{CC5090E4-4D3B-4076-ABD1-D5236EDAA3D4}"/>
              </a:ext>
            </a:extLst>
          </p:cNvPr>
          <p:cNvSpPr>
            <a:spLocks xmlns:a="http://schemas.openxmlformats.org/drawingml/2006/main" noGrp="1"/>
          </p:cNvSpPr>
          <p:nvPr/>
        </p:nvSpPr>
        <p:spPr>
          <a:xfrm xmlns:a="http://schemas.openxmlformats.org/drawingml/2006/main">
            <a:off x="12548062" y="6566466"/>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Credential roots &amp; revocation</a:t>
            </a:r>
          </a:p>
        </p:txBody>
      </p:sp>
      <p:sp>
        <p:nvSpPr>
          <p:cNvPr id="231" name="Architecture label: Groth16 proof verifier">
            <a:extLst xmlns:a="http://schemas.openxmlformats.org/drawingml/2006/main">
              <a:ext uri="{FF2B5EF4-FFF2-40B4-BE49-F238E27FC236}">
                <a16:creationId xmlns:a16="http://schemas.microsoft.com/office/drawing/2014/main" id="{921612F8-145D-45F8-8EFD-97598DF48812}"/>
              </a:ext>
            </a:extLst>
          </p:cNvPr>
          <p:cNvSpPr>
            <a:spLocks xmlns:a="http://schemas.openxmlformats.org/drawingml/2006/main" noGrp="1"/>
          </p:cNvSpPr>
          <p:nvPr/>
        </p:nvSpPr>
        <p:spPr>
          <a:xfrm xmlns:a="http://schemas.openxmlformats.org/drawingml/2006/main">
            <a:off x="12548062" y="6948020"/>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Groth16 proof verifier</a:t>
            </a:r>
          </a:p>
        </p:txBody>
      </p:sp>
      <p:sp>
        <p:nvSpPr>
          <p:cNvPr id="232" name="Architecture label: Buyer + seller qualification">
            <a:extLst xmlns:a="http://schemas.openxmlformats.org/drawingml/2006/main">
              <a:ext uri="{FF2B5EF4-FFF2-40B4-BE49-F238E27FC236}">
                <a16:creationId xmlns:a16="http://schemas.microsoft.com/office/drawing/2014/main" id="{374420A7-BDC4-4A4F-8173-66CC3DE7CB4E}"/>
              </a:ext>
            </a:extLst>
          </p:cNvPr>
          <p:cNvSpPr>
            <a:spLocks xmlns:a="http://schemas.openxmlformats.org/drawingml/2006/main" noGrp="1"/>
          </p:cNvSpPr>
          <p:nvPr/>
        </p:nvSpPr>
        <p:spPr>
          <a:xfrm xmlns:a="http://schemas.openxmlformats.org/drawingml/2006/main">
            <a:off x="12548062" y="7329574"/>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Buyer + seller qualification</a:t>
            </a:r>
          </a:p>
        </p:txBody>
      </p:sp>
      <p:sp>
        <p:nvSpPr>
          <p:cNvPr id="233" name="Architecture label: Deal consent &amp; audit receipts">
            <a:extLst xmlns:a="http://schemas.openxmlformats.org/drawingml/2006/main">
              <a:ext uri="{FF2B5EF4-FFF2-40B4-BE49-F238E27FC236}">
                <a16:creationId xmlns:a16="http://schemas.microsoft.com/office/drawing/2014/main" id="{FD0A8AF8-307B-4B1C-A26F-22436D03C64E}"/>
              </a:ext>
            </a:extLst>
          </p:cNvPr>
          <p:cNvSpPr>
            <a:spLocks xmlns:a="http://schemas.openxmlformats.org/drawingml/2006/main" noGrp="1"/>
          </p:cNvSpPr>
          <p:nvPr/>
        </p:nvSpPr>
        <p:spPr>
          <a:xfrm xmlns:a="http://schemas.openxmlformats.org/drawingml/2006/main">
            <a:off x="12548062" y="7711128"/>
            <a:ext cx="426442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49" b="0">
                <a:solidFill>
                  <a:srgbClr val="182028"/>
                </a:solidFill>
                <a:latin typeface="Instrument Sans"/>
                <a:ea typeface="Instrument Sans"/>
                <a:cs typeface="Instrument Sans"/>
              </a:defRPr>
            </a:defPPr>
            <a:lvl1pPr>
              <a:buNone/>
              <a:defRPr sz="1649" b="0">
                <a:solidFill>
                  <a:srgbClr val="182028"/>
                </a:solidFill>
                <a:latin typeface="Instrument Sans"/>
                <a:ea typeface="Instrument Sans"/>
                <a:cs typeface="Instrument Sans"/>
              </a:defRPr>
            </a:lvl1pPr>
            <a:lvl2pPr>
              <a:buNone/>
              <a:defRPr sz="1649" b="0">
                <a:solidFill>
                  <a:srgbClr val="182028"/>
                </a:solidFill>
                <a:latin typeface="Instrument Sans"/>
                <a:ea typeface="Instrument Sans"/>
                <a:cs typeface="Instrument Sans"/>
              </a:defRPr>
            </a:lvl2pPr>
            <a:lvl3pPr>
              <a:buNone/>
              <a:defRPr sz="1649" b="0">
                <a:solidFill>
                  <a:srgbClr val="182028"/>
                </a:solidFill>
                <a:latin typeface="Instrument Sans"/>
                <a:ea typeface="Instrument Sans"/>
                <a:cs typeface="Instrument Sans"/>
              </a:defRPr>
            </a:lvl3pPr>
            <a:lvl4pPr>
              <a:buNone/>
              <a:defRPr sz="1649" b="0">
                <a:solidFill>
                  <a:srgbClr val="182028"/>
                </a:solidFill>
                <a:latin typeface="Instrument Sans"/>
                <a:ea typeface="Instrument Sans"/>
                <a:cs typeface="Instrument Sans"/>
              </a:defRPr>
            </a:lvl4pPr>
            <a:lvl5pPr>
              <a:buNone/>
              <a:defRPr sz="1649" b="0">
                <a:solidFill>
                  <a:srgbClr val="182028"/>
                </a:solidFill>
                <a:latin typeface="Instrument Sans"/>
                <a:ea typeface="Instrument Sans"/>
                <a:cs typeface="Instrument Sans"/>
              </a:defRPr>
            </a:lvl5pPr>
            <a:lvl6pPr>
              <a:buNone/>
              <a:defRPr sz="1649" b="0">
                <a:solidFill>
                  <a:srgbClr val="182028"/>
                </a:solidFill>
                <a:latin typeface="Instrument Sans"/>
                <a:ea typeface="Instrument Sans"/>
                <a:cs typeface="Instrument Sans"/>
              </a:defRPr>
            </a:lvl6pPr>
            <a:lvl7pPr>
              <a:buNone/>
              <a:defRPr sz="1649" b="0">
                <a:solidFill>
                  <a:srgbClr val="182028"/>
                </a:solidFill>
                <a:latin typeface="Instrument Sans"/>
                <a:ea typeface="Instrument Sans"/>
                <a:cs typeface="Instrument Sans"/>
              </a:defRPr>
            </a:lvl7pPr>
            <a:lvl8pPr>
              <a:buNone/>
              <a:defRPr sz="1649" b="0">
                <a:solidFill>
                  <a:srgbClr val="182028"/>
                </a:solidFill>
                <a:latin typeface="Instrument Sans"/>
                <a:ea typeface="Instrument Sans"/>
                <a:cs typeface="Instrument Sans"/>
              </a:defRPr>
            </a:lvl8pPr>
            <a:lvl9pPr>
              <a:buNone/>
              <a:defRPr sz="1649" b="0">
                <a:solidFill>
                  <a:srgbClr val="182028"/>
                </a:solidFill>
                <a:latin typeface="Instrument Sans"/>
                <a:ea typeface="Instrument Sans"/>
                <a:cs typeface="Instrument Sans"/>
              </a:defRPr>
            </a:lvl9pPr>
          </a:lstStyle>
          <a:p xmlns:a="http://schemas.openxmlformats.org/drawingml/2006/main">
            <a:pPr>
              <a:buNone/>
              <a:defRPr sz="1649" b="0">
                <a:solidFill>
                  <a:srgbClr val="182028"/>
                </a:solidFill>
                <a:latin typeface="Instrument Sans"/>
                <a:ea typeface="Instrument Sans"/>
                <a:cs typeface="Instrument Sans"/>
              </a:defRPr>
            </a:pPr>
            <a:r>
              <a:rPr sz="1649" b="0">
                <a:solidFill>
                  <a:srgbClr val="182028"/>
                </a:solidFill>
                <a:latin typeface="Instrument Sans"/>
                <a:ea typeface="Instrument Sans"/>
                <a:cs typeface="Instrument Sans"/>
              </a:rPr>
              <a:t>Deal consent &amp; audit receipts</a:t>
            </a:r>
          </a:p>
        </p:txBody>
      </p:sp>
      <p:sp>
        <p:nvSpPr>
          <p:cNvPr id="234" name="Architecture label: API">
            <a:extLst xmlns:a="http://schemas.openxmlformats.org/drawingml/2006/main">
              <a:ext uri="{FF2B5EF4-FFF2-40B4-BE49-F238E27FC236}">
                <a16:creationId xmlns:a16="http://schemas.microsoft.com/office/drawing/2014/main" id="{8DF5CC68-8454-4656-8F17-3E9DBE183BF4}"/>
              </a:ext>
            </a:extLst>
          </p:cNvPr>
          <p:cNvSpPr>
            <a:spLocks xmlns:a="http://schemas.openxmlformats.org/drawingml/2006/main" noGrp="1"/>
          </p:cNvSpPr>
          <p:nvPr/>
        </p:nvSpPr>
        <p:spPr>
          <a:xfrm xmlns:a="http://schemas.openxmlformats.org/drawingml/2006/main">
            <a:off x="3682538" y="6454244"/>
            <a:ext cx="748145"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73" b="0">
                <a:solidFill>
                  <a:srgbClr val="182028"/>
                </a:solidFill>
                <a:latin typeface="Instrument Sans"/>
                <a:ea typeface="Instrument Sans"/>
                <a:cs typeface="Instrument Sans"/>
              </a:defRPr>
            </a:defPPr>
            <a:lvl1pPr>
              <a:buNone/>
              <a:defRPr sz="1473" b="0">
                <a:solidFill>
                  <a:srgbClr val="182028"/>
                </a:solidFill>
                <a:latin typeface="Instrument Sans"/>
                <a:ea typeface="Instrument Sans"/>
                <a:cs typeface="Instrument Sans"/>
              </a:defRPr>
            </a:lvl1pPr>
            <a:lvl2pPr>
              <a:buNone/>
              <a:defRPr sz="1473" b="0">
                <a:solidFill>
                  <a:srgbClr val="182028"/>
                </a:solidFill>
                <a:latin typeface="Instrument Sans"/>
                <a:ea typeface="Instrument Sans"/>
                <a:cs typeface="Instrument Sans"/>
              </a:defRPr>
            </a:lvl2pPr>
            <a:lvl3pPr>
              <a:buNone/>
              <a:defRPr sz="1473" b="0">
                <a:solidFill>
                  <a:srgbClr val="182028"/>
                </a:solidFill>
                <a:latin typeface="Instrument Sans"/>
                <a:ea typeface="Instrument Sans"/>
                <a:cs typeface="Instrument Sans"/>
              </a:defRPr>
            </a:lvl3pPr>
            <a:lvl4pPr>
              <a:buNone/>
              <a:defRPr sz="1473" b="0">
                <a:solidFill>
                  <a:srgbClr val="182028"/>
                </a:solidFill>
                <a:latin typeface="Instrument Sans"/>
                <a:ea typeface="Instrument Sans"/>
                <a:cs typeface="Instrument Sans"/>
              </a:defRPr>
            </a:lvl4pPr>
            <a:lvl5pPr>
              <a:buNone/>
              <a:defRPr sz="1473" b="0">
                <a:solidFill>
                  <a:srgbClr val="182028"/>
                </a:solidFill>
                <a:latin typeface="Instrument Sans"/>
                <a:ea typeface="Instrument Sans"/>
                <a:cs typeface="Instrument Sans"/>
              </a:defRPr>
            </a:lvl5pPr>
            <a:lvl6pPr>
              <a:buNone/>
              <a:defRPr sz="1473" b="0">
                <a:solidFill>
                  <a:srgbClr val="182028"/>
                </a:solidFill>
                <a:latin typeface="Instrument Sans"/>
                <a:ea typeface="Instrument Sans"/>
                <a:cs typeface="Instrument Sans"/>
              </a:defRPr>
            </a:lvl6pPr>
            <a:lvl7pPr>
              <a:buNone/>
              <a:defRPr sz="1473" b="0">
                <a:solidFill>
                  <a:srgbClr val="182028"/>
                </a:solidFill>
                <a:latin typeface="Instrument Sans"/>
                <a:ea typeface="Instrument Sans"/>
                <a:cs typeface="Instrument Sans"/>
              </a:defRPr>
            </a:lvl7pPr>
            <a:lvl8pPr>
              <a:buNone/>
              <a:defRPr sz="1473" b="0">
                <a:solidFill>
                  <a:srgbClr val="182028"/>
                </a:solidFill>
                <a:latin typeface="Instrument Sans"/>
                <a:ea typeface="Instrument Sans"/>
                <a:cs typeface="Instrument Sans"/>
              </a:defRPr>
            </a:lvl8pPr>
            <a:lvl9pPr>
              <a:buNone/>
              <a:defRPr sz="1473" b="0">
                <a:solidFill>
                  <a:srgbClr val="182028"/>
                </a:solidFill>
                <a:latin typeface="Instrument Sans"/>
                <a:ea typeface="Instrument Sans"/>
                <a:cs typeface="Instrument Sans"/>
              </a:defRPr>
            </a:lvl9pPr>
          </a:lstStyle>
          <a:p xmlns:a="http://schemas.openxmlformats.org/drawingml/2006/main">
            <a:pPr>
              <a:buNone/>
              <a:defRPr sz="1473" b="0">
                <a:solidFill>
                  <a:srgbClr val="182028"/>
                </a:solidFill>
                <a:latin typeface="Instrument Sans"/>
                <a:ea typeface="Instrument Sans"/>
                <a:cs typeface="Instrument Sans"/>
              </a:defRPr>
            </a:pPr>
            <a:r>
              <a:rPr sz="1473" b="0">
                <a:solidFill>
                  <a:srgbClr val="182028"/>
                </a:solidFill>
                <a:latin typeface="Instrument Sans"/>
                <a:ea typeface="Instrument Sans"/>
                <a:cs typeface="Instrument Sans"/>
              </a:rPr>
              <a:t>API</a:t>
            </a:r>
          </a:p>
        </p:txBody>
      </p:sp>
      <p:sp>
        <p:nvSpPr>
          <p:cNvPr id="235" name="Architecture label: Verified evidence">
            <a:extLst xmlns:a="http://schemas.openxmlformats.org/drawingml/2006/main">
              <a:ext uri="{FF2B5EF4-FFF2-40B4-BE49-F238E27FC236}">
                <a16:creationId xmlns:a16="http://schemas.microsoft.com/office/drawing/2014/main" id="{23CA2866-DDDC-4AC5-AB95-C1B330D427B3}"/>
              </a:ext>
            </a:extLst>
          </p:cNvPr>
          <p:cNvSpPr>
            <a:spLocks xmlns:a="http://schemas.openxmlformats.org/drawingml/2006/main" noGrp="1"/>
          </p:cNvSpPr>
          <p:nvPr/>
        </p:nvSpPr>
        <p:spPr>
          <a:xfrm xmlns:a="http://schemas.openxmlformats.org/drawingml/2006/main">
            <a:off x="8021782" y="5257211"/>
            <a:ext cx="2618509" cy="3142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91" b="0">
                <a:solidFill>
                  <a:srgbClr val="182028"/>
                </a:solidFill>
                <a:latin typeface="Instrument Sans"/>
                <a:ea typeface="Instrument Sans"/>
                <a:cs typeface="Instrument Sans"/>
              </a:defRPr>
            </a:defPPr>
            <a:lvl1pPr>
              <a:buNone/>
              <a:defRPr sz="1591" b="0">
                <a:solidFill>
                  <a:srgbClr val="182028"/>
                </a:solidFill>
                <a:latin typeface="Instrument Sans"/>
                <a:ea typeface="Instrument Sans"/>
                <a:cs typeface="Instrument Sans"/>
              </a:defRPr>
            </a:lvl1pPr>
            <a:lvl2pPr>
              <a:buNone/>
              <a:defRPr sz="1591" b="0">
                <a:solidFill>
                  <a:srgbClr val="182028"/>
                </a:solidFill>
                <a:latin typeface="Instrument Sans"/>
                <a:ea typeface="Instrument Sans"/>
                <a:cs typeface="Instrument Sans"/>
              </a:defRPr>
            </a:lvl2pPr>
            <a:lvl3pPr>
              <a:buNone/>
              <a:defRPr sz="1591" b="0">
                <a:solidFill>
                  <a:srgbClr val="182028"/>
                </a:solidFill>
                <a:latin typeface="Instrument Sans"/>
                <a:ea typeface="Instrument Sans"/>
                <a:cs typeface="Instrument Sans"/>
              </a:defRPr>
            </a:lvl3pPr>
            <a:lvl4pPr>
              <a:buNone/>
              <a:defRPr sz="1591" b="0">
                <a:solidFill>
                  <a:srgbClr val="182028"/>
                </a:solidFill>
                <a:latin typeface="Instrument Sans"/>
                <a:ea typeface="Instrument Sans"/>
                <a:cs typeface="Instrument Sans"/>
              </a:defRPr>
            </a:lvl4pPr>
            <a:lvl5pPr>
              <a:buNone/>
              <a:defRPr sz="1591" b="0">
                <a:solidFill>
                  <a:srgbClr val="182028"/>
                </a:solidFill>
                <a:latin typeface="Instrument Sans"/>
                <a:ea typeface="Instrument Sans"/>
                <a:cs typeface="Instrument Sans"/>
              </a:defRPr>
            </a:lvl5pPr>
            <a:lvl6pPr>
              <a:buNone/>
              <a:defRPr sz="1591" b="0">
                <a:solidFill>
                  <a:srgbClr val="182028"/>
                </a:solidFill>
                <a:latin typeface="Instrument Sans"/>
                <a:ea typeface="Instrument Sans"/>
                <a:cs typeface="Instrument Sans"/>
              </a:defRPr>
            </a:lvl6pPr>
            <a:lvl7pPr>
              <a:buNone/>
              <a:defRPr sz="1591" b="0">
                <a:solidFill>
                  <a:srgbClr val="182028"/>
                </a:solidFill>
                <a:latin typeface="Instrument Sans"/>
                <a:ea typeface="Instrument Sans"/>
                <a:cs typeface="Instrument Sans"/>
              </a:defRPr>
            </a:lvl7pPr>
            <a:lvl8pPr>
              <a:buNone/>
              <a:defRPr sz="1591" b="0">
                <a:solidFill>
                  <a:srgbClr val="182028"/>
                </a:solidFill>
                <a:latin typeface="Instrument Sans"/>
                <a:ea typeface="Instrument Sans"/>
                <a:cs typeface="Instrument Sans"/>
              </a:defRPr>
            </a:lvl8pPr>
            <a:lvl9pPr>
              <a:buNone/>
              <a:defRPr sz="1591" b="0">
                <a:solidFill>
                  <a:srgbClr val="182028"/>
                </a:solidFill>
                <a:latin typeface="Instrument Sans"/>
                <a:ea typeface="Instrument Sans"/>
                <a:cs typeface="Instrument Sans"/>
              </a:defRPr>
            </a:lvl9pPr>
          </a:lstStyle>
          <a:p xmlns:a="http://schemas.openxmlformats.org/drawingml/2006/main">
            <a:pPr>
              <a:buNone/>
              <a:defRPr sz="1591" b="0">
                <a:solidFill>
                  <a:srgbClr val="182028"/>
                </a:solidFill>
                <a:latin typeface="Instrument Sans"/>
                <a:ea typeface="Instrument Sans"/>
                <a:cs typeface="Instrument Sans"/>
              </a:defRPr>
            </a:pPr>
            <a:r>
              <a:rPr sz="1591" b="0">
                <a:solidFill>
                  <a:srgbClr val="182028"/>
                </a:solidFill>
                <a:latin typeface="Instrument Sans"/>
                <a:ea typeface="Instrument Sans"/>
                <a:cs typeface="Instrument Sans"/>
              </a:rPr>
              <a:t>Verified evidence</a:t>
            </a:r>
          </a:p>
        </p:txBody>
      </p:sp>
      <p:sp>
        <p:nvSpPr>
          <p:cNvPr id="236" name="Architecture label: Proof">
            <a:extLst xmlns:a="http://schemas.openxmlformats.org/drawingml/2006/main">
              <a:ext uri="{FF2B5EF4-FFF2-40B4-BE49-F238E27FC236}">
                <a16:creationId xmlns:a16="http://schemas.microsoft.com/office/drawing/2014/main" id="{FA9E112A-944C-41E8-A3FE-9D3CA45C4B98}"/>
              </a:ext>
            </a:extLst>
          </p:cNvPr>
          <p:cNvSpPr>
            <a:spLocks xmlns:a="http://schemas.openxmlformats.org/drawingml/2006/main" noGrp="1"/>
          </p:cNvSpPr>
          <p:nvPr/>
        </p:nvSpPr>
        <p:spPr>
          <a:xfrm xmlns:a="http://schemas.openxmlformats.org/drawingml/2006/main">
            <a:off x="14844868" y="5474173"/>
            <a:ext cx="1795549"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32" b="0">
                <a:solidFill>
                  <a:srgbClr val="182028"/>
                </a:solidFill>
                <a:latin typeface="Instrument Sans"/>
                <a:ea typeface="Instrument Sans"/>
                <a:cs typeface="Instrument Sans"/>
              </a:defRPr>
            </a:defPPr>
            <a:lvl1pPr>
              <a:buNone/>
              <a:defRPr sz="1532" b="0">
                <a:solidFill>
                  <a:srgbClr val="182028"/>
                </a:solidFill>
                <a:latin typeface="Instrument Sans"/>
                <a:ea typeface="Instrument Sans"/>
                <a:cs typeface="Instrument Sans"/>
              </a:defRPr>
            </a:lvl1pPr>
            <a:lvl2pPr>
              <a:buNone/>
              <a:defRPr sz="1532" b="0">
                <a:solidFill>
                  <a:srgbClr val="182028"/>
                </a:solidFill>
                <a:latin typeface="Instrument Sans"/>
                <a:ea typeface="Instrument Sans"/>
                <a:cs typeface="Instrument Sans"/>
              </a:defRPr>
            </a:lvl2pPr>
            <a:lvl3pPr>
              <a:buNone/>
              <a:defRPr sz="1532" b="0">
                <a:solidFill>
                  <a:srgbClr val="182028"/>
                </a:solidFill>
                <a:latin typeface="Instrument Sans"/>
                <a:ea typeface="Instrument Sans"/>
                <a:cs typeface="Instrument Sans"/>
              </a:defRPr>
            </a:lvl3pPr>
            <a:lvl4pPr>
              <a:buNone/>
              <a:defRPr sz="1532" b="0">
                <a:solidFill>
                  <a:srgbClr val="182028"/>
                </a:solidFill>
                <a:latin typeface="Instrument Sans"/>
                <a:ea typeface="Instrument Sans"/>
                <a:cs typeface="Instrument Sans"/>
              </a:defRPr>
            </a:lvl4pPr>
            <a:lvl5pPr>
              <a:buNone/>
              <a:defRPr sz="1532" b="0">
                <a:solidFill>
                  <a:srgbClr val="182028"/>
                </a:solidFill>
                <a:latin typeface="Instrument Sans"/>
                <a:ea typeface="Instrument Sans"/>
                <a:cs typeface="Instrument Sans"/>
              </a:defRPr>
            </a:lvl5pPr>
            <a:lvl6pPr>
              <a:buNone/>
              <a:defRPr sz="1532" b="0">
                <a:solidFill>
                  <a:srgbClr val="182028"/>
                </a:solidFill>
                <a:latin typeface="Instrument Sans"/>
                <a:ea typeface="Instrument Sans"/>
                <a:cs typeface="Instrument Sans"/>
              </a:defRPr>
            </a:lvl6pPr>
            <a:lvl7pPr>
              <a:buNone/>
              <a:defRPr sz="1532" b="0">
                <a:solidFill>
                  <a:srgbClr val="182028"/>
                </a:solidFill>
                <a:latin typeface="Instrument Sans"/>
                <a:ea typeface="Instrument Sans"/>
                <a:cs typeface="Instrument Sans"/>
              </a:defRPr>
            </a:lvl7pPr>
            <a:lvl8pPr>
              <a:buNone/>
              <a:defRPr sz="1532" b="0">
                <a:solidFill>
                  <a:srgbClr val="182028"/>
                </a:solidFill>
                <a:latin typeface="Instrument Sans"/>
                <a:ea typeface="Instrument Sans"/>
                <a:cs typeface="Instrument Sans"/>
              </a:defRPr>
            </a:lvl8pPr>
            <a:lvl9pPr>
              <a:buNone/>
              <a:defRPr sz="1532" b="0">
                <a:solidFill>
                  <a:srgbClr val="182028"/>
                </a:solidFill>
                <a:latin typeface="Instrument Sans"/>
                <a:ea typeface="Instrument Sans"/>
                <a:cs typeface="Instrument Sans"/>
              </a:defRPr>
            </a:lvl9pPr>
          </a:lstStyle>
          <a:p xmlns:a="http://schemas.openxmlformats.org/drawingml/2006/main">
            <a:pPr>
              <a:buNone/>
              <a:defRPr sz="1532" b="0">
                <a:solidFill>
                  <a:srgbClr val="182028"/>
                </a:solidFill>
                <a:latin typeface="Instrument Sans"/>
                <a:ea typeface="Instrument Sans"/>
                <a:cs typeface="Instrument Sans"/>
              </a:defRPr>
            </a:pPr>
            <a:r>
              <a:rPr sz="1532" b="0">
                <a:solidFill>
                  <a:srgbClr val="182028"/>
                </a:solidFill>
                <a:latin typeface="Instrument Sans"/>
                <a:ea typeface="Instrument Sans"/>
                <a:cs typeface="Instrument Sans"/>
              </a:rPr>
              <a:t>Proof</a:t>
            </a:r>
          </a:p>
        </p:txBody>
      </p:sp>
      <p:sp>
        <p:nvSpPr>
          <p:cNvPr id="237" name="Architecture label: Policy state">
            <a:extLst xmlns:a="http://schemas.openxmlformats.org/drawingml/2006/main">
              <a:ext uri="{FF2B5EF4-FFF2-40B4-BE49-F238E27FC236}">
                <a16:creationId xmlns:a16="http://schemas.microsoft.com/office/drawing/2014/main" id="{844100C6-F473-4E6E-86A8-0530DBADF5DD}"/>
              </a:ext>
            </a:extLst>
          </p:cNvPr>
          <p:cNvSpPr>
            <a:spLocks xmlns:a="http://schemas.openxmlformats.org/drawingml/2006/main" noGrp="1"/>
          </p:cNvSpPr>
          <p:nvPr/>
        </p:nvSpPr>
        <p:spPr>
          <a:xfrm xmlns:a="http://schemas.openxmlformats.org/drawingml/2006/main">
            <a:off x="11313622" y="6955501"/>
            <a:ext cx="935182" cy="2992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5" b="0">
                <a:solidFill>
                  <a:srgbClr val="182028"/>
                </a:solidFill>
                <a:latin typeface="Instrument Sans"/>
                <a:ea typeface="Instrument Sans"/>
                <a:cs typeface="Instrument Sans"/>
              </a:defRPr>
            </a:defPPr>
            <a:lvl1pPr>
              <a:buNone/>
              <a:defRPr sz="1355" b="0">
                <a:solidFill>
                  <a:srgbClr val="182028"/>
                </a:solidFill>
                <a:latin typeface="Instrument Sans"/>
                <a:ea typeface="Instrument Sans"/>
                <a:cs typeface="Instrument Sans"/>
              </a:defRPr>
            </a:lvl1pPr>
            <a:lvl2pPr>
              <a:buNone/>
              <a:defRPr sz="1355" b="0">
                <a:solidFill>
                  <a:srgbClr val="182028"/>
                </a:solidFill>
                <a:latin typeface="Instrument Sans"/>
                <a:ea typeface="Instrument Sans"/>
                <a:cs typeface="Instrument Sans"/>
              </a:defRPr>
            </a:lvl2pPr>
            <a:lvl3pPr>
              <a:buNone/>
              <a:defRPr sz="1355" b="0">
                <a:solidFill>
                  <a:srgbClr val="182028"/>
                </a:solidFill>
                <a:latin typeface="Instrument Sans"/>
                <a:ea typeface="Instrument Sans"/>
                <a:cs typeface="Instrument Sans"/>
              </a:defRPr>
            </a:lvl3pPr>
            <a:lvl4pPr>
              <a:buNone/>
              <a:defRPr sz="1355" b="0">
                <a:solidFill>
                  <a:srgbClr val="182028"/>
                </a:solidFill>
                <a:latin typeface="Instrument Sans"/>
                <a:ea typeface="Instrument Sans"/>
                <a:cs typeface="Instrument Sans"/>
              </a:defRPr>
            </a:lvl4pPr>
            <a:lvl5pPr>
              <a:buNone/>
              <a:defRPr sz="1355" b="0">
                <a:solidFill>
                  <a:srgbClr val="182028"/>
                </a:solidFill>
                <a:latin typeface="Instrument Sans"/>
                <a:ea typeface="Instrument Sans"/>
                <a:cs typeface="Instrument Sans"/>
              </a:defRPr>
            </a:lvl5pPr>
            <a:lvl6pPr>
              <a:buNone/>
              <a:defRPr sz="1355" b="0">
                <a:solidFill>
                  <a:srgbClr val="182028"/>
                </a:solidFill>
                <a:latin typeface="Instrument Sans"/>
                <a:ea typeface="Instrument Sans"/>
                <a:cs typeface="Instrument Sans"/>
              </a:defRPr>
            </a:lvl6pPr>
            <a:lvl7pPr>
              <a:buNone/>
              <a:defRPr sz="1355" b="0">
                <a:solidFill>
                  <a:srgbClr val="182028"/>
                </a:solidFill>
                <a:latin typeface="Instrument Sans"/>
                <a:ea typeface="Instrument Sans"/>
                <a:cs typeface="Instrument Sans"/>
              </a:defRPr>
            </a:lvl7pPr>
            <a:lvl8pPr>
              <a:buNone/>
              <a:defRPr sz="1355" b="0">
                <a:solidFill>
                  <a:srgbClr val="182028"/>
                </a:solidFill>
                <a:latin typeface="Instrument Sans"/>
                <a:ea typeface="Instrument Sans"/>
                <a:cs typeface="Instrument Sans"/>
              </a:defRPr>
            </a:lvl8pPr>
            <a:lvl9pPr>
              <a:buNone/>
              <a:defRPr sz="1355" b="0">
                <a:solidFill>
                  <a:srgbClr val="182028"/>
                </a:solidFill>
                <a:latin typeface="Instrument Sans"/>
                <a:ea typeface="Instrument Sans"/>
                <a:cs typeface="Instrument Sans"/>
              </a:defRPr>
            </a:lvl9pPr>
          </a:lstStyle>
          <a:p xmlns:a="http://schemas.openxmlformats.org/drawingml/2006/main">
            <a:pPr>
              <a:buNone/>
              <a:defRPr sz="1355" b="0">
                <a:solidFill>
                  <a:srgbClr val="182028"/>
                </a:solidFill>
                <a:latin typeface="Instrument Sans"/>
                <a:ea typeface="Instrument Sans"/>
                <a:cs typeface="Instrument Sans"/>
              </a:defRPr>
            </a:pPr>
            <a:r>
              <a:rPr sz="1355" b="0">
                <a:solidFill>
                  <a:srgbClr val="182028"/>
                </a:solidFill>
                <a:latin typeface="Instrument Sans"/>
                <a:ea typeface="Instrument Sans"/>
                <a:cs typeface="Instrument Sans"/>
              </a:rPr>
              <a:t>Policy state</a:t>
            </a:r>
          </a:p>
        </p:txBody>
      </p:sp>
      <p:sp>
        <p:nvSpPr>
          <p:cNvPr id="238" name="Architecture label: Private evidence stays offchain. Stellar checks proofs, credentials and consent.">
            <a:extLst xmlns:a="http://schemas.openxmlformats.org/drawingml/2006/main">
              <a:ext uri="{FF2B5EF4-FFF2-40B4-BE49-F238E27FC236}">
                <a16:creationId xmlns:a16="http://schemas.microsoft.com/office/drawing/2014/main" id="{332C9382-8F67-4360-BA78-C28B3D42515A}"/>
              </a:ext>
            </a:extLst>
          </p:cNvPr>
          <p:cNvSpPr>
            <a:spLocks xmlns:a="http://schemas.openxmlformats.org/drawingml/2006/main" noGrp="1"/>
          </p:cNvSpPr>
          <p:nvPr/>
        </p:nvSpPr>
        <p:spPr>
          <a:xfrm xmlns:a="http://schemas.openxmlformats.org/drawingml/2006/main">
            <a:off x="1213658" y="8638829"/>
            <a:ext cx="15860684" cy="3441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67" b="0">
                <a:solidFill>
                  <a:srgbClr val="182028"/>
                </a:solidFill>
                <a:latin typeface="Instrument Sans"/>
                <a:ea typeface="Instrument Sans"/>
                <a:cs typeface="Instrument Sans"/>
              </a:defRPr>
            </a:defPPr>
            <a:lvl1pPr>
              <a:buNone/>
              <a:defRPr sz="1767" b="0">
                <a:solidFill>
                  <a:srgbClr val="182028"/>
                </a:solidFill>
                <a:latin typeface="Instrument Sans"/>
                <a:ea typeface="Instrument Sans"/>
                <a:cs typeface="Instrument Sans"/>
              </a:defRPr>
            </a:lvl1pPr>
            <a:lvl2pPr>
              <a:buNone/>
              <a:defRPr sz="1767" b="0">
                <a:solidFill>
                  <a:srgbClr val="182028"/>
                </a:solidFill>
                <a:latin typeface="Instrument Sans"/>
                <a:ea typeface="Instrument Sans"/>
                <a:cs typeface="Instrument Sans"/>
              </a:defRPr>
            </a:lvl2pPr>
            <a:lvl3pPr>
              <a:buNone/>
              <a:defRPr sz="1767" b="0">
                <a:solidFill>
                  <a:srgbClr val="182028"/>
                </a:solidFill>
                <a:latin typeface="Instrument Sans"/>
                <a:ea typeface="Instrument Sans"/>
                <a:cs typeface="Instrument Sans"/>
              </a:defRPr>
            </a:lvl3pPr>
            <a:lvl4pPr>
              <a:buNone/>
              <a:defRPr sz="1767" b="0">
                <a:solidFill>
                  <a:srgbClr val="182028"/>
                </a:solidFill>
                <a:latin typeface="Instrument Sans"/>
                <a:ea typeface="Instrument Sans"/>
                <a:cs typeface="Instrument Sans"/>
              </a:defRPr>
            </a:lvl4pPr>
            <a:lvl5pPr>
              <a:buNone/>
              <a:defRPr sz="1767" b="0">
                <a:solidFill>
                  <a:srgbClr val="182028"/>
                </a:solidFill>
                <a:latin typeface="Instrument Sans"/>
                <a:ea typeface="Instrument Sans"/>
                <a:cs typeface="Instrument Sans"/>
              </a:defRPr>
            </a:lvl5pPr>
            <a:lvl6pPr>
              <a:buNone/>
              <a:defRPr sz="1767" b="0">
                <a:solidFill>
                  <a:srgbClr val="182028"/>
                </a:solidFill>
                <a:latin typeface="Instrument Sans"/>
                <a:ea typeface="Instrument Sans"/>
                <a:cs typeface="Instrument Sans"/>
              </a:defRPr>
            </a:lvl6pPr>
            <a:lvl7pPr>
              <a:buNone/>
              <a:defRPr sz="1767" b="0">
                <a:solidFill>
                  <a:srgbClr val="182028"/>
                </a:solidFill>
                <a:latin typeface="Instrument Sans"/>
                <a:ea typeface="Instrument Sans"/>
                <a:cs typeface="Instrument Sans"/>
              </a:defRPr>
            </a:lvl7pPr>
            <a:lvl8pPr>
              <a:buNone/>
              <a:defRPr sz="1767" b="0">
                <a:solidFill>
                  <a:srgbClr val="182028"/>
                </a:solidFill>
                <a:latin typeface="Instrument Sans"/>
                <a:ea typeface="Instrument Sans"/>
                <a:cs typeface="Instrument Sans"/>
              </a:defRPr>
            </a:lvl8pPr>
            <a:lvl9pPr>
              <a:buNone/>
              <a:defRPr sz="1767" b="0">
                <a:solidFill>
                  <a:srgbClr val="182028"/>
                </a:solidFill>
                <a:latin typeface="Instrument Sans"/>
                <a:ea typeface="Instrument Sans"/>
                <a:cs typeface="Instrument Sans"/>
              </a:defRPr>
            </a:lvl9pPr>
          </a:lstStyle>
          <a:p xmlns:a="http://schemas.openxmlformats.org/drawingml/2006/main">
            <a:pPr>
              <a:buNone/>
              <a:defRPr sz="1767" b="0">
                <a:solidFill>
                  <a:srgbClr val="182028"/>
                </a:solidFill>
                <a:latin typeface="Instrument Sans"/>
                <a:ea typeface="Instrument Sans"/>
                <a:cs typeface="Instrument Sans"/>
              </a:defRPr>
            </a:pPr>
            <a:r>
              <a:rPr sz="1767" b="0">
                <a:solidFill>
                  <a:srgbClr val="182028"/>
                </a:solidFill>
                <a:latin typeface="Instrument Sans"/>
                <a:ea typeface="Instrument Sans"/>
                <a:cs typeface="Instrument Sans"/>
              </a:rPr>
              <a:t>Private evidence stays offchain. Stellar checks proofs, credentials and consent.</a:t>
            </a:r>
          </a:p>
        </p:txBody>
      </p:sp>
    </p:spTree>
    <p:extLst>
      <p:ext uri="{BB962C8B-B14F-4D97-AF65-F5344CB8AC3E}">
        <p14:creationId xmlns:p14="http://schemas.microsoft.com/office/powerpoint/2010/main" val="697853663"/>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07 / 08</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THE TEAM</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E4299BD3-7047-43A1-AC1C-B50D1DBF7DE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20e25b569f441e1">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MCP title">
            <a:extLst xmlns:a="http://schemas.openxmlformats.org/drawingml/2006/main">
              <a:ext uri="{FF2B5EF4-FFF2-40B4-BE49-F238E27FC236}">
                <a16:creationId xmlns:a16="http://schemas.microsoft.com/office/drawing/2014/main" id="{DB3805F1-353B-4878-8859-6C817EDA7600}"/>
              </a:ext>
            </a:extLst>
          </p:cNvPr>
          <p:cNvSpPr>
            <a:spLocks xmlns:a="http://schemas.openxmlformats.org/drawingml/2006/main" noGrp="1"/>
          </p:cNvSpPr>
          <p:nvPr/>
        </p:nvSpPr>
        <p:spPr>
          <a:xfrm xmlns:a="http://schemas.openxmlformats.org/drawingml/2006/main">
            <a:off x="914400" y="2324100"/>
            <a:ext cx="16459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500" b="1">
                <a:solidFill>
                  <a:srgbClr val="0F0F0F"/>
                </a:solidFill>
                <a:latin typeface="Inter Tight"/>
                <a:ea typeface="Inter Tight"/>
                <a:cs typeface="Inter Tight"/>
              </a:defRPr>
            </a:defPPr>
            <a:lvl1pPr>
              <a:buNone/>
              <a:defRPr sz="7500" b="1">
                <a:solidFill>
                  <a:srgbClr val="0F0F0F"/>
                </a:solidFill>
                <a:latin typeface="Inter Tight"/>
                <a:ea typeface="Inter Tight"/>
                <a:cs typeface="Inter Tight"/>
              </a:defRPr>
            </a:lvl1pPr>
            <a:lvl2pPr>
              <a:buNone/>
              <a:defRPr sz="7500" b="1">
                <a:solidFill>
                  <a:srgbClr val="0F0F0F"/>
                </a:solidFill>
                <a:latin typeface="Inter Tight"/>
                <a:ea typeface="Inter Tight"/>
                <a:cs typeface="Inter Tight"/>
              </a:defRPr>
            </a:lvl2pPr>
            <a:lvl3pPr>
              <a:buNone/>
              <a:defRPr sz="7500" b="1">
                <a:solidFill>
                  <a:srgbClr val="0F0F0F"/>
                </a:solidFill>
                <a:latin typeface="Inter Tight"/>
                <a:ea typeface="Inter Tight"/>
                <a:cs typeface="Inter Tight"/>
              </a:defRPr>
            </a:lvl3pPr>
            <a:lvl4pPr>
              <a:buNone/>
              <a:defRPr sz="7500" b="1">
                <a:solidFill>
                  <a:srgbClr val="0F0F0F"/>
                </a:solidFill>
                <a:latin typeface="Inter Tight"/>
                <a:ea typeface="Inter Tight"/>
                <a:cs typeface="Inter Tight"/>
              </a:defRPr>
            </a:lvl4pPr>
            <a:lvl5pPr>
              <a:buNone/>
              <a:defRPr sz="7500" b="1">
                <a:solidFill>
                  <a:srgbClr val="0F0F0F"/>
                </a:solidFill>
                <a:latin typeface="Inter Tight"/>
                <a:ea typeface="Inter Tight"/>
                <a:cs typeface="Inter Tight"/>
              </a:defRPr>
            </a:lvl5pPr>
            <a:lvl6pPr>
              <a:buNone/>
              <a:defRPr sz="7500" b="1">
                <a:solidFill>
                  <a:srgbClr val="0F0F0F"/>
                </a:solidFill>
                <a:latin typeface="Inter Tight"/>
                <a:ea typeface="Inter Tight"/>
                <a:cs typeface="Inter Tight"/>
              </a:defRPr>
            </a:lvl6pPr>
            <a:lvl7pPr>
              <a:buNone/>
              <a:defRPr sz="7500" b="1">
                <a:solidFill>
                  <a:srgbClr val="0F0F0F"/>
                </a:solidFill>
                <a:latin typeface="Inter Tight"/>
                <a:ea typeface="Inter Tight"/>
                <a:cs typeface="Inter Tight"/>
              </a:defRPr>
            </a:lvl7pPr>
            <a:lvl8pPr>
              <a:buNone/>
              <a:defRPr sz="7500" b="1">
                <a:solidFill>
                  <a:srgbClr val="0F0F0F"/>
                </a:solidFill>
                <a:latin typeface="Inter Tight"/>
                <a:ea typeface="Inter Tight"/>
                <a:cs typeface="Inter Tight"/>
              </a:defRPr>
            </a:lvl8pPr>
            <a:lvl9pPr>
              <a:buNone/>
              <a:defRPr sz="7500" b="1">
                <a:solidFill>
                  <a:srgbClr val="0F0F0F"/>
                </a:solidFill>
                <a:latin typeface="Inter Tight"/>
                <a:ea typeface="Inter Tight"/>
                <a:cs typeface="Inter Tight"/>
              </a:defRPr>
            </a:lvl9pPr>
          </a:lstStyle>
          <a:p xmlns:a="http://schemas.openxmlformats.org/drawingml/2006/main">
            <a:pPr>
              <a:buNone/>
              <a:defRPr sz="7500" b="1">
                <a:solidFill>
                  <a:srgbClr val="0F0F0F"/>
                </a:solidFill>
                <a:latin typeface="Inter Tight"/>
                <a:ea typeface="Inter Tight"/>
                <a:cs typeface="Inter Tight"/>
              </a:defRPr>
            </a:pPr>
            <a:r>
              <a:rPr sz="7500" b="1">
                <a:solidFill>
                  <a:srgbClr val="0F0F0F"/>
                </a:solidFill>
                <a:latin typeface="Inter Tight"/>
                <a:ea typeface="Inter Tight"/>
                <a:cs typeface="Inter Tight"/>
              </a:rPr>
              <a:t>AI DEAL CONCIERGE</a:t>
            </a:r>
          </a:p>
        </p:txBody>
      </p:sp>
      <p:sp>
        <p:nvSpPr>
          <p:cNvPr id="169" name="User intent">
            <a:extLst xmlns:a="http://schemas.openxmlformats.org/drawingml/2006/main">
              <a:ext uri="{FF2B5EF4-FFF2-40B4-BE49-F238E27FC236}">
                <a16:creationId xmlns:a16="http://schemas.microsoft.com/office/drawing/2014/main" id="{B9F5514D-AC0F-4A77-AE13-9ED9EB0E1B86}"/>
              </a:ext>
            </a:extLst>
          </p:cNvPr>
          <p:cNvSpPr>
            <a:spLocks xmlns:a="http://schemas.openxmlformats.org/drawingml/2006/main" noGrp="1"/>
          </p:cNvSpPr>
          <p:nvPr/>
        </p:nvSpPr>
        <p:spPr>
          <a:xfrm xmlns:a="http://schemas.openxmlformats.org/drawingml/2006/main">
            <a:off x="1162050" y="3743325"/>
            <a:ext cx="15811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161616"/>
                </a:solidFill>
                <a:latin typeface="Instrument Sans"/>
                <a:ea typeface="Instrument Sans"/>
                <a:cs typeface="Instrument Sans"/>
              </a:defRPr>
            </a:defPPr>
            <a:lvl1pPr>
              <a:buNone/>
              <a:defRPr sz="3375" b="1">
                <a:solidFill>
                  <a:srgbClr val="161616"/>
                </a:solidFill>
                <a:latin typeface="Instrument Sans"/>
                <a:ea typeface="Instrument Sans"/>
                <a:cs typeface="Instrument Sans"/>
              </a:defRPr>
            </a:lvl1pPr>
            <a:lvl2pPr>
              <a:buNone/>
              <a:defRPr sz="3375" b="1">
                <a:solidFill>
                  <a:srgbClr val="161616"/>
                </a:solidFill>
                <a:latin typeface="Instrument Sans"/>
                <a:ea typeface="Instrument Sans"/>
                <a:cs typeface="Instrument Sans"/>
              </a:defRPr>
            </a:lvl2pPr>
            <a:lvl3pPr>
              <a:buNone/>
              <a:defRPr sz="3375" b="1">
                <a:solidFill>
                  <a:srgbClr val="161616"/>
                </a:solidFill>
                <a:latin typeface="Instrument Sans"/>
                <a:ea typeface="Instrument Sans"/>
                <a:cs typeface="Instrument Sans"/>
              </a:defRPr>
            </a:lvl3pPr>
            <a:lvl4pPr>
              <a:buNone/>
              <a:defRPr sz="3375" b="1">
                <a:solidFill>
                  <a:srgbClr val="161616"/>
                </a:solidFill>
                <a:latin typeface="Instrument Sans"/>
                <a:ea typeface="Instrument Sans"/>
                <a:cs typeface="Instrument Sans"/>
              </a:defRPr>
            </a:lvl4pPr>
            <a:lvl5pPr>
              <a:buNone/>
              <a:defRPr sz="3375" b="1">
                <a:solidFill>
                  <a:srgbClr val="161616"/>
                </a:solidFill>
                <a:latin typeface="Instrument Sans"/>
                <a:ea typeface="Instrument Sans"/>
                <a:cs typeface="Instrument Sans"/>
              </a:defRPr>
            </a:lvl5pPr>
            <a:lvl6pPr>
              <a:buNone/>
              <a:defRPr sz="3375" b="1">
                <a:solidFill>
                  <a:srgbClr val="161616"/>
                </a:solidFill>
                <a:latin typeface="Instrument Sans"/>
                <a:ea typeface="Instrument Sans"/>
                <a:cs typeface="Instrument Sans"/>
              </a:defRPr>
            </a:lvl6pPr>
            <a:lvl7pPr>
              <a:buNone/>
              <a:defRPr sz="3375" b="1">
                <a:solidFill>
                  <a:srgbClr val="161616"/>
                </a:solidFill>
                <a:latin typeface="Instrument Sans"/>
                <a:ea typeface="Instrument Sans"/>
                <a:cs typeface="Instrument Sans"/>
              </a:defRPr>
            </a:lvl7pPr>
            <a:lvl8pPr>
              <a:buNone/>
              <a:defRPr sz="3375" b="1">
                <a:solidFill>
                  <a:srgbClr val="161616"/>
                </a:solidFill>
                <a:latin typeface="Instrument Sans"/>
                <a:ea typeface="Instrument Sans"/>
                <a:cs typeface="Instrument Sans"/>
              </a:defRPr>
            </a:lvl8pPr>
            <a:lvl9pPr>
              <a:buNone/>
              <a:defRPr sz="3375" b="1">
                <a:solidFill>
                  <a:srgbClr val="161616"/>
                </a:solidFill>
                <a:latin typeface="Instrument Sans"/>
                <a:ea typeface="Instrument Sans"/>
                <a:cs typeface="Instrument Sans"/>
              </a:defRPr>
            </a:lvl9pPr>
          </a:lstStyle>
          <a:p xmlns:a="http://schemas.openxmlformats.org/drawingml/2006/main">
            <a:pPr>
              <a:buNone/>
              <a:defRPr sz="3375" b="1">
                <a:solidFill>
                  <a:srgbClr val="161616"/>
                </a:solidFill>
                <a:latin typeface="Instrument Sans"/>
                <a:ea typeface="Instrument Sans"/>
                <a:cs typeface="Instrument Sans"/>
              </a:defRPr>
            </a:pPr>
            <a:r>
              <a:rPr sz="3375" b="1">
                <a:solidFill>
                  <a:srgbClr val="161616"/>
                </a:solidFill>
                <a:latin typeface="Instrument Sans"/>
                <a:ea typeface="Instrument Sans"/>
                <a:cs typeface="Instrument Sans"/>
              </a:rPr>
              <a:t>“Help me qualify for this private deal.”</a:t>
            </a:r>
          </a:p>
        </p:txBody>
      </p:sp>
      <p:sp>
        <p:nvSpPr>
          <p:cNvPr id="170" name="AI client">
            <a:extLst xmlns:a="http://schemas.openxmlformats.org/drawingml/2006/main">
              <a:ext uri="{FF2B5EF4-FFF2-40B4-BE49-F238E27FC236}">
                <a16:creationId xmlns:a16="http://schemas.microsoft.com/office/drawing/2014/main" id="{9A27338E-3135-4AB4-BC1A-1103E737FD69}"/>
              </a:ext>
            </a:extLst>
          </p:cNvPr>
          <p:cNvSpPr>
            <a:spLocks xmlns:a="http://schemas.openxmlformats.org/drawingml/2006/main" noGrp="1"/>
          </p:cNvSpPr>
          <p:nvPr/>
        </p:nvSpPr>
        <p:spPr>
          <a:xfrm xmlns:a="http://schemas.openxmlformats.org/drawingml/2006/main">
            <a:off x="1162050" y="4943475"/>
            <a:ext cx="3381375" cy="1952625"/>
          </a:xfrm>
          <a:prstGeom xmlns:a="http://schemas.openxmlformats.org/drawingml/2006/main" prst="rect">
            <a:avLst/>
          </a:prstGeom>
          <a:solidFill xmlns:a="http://schemas.openxmlformats.org/drawingml/2006/main">
            <a:srgbClr val="F1F0EA"/>
          </a:solidFill>
          <a:ln xmlns:a="http://schemas.openxmlformats.org/drawingml/2006/main" w="14288">
            <a:solidFill>
              <a:srgbClr val="8C8A82"/>
            </a:solidFill>
          </a:ln>
        </p:spPr>
      </p:sp>
      <p:sp>
        <p:nvSpPr>
          <p:cNvPr id="171" name="AI client heading">
            <a:extLst xmlns:a="http://schemas.openxmlformats.org/drawingml/2006/main">
              <a:ext uri="{FF2B5EF4-FFF2-40B4-BE49-F238E27FC236}">
                <a16:creationId xmlns:a16="http://schemas.microsoft.com/office/drawing/2014/main" id="{A91A7534-E5A1-4BE3-A98D-E07A1E78A47D}"/>
              </a:ext>
            </a:extLst>
          </p:cNvPr>
          <p:cNvSpPr>
            <a:spLocks xmlns:a="http://schemas.openxmlformats.org/drawingml/2006/main" noGrp="1"/>
          </p:cNvSpPr>
          <p:nvPr/>
        </p:nvSpPr>
        <p:spPr>
          <a:xfrm xmlns:a="http://schemas.openxmlformats.org/drawingml/2006/main">
            <a:off x="1381125" y="5143500"/>
            <a:ext cx="2943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61616"/>
                </a:solidFill>
                <a:latin typeface="Instrument Sans"/>
                <a:ea typeface="Instrument Sans"/>
                <a:cs typeface="Instrument Sans"/>
              </a:defRPr>
            </a:defPPr>
            <a:lvl1pPr>
              <a:buNone/>
              <a:defRPr sz="2625" b="1">
                <a:solidFill>
                  <a:srgbClr val="161616"/>
                </a:solidFill>
                <a:latin typeface="Instrument Sans"/>
                <a:ea typeface="Instrument Sans"/>
                <a:cs typeface="Instrument Sans"/>
              </a:defRPr>
            </a:lvl1pPr>
            <a:lvl2pPr>
              <a:buNone/>
              <a:defRPr sz="2625" b="1">
                <a:solidFill>
                  <a:srgbClr val="161616"/>
                </a:solidFill>
                <a:latin typeface="Instrument Sans"/>
                <a:ea typeface="Instrument Sans"/>
                <a:cs typeface="Instrument Sans"/>
              </a:defRPr>
            </a:lvl2pPr>
            <a:lvl3pPr>
              <a:buNone/>
              <a:defRPr sz="2625" b="1">
                <a:solidFill>
                  <a:srgbClr val="161616"/>
                </a:solidFill>
                <a:latin typeface="Instrument Sans"/>
                <a:ea typeface="Instrument Sans"/>
                <a:cs typeface="Instrument Sans"/>
              </a:defRPr>
            </a:lvl3pPr>
            <a:lvl4pPr>
              <a:buNone/>
              <a:defRPr sz="2625" b="1">
                <a:solidFill>
                  <a:srgbClr val="161616"/>
                </a:solidFill>
                <a:latin typeface="Instrument Sans"/>
                <a:ea typeface="Instrument Sans"/>
                <a:cs typeface="Instrument Sans"/>
              </a:defRPr>
            </a:lvl4pPr>
            <a:lvl5pPr>
              <a:buNone/>
              <a:defRPr sz="2625" b="1">
                <a:solidFill>
                  <a:srgbClr val="161616"/>
                </a:solidFill>
                <a:latin typeface="Instrument Sans"/>
                <a:ea typeface="Instrument Sans"/>
                <a:cs typeface="Instrument Sans"/>
              </a:defRPr>
            </a:lvl5pPr>
            <a:lvl6pPr>
              <a:buNone/>
              <a:defRPr sz="2625" b="1">
                <a:solidFill>
                  <a:srgbClr val="161616"/>
                </a:solidFill>
                <a:latin typeface="Instrument Sans"/>
                <a:ea typeface="Instrument Sans"/>
                <a:cs typeface="Instrument Sans"/>
              </a:defRPr>
            </a:lvl6pPr>
            <a:lvl7pPr>
              <a:buNone/>
              <a:defRPr sz="2625" b="1">
                <a:solidFill>
                  <a:srgbClr val="161616"/>
                </a:solidFill>
                <a:latin typeface="Instrument Sans"/>
                <a:ea typeface="Instrument Sans"/>
                <a:cs typeface="Instrument Sans"/>
              </a:defRPr>
            </a:lvl7pPr>
            <a:lvl8pPr>
              <a:buNone/>
              <a:defRPr sz="2625" b="1">
                <a:solidFill>
                  <a:srgbClr val="161616"/>
                </a:solidFill>
                <a:latin typeface="Instrument Sans"/>
                <a:ea typeface="Instrument Sans"/>
                <a:cs typeface="Instrument Sans"/>
              </a:defRPr>
            </a:lvl8pPr>
            <a:lvl9pPr>
              <a:buNone/>
              <a:defRPr sz="2625" b="1">
                <a:solidFill>
                  <a:srgbClr val="161616"/>
                </a:solidFill>
                <a:latin typeface="Instrument Sans"/>
                <a:ea typeface="Instrument Sans"/>
                <a:cs typeface="Instrument Sans"/>
              </a:defRPr>
            </a:lvl9pPr>
          </a:lstStyle>
          <a:p xmlns:a="http://schemas.openxmlformats.org/drawingml/2006/main">
            <a:pPr>
              <a:buNone/>
              <a:defRPr sz="2625" b="1">
                <a:solidFill>
                  <a:srgbClr val="161616"/>
                </a:solidFill>
                <a:latin typeface="Instrument Sans"/>
                <a:ea typeface="Instrument Sans"/>
                <a:cs typeface="Instrument Sans"/>
              </a:defRPr>
            </a:pPr>
            <a:r>
              <a:rPr sz="2625" b="1">
                <a:solidFill>
                  <a:srgbClr val="161616"/>
                </a:solidFill>
                <a:latin typeface="Instrument Sans"/>
                <a:ea typeface="Instrument Sans"/>
                <a:cs typeface="Instrument Sans"/>
              </a:rPr>
              <a:t>Your AI assistant</a:t>
            </a:r>
          </a:p>
        </p:txBody>
      </p:sp>
      <p:sp>
        <p:nvSpPr>
          <p:cNvPr id="172" name="AI client detail">
            <a:extLst xmlns:a="http://schemas.openxmlformats.org/drawingml/2006/main">
              <a:ext uri="{FF2B5EF4-FFF2-40B4-BE49-F238E27FC236}">
                <a16:creationId xmlns:a16="http://schemas.microsoft.com/office/drawing/2014/main" id="{9C20C2B2-B208-4AD2-9C2B-907F99579A99}"/>
              </a:ext>
            </a:extLst>
          </p:cNvPr>
          <p:cNvSpPr>
            <a:spLocks xmlns:a="http://schemas.openxmlformats.org/drawingml/2006/main" noGrp="1"/>
          </p:cNvSpPr>
          <p:nvPr/>
        </p:nvSpPr>
        <p:spPr>
          <a:xfrm xmlns:a="http://schemas.openxmlformats.org/drawingml/2006/main">
            <a:off x="1381125" y="5734050"/>
            <a:ext cx="29432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61616"/>
                </a:solidFill>
                <a:latin typeface="Instrument Sans"/>
                <a:ea typeface="Instrument Sans"/>
                <a:cs typeface="Instrument Sans"/>
              </a:defRPr>
            </a:defPPr>
            <a:lvl1pPr>
              <a:buNone/>
              <a:defRPr sz="2175" b="0">
                <a:solidFill>
                  <a:srgbClr val="161616"/>
                </a:solidFill>
                <a:latin typeface="Instrument Sans"/>
                <a:ea typeface="Instrument Sans"/>
                <a:cs typeface="Instrument Sans"/>
              </a:defRPr>
            </a:lvl1pPr>
            <a:lvl2pPr>
              <a:buNone/>
              <a:defRPr sz="2175" b="0">
                <a:solidFill>
                  <a:srgbClr val="161616"/>
                </a:solidFill>
                <a:latin typeface="Instrument Sans"/>
                <a:ea typeface="Instrument Sans"/>
                <a:cs typeface="Instrument Sans"/>
              </a:defRPr>
            </a:lvl2pPr>
            <a:lvl3pPr>
              <a:buNone/>
              <a:defRPr sz="2175" b="0">
                <a:solidFill>
                  <a:srgbClr val="161616"/>
                </a:solidFill>
                <a:latin typeface="Instrument Sans"/>
                <a:ea typeface="Instrument Sans"/>
                <a:cs typeface="Instrument Sans"/>
              </a:defRPr>
            </a:lvl3pPr>
            <a:lvl4pPr>
              <a:buNone/>
              <a:defRPr sz="2175" b="0">
                <a:solidFill>
                  <a:srgbClr val="161616"/>
                </a:solidFill>
                <a:latin typeface="Instrument Sans"/>
                <a:ea typeface="Instrument Sans"/>
                <a:cs typeface="Instrument Sans"/>
              </a:defRPr>
            </a:lvl4pPr>
            <a:lvl5pPr>
              <a:buNone/>
              <a:defRPr sz="2175" b="0">
                <a:solidFill>
                  <a:srgbClr val="161616"/>
                </a:solidFill>
                <a:latin typeface="Instrument Sans"/>
                <a:ea typeface="Instrument Sans"/>
                <a:cs typeface="Instrument Sans"/>
              </a:defRPr>
            </a:lvl5pPr>
            <a:lvl6pPr>
              <a:buNone/>
              <a:defRPr sz="2175" b="0">
                <a:solidFill>
                  <a:srgbClr val="161616"/>
                </a:solidFill>
                <a:latin typeface="Instrument Sans"/>
                <a:ea typeface="Instrument Sans"/>
                <a:cs typeface="Instrument Sans"/>
              </a:defRPr>
            </a:lvl6pPr>
            <a:lvl7pPr>
              <a:buNone/>
              <a:defRPr sz="2175" b="0">
                <a:solidFill>
                  <a:srgbClr val="161616"/>
                </a:solidFill>
                <a:latin typeface="Instrument Sans"/>
                <a:ea typeface="Instrument Sans"/>
                <a:cs typeface="Instrument Sans"/>
              </a:defRPr>
            </a:lvl7pPr>
            <a:lvl8pPr>
              <a:buNone/>
              <a:defRPr sz="2175" b="0">
                <a:solidFill>
                  <a:srgbClr val="161616"/>
                </a:solidFill>
                <a:latin typeface="Instrument Sans"/>
                <a:ea typeface="Instrument Sans"/>
                <a:cs typeface="Instrument Sans"/>
              </a:defRPr>
            </a:lvl8pPr>
            <a:lvl9pPr>
              <a:buNone/>
              <a:defRPr sz="2175" b="0">
                <a:solidFill>
                  <a:srgbClr val="161616"/>
                </a:solidFill>
                <a:latin typeface="Instrument Sans"/>
                <a:ea typeface="Instrument Sans"/>
                <a:cs typeface="Instrument Sans"/>
              </a:defRPr>
            </a:lvl9pPr>
          </a:lstStyle>
          <a:p xmlns:a="http://schemas.openxmlformats.org/drawingml/2006/main">
            <a:pPr>
              <a:buNone/>
              <a:defRPr sz="2175" b="0">
                <a:solidFill>
                  <a:srgbClr val="161616"/>
                </a:solidFill>
                <a:latin typeface="Instrument Sans"/>
                <a:ea typeface="Instrument Sans"/>
                <a:cs typeface="Instrument Sans"/>
              </a:defRPr>
            </a:pPr>
            <a:r>
              <a:rPr sz="2175" b="0">
                <a:solidFill>
                  <a:srgbClr val="161616"/>
                </a:solidFill>
                <a:latin typeface="Instrument Sans"/>
                <a:ea typeface="Instrument Sans"/>
                <a:cs typeface="Instrument Sans"/>
              </a:rPr>
              <a:t>Codex / Claude / ChatGPT</a:t>
            </a:r>
          </a:p>
        </p:txBody>
      </p:sp>
      <p:sp>
        <p:nvSpPr>
          <p:cNvPr id="173" name="MCP server">
            <a:extLst xmlns:a="http://schemas.openxmlformats.org/drawingml/2006/main">
              <a:ext uri="{FF2B5EF4-FFF2-40B4-BE49-F238E27FC236}">
                <a16:creationId xmlns:a16="http://schemas.microsoft.com/office/drawing/2014/main" id="{951611B9-2608-40F5-B513-58081D87CE40}"/>
              </a:ext>
            </a:extLst>
          </p:cNvPr>
          <p:cNvSpPr>
            <a:spLocks xmlns:a="http://schemas.openxmlformats.org/drawingml/2006/main" noGrp="1"/>
          </p:cNvSpPr>
          <p:nvPr/>
        </p:nvSpPr>
        <p:spPr>
          <a:xfrm xmlns:a="http://schemas.openxmlformats.org/drawingml/2006/main">
            <a:off x="5191125" y="4572000"/>
            <a:ext cx="5810250" cy="2714625"/>
          </a:xfrm>
          <a:prstGeom xmlns:a="http://schemas.openxmlformats.org/drawingml/2006/main" prst="rect">
            <a:avLst/>
          </a:prstGeom>
          <a:solidFill xmlns:a="http://schemas.openxmlformats.org/drawingml/2006/main">
            <a:srgbClr val="FFF2AE"/>
          </a:solidFill>
          <a:ln xmlns:a="http://schemas.openxmlformats.org/drawingml/2006/main" w="14288">
            <a:solidFill>
              <a:srgbClr val="8C8A82"/>
            </a:solidFill>
          </a:ln>
        </p:spPr>
      </p:sp>
      <p:sp>
        <p:nvSpPr>
          <p:cNvPr id="174" name="MCP server heading">
            <a:extLst xmlns:a="http://schemas.openxmlformats.org/drawingml/2006/main">
              <a:ext uri="{FF2B5EF4-FFF2-40B4-BE49-F238E27FC236}">
                <a16:creationId xmlns:a16="http://schemas.microsoft.com/office/drawing/2014/main" id="{203F24F3-3ADC-47B4-87E8-D89C17E12101}"/>
              </a:ext>
            </a:extLst>
          </p:cNvPr>
          <p:cNvSpPr>
            <a:spLocks xmlns:a="http://schemas.openxmlformats.org/drawingml/2006/main" noGrp="1"/>
          </p:cNvSpPr>
          <p:nvPr/>
        </p:nvSpPr>
        <p:spPr>
          <a:xfrm xmlns:a="http://schemas.openxmlformats.org/drawingml/2006/main">
            <a:off x="5410200" y="4772025"/>
            <a:ext cx="5372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61616"/>
                </a:solidFill>
                <a:latin typeface="Instrument Sans"/>
                <a:ea typeface="Instrument Sans"/>
                <a:cs typeface="Instrument Sans"/>
              </a:defRPr>
            </a:defPPr>
            <a:lvl1pPr>
              <a:buNone/>
              <a:defRPr sz="2625" b="1">
                <a:solidFill>
                  <a:srgbClr val="161616"/>
                </a:solidFill>
                <a:latin typeface="Instrument Sans"/>
                <a:ea typeface="Instrument Sans"/>
                <a:cs typeface="Instrument Sans"/>
              </a:defRPr>
            </a:lvl1pPr>
            <a:lvl2pPr>
              <a:buNone/>
              <a:defRPr sz="2625" b="1">
                <a:solidFill>
                  <a:srgbClr val="161616"/>
                </a:solidFill>
                <a:latin typeface="Instrument Sans"/>
                <a:ea typeface="Instrument Sans"/>
                <a:cs typeface="Instrument Sans"/>
              </a:defRPr>
            </a:lvl2pPr>
            <a:lvl3pPr>
              <a:buNone/>
              <a:defRPr sz="2625" b="1">
                <a:solidFill>
                  <a:srgbClr val="161616"/>
                </a:solidFill>
                <a:latin typeface="Instrument Sans"/>
                <a:ea typeface="Instrument Sans"/>
                <a:cs typeface="Instrument Sans"/>
              </a:defRPr>
            </a:lvl3pPr>
            <a:lvl4pPr>
              <a:buNone/>
              <a:defRPr sz="2625" b="1">
                <a:solidFill>
                  <a:srgbClr val="161616"/>
                </a:solidFill>
                <a:latin typeface="Instrument Sans"/>
                <a:ea typeface="Instrument Sans"/>
                <a:cs typeface="Instrument Sans"/>
              </a:defRPr>
            </a:lvl4pPr>
            <a:lvl5pPr>
              <a:buNone/>
              <a:defRPr sz="2625" b="1">
                <a:solidFill>
                  <a:srgbClr val="161616"/>
                </a:solidFill>
                <a:latin typeface="Instrument Sans"/>
                <a:ea typeface="Instrument Sans"/>
                <a:cs typeface="Instrument Sans"/>
              </a:defRPr>
            </a:lvl5pPr>
            <a:lvl6pPr>
              <a:buNone/>
              <a:defRPr sz="2625" b="1">
                <a:solidFill>
                  <a:srgbClr val="161616"/>
                </a:solidFill>
                <a:latin typeface="Instrument Sans"/>
                <a:ea typeface="Instrument Sans"/>
                <a:cs typeface="Instrument Sans"/>
              </a:defRPr>
            </a:lvl6pPr>
            <a:lvl7pPr>
              <a:buNone/>
              <a:defRPr sz="2625" b="1">
                <a:solidFill>
                  <a:srgbClr val="161616"/>
                </a:solidFill>
                <a:latin typeface="Instrument Sans"/>
                <a:ea typeface="Instrument Sans"/>
                <a:cs typeface="Instrument Sans"/>
              </a:defRPr>
            </a:lvl7pPr>
            <a:lvl8pPr>
              <a:buNone/>
              <a:defRPr sz="2625" b="1">
                <a:solidFill>
                  <a:srgbClr val="161616"/>
                </a:solidFill>
                <a:latin typeface="Instrument Sans"/>
                <a:ea typeface="Instrument Sans"/>
                <a:cs typeface="Instrument Sans"/>
              </a:defRPr>
            </a:lvl8pPr>
            <a:lvl9pPr>
              <a:buNone/>
              <a:defRPr sz="2625" b="1">
                <a:solidFill>
                  <a:srgbClr val="161616"/>
                </a:solidFill>
                <a:latin typeface="Instrument Sans"/>
                <a:ea typeface="Instrument Sans"/>
                <a:cs typeface="Instrument Sans"/>
              </a:defRPr>
            </a:lvl9pPr>
          </a:lstStyle>
          <a:p xmlns:a="http://schemas.openxmlformats.org/drawingml/2006/main">
            <a:pPr>
              <a:buNone/>
              <a:defRPr sz="2625" b="1">
                <a:solidFill>
                  <a:srgbClr val="161616"/>
                </a:solidFill>
                <a:latin typeface="Instrument Sans"/>
                <a:ea typeface="Instrument Sans"/>
                <a:cs typeface="Instrument Sans"/>
              </a:defRPr>
            </a:pPr>
            <a:r>
              <a:rPr sz="2625" b="1">
                <a:solidFill>
                  <a:srgbClr val="161616"/>
                </a:solidFill>
                <a:latin typeface="Instrument Sans"/>
                <a:ea typeface="Instrument Sans"/>
                <a:cs typeface="Instrument Sans"/>
              </a:rPr>
              <a:t>Deal Passport MCP</a:t>
            </a:r>
          </a:p>
        </p:txBody>
      </p:sp>
      <p:sp>
        <p:nvSpPr>
          <p:cNvPr id="175" name="MCP server detail">
            <a:extLst xmlns:a="http://schemas.openxmlformats.org/drawingml/2006/main">
              <a:ext uri="{FF2B5EF4-FFF2-40B4-BE49-F238E27FC236}">
                <a16:creationId xmlns:a16="http://schemas.microsoft.com/office/drawing/2014/main" id="{34C1C64B-7CCC-4616-AB8D-D9CAF0B6D49B}"/>
              </a:ext>
            </a:extLst>
          </p:cNvPr>
          <p:cNvSpPr>
            <a:spLocks xmlns:a="http://schemas.openxmlformats.org/drawingml/2006/main" noGrp="1"/>
          </p:cNvSpPr>
          <p:nvPr/>
        </p:nvSpPr>
        <p:spPr>
          <a:xfrm xmlns:a="http://schemas.openxmlformats.org/drawingml/2006/main">
            <a:off x="5410200" y="5362575"/>
            <a:ext cx="53721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61616"/>
                </a:solidFill>
                <a:latin typeface="Instrument Sans"/>
                <a:ea typeface="Instrument Sans"/>
                <a:cs typeface="Instrument Sans"/>
              </a:defRPr>
            </a:defPPr>
            <a:lvl1pPr>
              <a:buNone/>
              <a:defRPr sz="2175" b="0">
                <a:solidFill>
                  <a:srgbClr val="161616"/>
                </a:solidFill>
                <a:latin typeface="Instrument Sans"/>
                <a:ea typeface="Instrument Sans"/>
                <a:cs typeface="Instrument Sans"/>
              </a:defRPr>
            </a:lvl1pPr>
            <a:lvl2pPr>
              <a:buNone/>
              <a:defRPr sz="2175" b="0">
                <a:solidFill>
                  <a:srgbClr val="161616"/>
                </a:solidFill>
                <a:latin typeface="Instrument Sans"/>
                <a:ea typeface="Instrument Sans"/>
                <a:cs typeface="Instrument Sans"/>
              </a:defRPr>
            </a:lvl2pPr>
            <a:lvl3pPr>
              <a:buNone/>
              <a:defRPr sz="2175" b="0">
                <a:solidFill>
                  <a:srgbClr val="161616"/>
                </a:solidFill>
                <a:latin typeface="Instrument Sans"/>
                <a:ea typeface="Instrument Sans"/>
                <a:cs typeface="Instrument Sans"/>
              </a:defRPr>
            </a:lvl3pPr>
            <a:lvl4pPr>
              <a:buNone/>
              <a:defRPr sz="2175" b="0">
                <a:solidFill>
                  <a:srgbClr val="161616"/>
                </a:solidFill>
                <a:latin typeface="Instrument Sans"/>
                <a:ea typeface="Instrument Sans"/>
                <a:cs typeface="Instrument Sans"/>
              </a:defRPr>
            </a:lvl4pPr>
            <a:lvl5pPr>
              <a:buNone/>
              <a:defRPr sz="2175" b="0">
                <a:solidFill>
                  <a:srgbClr val="161616"/>
                </a:solidFill>
                <a:latin typeface="Instrument Sans"/>
                <a:ea typeface="Instrument Sans"/>
                <a:cs typeface="Instrument Sans"/>
              </a:defRPr>
            </a:lvl5pPr>
            <a:lvl6pPr>
              <a:buNone/>
              <a:defRPr sz="2175" b="0">
                <a:solidFill>
                  <a:srgbClr val="161616"/>
                </a:solidFill>
                <a:latin typeface="Instrument Sans"/>
                <a:ea typeface="Instrument Sans"/>
                <a:cs typeface="Instrument Sans"/>
              </a:defRPr>
            </a:lvl6pPr>
            <a:lvl7pPr>
              <a:buNone/>
              <a:defRPr sz="2175" b="0">
                <a:solidFill>
                  <a:srgbClr val="161616"/>
                </a:solidFill>
                <a:latin typeface="Instrument Sans"/>
                <a:ea typeface="Instrument Sans"/>
                <a:cs typeface="Instrument Sans"/>
              </a:defRPr>
            </a:lvl7pPr>
            <a:lvl8pPr>
              <a:buNone/>
              <a:defRPr sz="2175" b="0">
                <a:solidFill>
                  <a:srgbClr val="161616"/>
                </a:solidFill>
                <a:latin typeface="Instrument Sans"/>
                <a:ea typeface="Instrument Sans"/>
                <a:cs typeface="Instrument Sans"/>
              </a:defRPr>
            </a:lvl8pPr>
            <a:lvl9pPr>
              <a:buNone/>
              <a:defRPr sz="2175" b="0">
                <a:solidFill>
                  <a:srgbClr val="161616"/>
                </a:solidFill>
                <a:latin typeface="Instrument Sans"/>
                <a:ea typeface="Instrument Sans"/>
                <a:cs typeface="Instrument Sans"/>
              </a:defRPr>
            </a:lvl9pPr>
          </a:lstStyle>
          <a:p xmlns:a="http://schemas.openxmlformats.org/drawingml/2006/main">
            <a:pPr>
              <a:buNone/>
              <a:defRPr sz="2175" b="0">
                <a:solidFill>
                  <a:srgbClr val="161616"/>
                </a:solidFill>
                <a:latin typeface="Instrument Sans"/>
                <a:ea typeface="Instrument Sans"/>
                <a:cs typeface="Instrument Sans"/>
              </a:defRPr>
            </a:pPr>
            <a:r>
              <a:rPr sz="2175" b="0">
                <a:solidFill>
                  <a:srgbClr val="161616"/>
                </a:solidFill>
                <a:latin typeface="Instrument Sans"/>
                <a:ea typeface="Instrument Sans"/>
                <a:cs typeface="Instrument Sans"/>
              </a:rPr>
              <a:t>Check deal + Passport status</a:t>
            </a:r>
          </a:p>
          <a:p xmlns:a="http://schemas.openxmlformats.org/drawingml/2006/main">
            <a:pPr>
              <a:buNone/>
              <a:defRPr sz="2175" b="0">
                <a:solidFill>
                  <a:srgbClr val="161616"/>
                </a:solidFill>
                <a:latin typeface="Instrument Sans"/>
                <a:ea typeface="Instrument Sans"/>
                <a:cs typeface="Instrument Sans"/>
              </a:defRPr>
            </a:pPr>
            <a:r>
              <a:rPr sz="2175" b="0">
                <a:solidFill>
                  <a:srgbClr val="161616"/>
                </a:solidFill>
                <a:latin typeface="Instrument Sans"/>
                <a:ea typeface="Instrument Sans"/>
                <a:cs typeface="Instrument Sans"/>
              </a:rPr>
              <a:t>Request missing verification</a:t>
            </a:r>
          </a:p>
          <a:p xmlns:a="http://schemas.openxmlformats.org/drawingml/2006/main">
            <a:pPr>
              <a:buNone/>
              <a:defRPr sz="2175" b="0">
                <a:solidFill>
                  <a:srgbClr val="161616"/>
                </a:solidFill>
                <a:latin typeface="Instrument Sans"/>
                <a:ea typeface="Instrument Sans"/>
                <a:cs typeface="Instrument Sans"/>
              </a:defRPr>
            </a:pPr>
            <a:r>
              <a:rPr sz="2175" b="0">
                <a:solidFill>
                  <a:srgbClr val="161616"/>
                </a:solidFill>
                <a:latin typeface="Instrument Sans"/>
                <a:ea typeface="Instrument Sans"/>
                <a:cs typeface="Instrument Sans"/>
              </a:rPr>
              <a:t>Prepare access for approval</a:t>
            </a:r>
          </a:p>
        </p:txBody>
      </p:sp>
      <p:sp>
        <p:nvSpPr>
          <p:cNvPr id="176" name="Existing API">
            <a:extLst xmlns:a="http://schemas.openxmlformats.org/drawingml/2006/main">
              <a:ext uri="{FF2B5EF4-FFF2-40B4-BE49-F238E27FC236}">
                <a16:creationId xmlns:a16="http://schemas.microsoft.com/office/drawing/2014/main" id="{6F05A6FC-E338-4FEA-8753-436C0BF61DF1}"/>
              </a:ext>
            </a:extLst>
          </p:cNvPr>
          <p:cNvSpPr>
            <a:spLocks xmlns:a="http://schemas.openxmlformats.org/drawingml/2006/main" noGrp="1"/>
          </p:cNvSpPr>
          <p:nvPr/>
        </p:nvSpPr>
        <p:spPr>
          <a:xfrm xmlns:a="http://schemas.openxmlformats.org/drawingml/2006/main">
            <a:off x="11715750" y="4572000"/>
            <a:ext cx="5400675" cy="1400175"/>
          </a:xfrm>
          <a:prstGeom xmlns:a="http://schemas.openxmlformats.org/drawingml/2006/main" prst="rect">
            <a:avLst/>
          </a:prstGeom>
          <a:solidFill xmlns:a="http://schemas.openxmlformats.org/drawingml/2006/main">
            <a:srgbClr val="FFF5E8"/>
          </a:solidFill>
          <a:ln xmlns:a="http://schemas.openxmlformats.org/drawingml/2006/main" w="14288">
            <a:solidFill>
              <a:srgbClr val="8C8A82"/>
            </a:solidFill>
          </a:ln>
        </p:spPr>
      </p:sp>
      <p:sp>
        <p:nvSpPr>
          <p:cNvPr id="177" name="Existing API heading">
            <a:extLst xmlns:a="http://schemas.openxmlformats.org/drawingml/2006/main">
              <a:ext uri="{FF2B5EF4-FFF2-40B4-BE49-F238E27FC236}">
                <a16:creationId xmlns:a16="http://schemas.microsoft.com/office/drawing/2014/main" id="{33F9EDA7-74F4-4DC2-B240-1D09027708EB}"/>
              </a:ext>
            </a:extLst>
          </p:cNvPr>
          <p:cNvSpPr>
            <a:spLocks xmlns:a="http://schemas.openxmlformats.org/drawingml/2006/main" noGrp="1"/>
          </p:cNvSpPr>
          <p:nvPr/>
        </p:nvSpPr>
        <p:spPr>
          <a:xfrm xmlns:a="http://schemas.openxmlformats.org/drawingml/2006/main">
            <a:off x="11934825" y="4772025"/>
            <a:ext cx="4962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61616"/>
                </a:solidFill>
                <a:latin typeface="Instrument Sans"/>
                <a:ea typeface="Instrument Sans"/>
                <a:cs typeface="Instrument Sans"/>
              </a:defRPr>
            </a:defPPr>
            <a:lvl1pPr>
              <a:buNone/>
              <a:defRPr sz="2625" b="1">
                <a:solidFill>
                  <a:srgbClr val="161616"/>
                </a:solidFill>
                <a:latin typeface="Instrument Sans"/>
                <a:ea typeface="Instrument Sans"/>
                <a:cs typeface="Instrument Sans"/>
              </a:defRPr>
            </a:lvl1pPr>
            <a:lvl2pPr>
              <a:buNone/>
              <a:defRPr sz="2625" b="1">
                <a:solidFill>
                  <a:srgbClr val="161616"/>
                </a:solidFill>
                <a:latin typeface="Instrument Sans"/>
                <a:ea typeface="Instrument Sans"/>
                <a:cs typeface="Instrument Sans"/>
              </a:defRPr>
            </a:lvl2pPr>
            <a:lvl3pPr>
              <a:buNone/>
              <a:defRPr sz="2625" b="1">
                <a:solidFill>
                  <a:srgbClr val="161616"/>
                </a:solidFill>
                <a:latin typeface="Instrument Sans"/>
                <a:ea typeface="Instrument Sans"/>
                <a:cs typeface="Instrument Sans"/>
              </a:defRPr>
            </a:lvl3pPr>
            <a:lvl4pPr>
              <a:buNone/>
              <a:defRPr sz="2625" b="1">
                <a:solidFill>
                  <a:srgbClr val="161616"/>
                </a:solidFill>
                <a:latin typeface="Instrument Sans"/>
                <a:ea typeface="Instrument Sans"/>
                <a:cs typeface="Instrument Sans"/>
              </a:defRPr>
            </a:lvl4pPr>
            <a:lvl5pPr>
              <a:buNone/>
              <a:defRPr sz="2625" b="1">
                <a:solidFill>
                  <a:srgbClr val="161616"/>
                </a:solidFill>
                <a:latin typeface="Instrument Sans"/>
                <a:ea typeface="Instrument Sans"/>
                <a:cs typeface="Instrument Sans"/>
              </a:defRPr>
            </a:lvl5pPr>
            <a:lvl6pPr>
              <a:buNone/>
              <a:defRPr sz="2625" b="1">
                <a:solidFill>
                  <a:srgbClr val="161616"/>
                </a:solidFill>
                <a:latin typeface="Instrument Sans"/>
                <a:ea typeface="Instrument Sans"/>
                <a:cs typeface="Instrument Sans"/>
              </a:defRPr>
            </a:lvl6pPr>
            <a:lvl7pPr>
              <a:buNone/>
              <a:defRPr sz="2625" b="1">
                <a:solidFill>
                  <a:srgbClr val="161616"/>
                </a:solidFill>
                <a:latin typeface="Instrument Sans"/>
                <a:ea typeface="Instrument Sans"/>
                <a:cs typeface="Instrument Sans"/>
              </a:defRPr>
            </a:lvl7pPr>
            <a:lvl8pPr>
              <a:buNone/>
              <a:defRPr sz="2625" b="1">
                <a:solidFill>
                  <a:srgbClr val="161616"/>
                </a:solidFill>
                <a:latin typeface="Instrument Sans"/>
                <a:ea typeface="Instrument Sans"/>
                <a:cs typeface="Instrument Sans"/>
              </a:defRPr>
            </a:lvl8pPr>
            <a:lvl9pPr>
              <a:buNone/>
              <a:defRPr sz="2625" b="1">
                <a:solidFill>
                  <a:srgbClr val="161616"/>
                </a:solidFill>
                <a:latin typeface="Instrument Sans"/>
                <a:ea typeface="Instrument Sans"/>
                <a:cs typeface="Instrument Sans"/>
              </a:defRPr>
            </a:lvl9pPr>
          </a:lstStyle>
          <a:p xmlns:a="http://schemas.openxmlformats.org/drawingml/2006/main">
            <a:pPr>
              <a:buNone/>
              <a:defRPr sz="2625" b="1">
                <a:solidFill>
                  <a:srgbClr val="161616"/>
                </a:solidFill>
                <a:latin typeface="Instrument Sans"/>
                <a:ea typeface="Instrument Sans"/>
                <a:cs typeface="Instrument Sans"/>
              </a:defRPr>
            </a:pPr>
            <a:r>
              <a:rPr sz="2625" b="1">
                <a:solidFill>
                  <a:srgbClr val="161616"/>
                </a:solidFill>
                <a:latin typeface="Instrument Sans"/>
                <a:ea typeface="Instrument Sans"/>
                <a:cs typeface="Instrument Sans"/>
              </a:rPr>
              <a:t>Existing backend</a:t>
            </a:r>
          </a:p>
        </p:txBody>
      </p:sp>
      <p:sp>
        <p:nvSpPr>
          <p:cNvPr id="178" name="Existing API detail">
            <a:extLst xmlns:a="http://schemas.openxmlformats.org/drawingml/2006/main">
              <a:ext uri="{FF2B5EF4-FFF2-40B4-BE49-F238E27FC236}">
                <a16:creationId xmlns:a16="http://schemas.microsoft.com/office/drawing/2014/main" id="{87DAD616-2D31-461B-8278-2CD2D53DE92D}"/>
              </a:ext>
            </a:extLst>
          </p:cNvPr>
          <p:cNvSpPr>
            <a:spLocks xmlns:a="http://schemas.openxmlformats.org/drawingml/2006/main" noGrp="1"/>
          </p:cNvSpPr>
          <p:nvPr/>
        </p:nvSpPr>
        <p:spPr>
          <a:xfrm xmlns:a="http://schemas.openxmlformats.org/drawingml/2006/main">
            <a:off x="11934825" y="5362575"/>
            <a:ext cx="4962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61616"/>
                </a:solidFill>
                <a:latin typeface="Instrument Sans"/>
                <a:ea typeface="Instrument Sans"/>
                <a:cs typeface="Instrument Sans"/>
              </a:defRPr>
            </a:defPPr>
            <a:lvl1pPr>
              <a:buNone/>
              <a:defRPr sz="2175" b="0">
                <a:solidFill>
                  <a:srgbClr val="161616"/>
                </a:solidFill>
                <a:latin typeface="Instrument Sans"/>
                <a:ea typeface="Instrument Sans"/>
                <a:cs typeface="Instrument Sans"/>
              </a:defRPr>
            </a:lvl1pPr>
            <a:lvl2pPr>
              <a:buNone/>
              <a:defRPr sz="2175" b="0">
                <a:solidFill>
                  <a:srgbClr val="161616"/>
                </a:solidFill>
                <a:latin typeface="Instrument Sans"/>
                <a:ea typeface="Instrument Sans"/>
                <a:cs typeface="Instrument Sans"/>
              </a:defRPr>
            </a:lvl2pPr>
            <a:lvl3pPr>
              <a:buNone/>
              <a:defRPr sz="2175" b="0">
                <a:solidFill>
                  <a:srgbClr val="161616"/>
                </a:solidFill>
                <a:latin typeface="Instrument Sans"/>
                <a:ea typeface="Instrument Sans"/>
                <a:cs typeface="Instrument Sans"/>
              </a:defRPr>
            </a:lvl3pPr>
            <a:lvl4pPr>
              <a:buNone/>
              <a:defRPr sz="2175" b="0">
                <a:solidFill>
                  <a:srgbClr val="161616"/>
                </a:solidFill>
                <a:latin typeface="Instrument Sans"/>
                <a:ea typeface="Instrument Sans"/>
                <a:cs typeface="Instrument Sans"/>
              </a:defRPr>
            </a:lvl4pPr>
            <a:lvl5pPr>
              <a:buNone/>
              <a:defRPr sz="2175" b="0">
                <a:solidFill>
                  <a:srgbClr val="161616"/>
                </a:solidFill>
                <a:latin typeface="Instrument Sans"/>
                <a:ea typeface="Instrument Sans"/>
                <a:cs typeface="Instrument Sans"/>
              </a:defRPr>
            </a:lvl5pPr>
            <a:lvl6pPr>
              <a:buNone/>
              <a:defRPr sz="2175" b="0">
                <a:solidFill>
                  <a:srgbClr val="161616"/>
                </a:solidFill>
                <a:latin typeface="Instrument Sans"/>
                <a:ea typeface="Instrument Sans"/>
                <a:cs typeface="Instrument Sans"/>
              </a:defRPr>
            </a:lvl6pPr>
            <a:lvl7pPr>
              <a:buNone/>
              <a:defRPr sz="2175" b="0">
                <a:solidFill>
                  <a:srgbClr val="161616"/>
                </a:solidFill>
                <a:latin typeface="Instrument Sans"/>
                <a:ea typeface="Instrument Sans"/>
                <a:cs typeface="Instrument Sans"/>
              </a:defRPr>
            </a:lvl7pPr>
            <a:lvl8pPr>
              <a:buNone/>
              <a:defRPr sz="2175" b="0">
                <a:solidFill>
                  <a:srgbClr val="161616"/>
                </a:solidFill>
                <a:latin typeface="Instrument Sans"/>
                <a:ea typeface="Instrument Sans"/>
                <a:cs typeface="Instrument Sans"/>
              </a:defRPr>
            </a:lvl8pPr>
            <a:lvl9pPr>
              <a:buNone/>
              <a:defRPr sz="2175" b="0">
                <a:solidFill>
                  <a:srgbClr val="161616"/>
                </a:solidFill>
                <a:latin typeface="Instrument Sans"/>
                <a:ea typeface="Instrument Sans"/>
                <a:cs typeface="Instrument Sans"/>
              </a:defRPr>
            </a:lvl9pPr>
          </a:lstStyle>
          <a:p xmlns:a="http://schemas.openxmlformats.org/drawingml/2006/main">
            <a:pPr>
              <a:buNone/>
              <a:defRPr sz="2175" b="0">
                <a:solidFill>
                  <a:srgbClr val="161616"/>
                </a:solidFill>
                <a:latin typeface="Instrument Sans"/>
                <a:ea typeface="Instrument Sans"/>
                <a:cs typeface="Instrument Sans"/>
              </a:defRPr>
            </a:pPr>
            <a:r>
              <a:rPr sz="2175" b="0">
                <a:solidFill>
                  <a:srgbClr val="161616"/>
                </a:solidFill>
                <a:latin typeface="Instrument Sans"/>
                <a:ea typeface="Instrument Sans"/>
                <a:cs typeface="Instrument Sans"/>
              </a:rPr>
              <a:t>Role checks / verification workflow</a:t>
            </a:r>
          </a:p>
        </p:txBody>
      </p:sp>
      <p:sp>
        <p:nvSpPr>
          <p:cNvPr id="179" name="Stellar verification">
            <a:extLst xmlns:a="http://schemas.openxmlformats.org/drawingml/2006/main">
              <a:ext uri="{FF2B5EF4-FFF2-40B4-BE49-F238E27FC236}">
                <a16:creationId xmlns:a16="http://schemas.microsoft.com/office/drawing/2014/main" id="{9C39082D-6945-4BD3-8D62-2BED2B77241A}"/>
              </a:ext>
            </a:extLst>
          </p:cNvPr>
          <p:cNvSpPr>
            <a:spLocks xmlns:a="http://schemas.openxmlformats.org/drawingml/2006/main" noGrp="1"/>
          </p:cNvSpPr>
          <p:nvPr/>
        </p:nvSpPr>
        <p:spPr>
          <a:xfrm xmlns:a="http://schemas.openxmlformats.org/drawingml/2006/main">
            <a:off x="11715750" y="6429375"/>
            <a:ext cx="5400675" cy="1400175"/>
          </a:xfrm>
          <a:prstGeom xmlns:a="http://schemas.openxmlformats.org/drawingml/2006/main" prst="rect">
            <a:avLst/>
          </a:prstGeom>
          <a:solidFill xmlns:a="http://schemas.openxmlformats.org/drawingml/2006/main">
            <a:srgbClr val="EDF5EF"/>
          </a:solidFill>
          <a:ln xmlns:a="http://schemas.openxmlformats.org/drawingml/2006/main" w="14288">
            <a:solidFill>
              <a:srgbClr val="8C8A82"/>
            </a:solidFill>
          </a:ln>
        </p:spPr>
      </p:sp>
      <p:sp>
        <p:nvSpPr>
          <p:cNvPr id="180" name="Stellar verification heading">
            <a:extLst xmlns:a="http://schemas.openxmlformats.org/drawingml/2006/main">
              <a:ext uri="{FF2B5EF4-FFF2-40B4-BE49-F238E27FC236}">
                <a16:creationId xmlns:a16="http://schemas.microsoft.com/office/drawing/2014/main" id="{22EBB27F-1D2C-4A34-B8BF-BB71D3FD428F}"/>
              </a:ext>
            </a:extLst>
          </p:cNvPr>
          <p:cNvSpPr>
            <a:spLocks xmlns:a="http://schemas.openxmlformats.org/drawingml/2006/main" noGrp="1"/>
          </p:cNvSpPr>
          <p:nvPr/>
        </p:nvSpPr>
        <p:spPr>
          <a:xfrm xmlns:a="http://schemas.openxmlformats.org/drawingml/2006/main">
            <a:off x="11934825" y="6629400"/>
            <a:ext cx="4962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61616"/>
                </a:solidFill>
                <a:latin typeface="Instrument Sans"/>
                <a:ea typeface="Instrument Sans"/>
                <a:cs typeface="Instrument Sans"/>
              </a:defRPr>
            </a:defPPr>
            <a:lvl1pPr>
              <a:buNone/>
              <a:defRPr sz="2625" b="1">
                <a:solidFill>
                  <a:srgbClr val="161616"/>
                </a:solidFill>
                <a:latin typeface="Instrument Sans"/>
                <a:ea typeface="Instrument Sans"/>
                <a:cs typeface="Instrument Sans"/>
              </a:defRPr>
            </a:lvl1pPr>
            <a:lvl2pPr>
              <a:buNone/>
              <a:defRPr sz="2625" b="1">
                <a:solidFill>
                  <a:srgbClr val="161616"/>
                </a:solidFill>
                <a:latin typeface="Instrument Sans"/>
                <a:ea typeface="Instrument Sans"/>
                <a:cs typeface="Instrument Sans"/>
              </a:defRPr>
            </a:lvl2pPr>
            <a:lvl3pPr>
              <a:buNone/>
              <a:defRPr sz="2625" b="1">
                <a:solidFill>
                  <a:srgbClr val="161616"/>
                </a:solidFill>
                <a:latin typeface="Instrument Sans"/>
                <a:ea typeface="Instrument Sans"/>
                <a:cs typeface="Instrument Sans"/>
              </a:defRPr>
            </a:lvl3pPr>
            <a:lvl4pPr>
              <a:buNone/>
              <a:defRPr sz="2625" b="1">
                <a:solidFill>
                  <a:srgbClr val="161616"/>
                </a:solidFill>
                <a:latin typeface="Instrument Sans"/>
                <a:ea typeface="Instrument Sans"/>
                <a:cs typeface="Instrument Sans"/>
              </a:defRPr>
            </a:lvl4pPr>
            <a:lvl5pPr>
              <a:buNone/>
              <a:defRPr sz="2625" b="1">
                <a:solidFill>
                  <a:srgbClr val="161616"/>
                </a:solidFill>
                <a:latin typeface="Instrument Sans"/>
                <a:ea typeface="Instrument Sans"/>
                <a:cs typeface="Instrument Sans"/>
              </a:defRPr>
            </a:lvl5pPr>
            <a:lvl6pPr>
              <a:buNone/>
              <a:defRPr sz="2625" b="1">
                <a:solidFill>
                  <a:srgbClr val="161616"/>
                </a:solidFill>
                <a:latin typeface="Instrument Sans"/>
                <a:ea typeface="Instrument Sans"/>
                <a:cs typeface="Instrument Sans"/>
              </a:defRPr>
            </a:lvl6pPr>
            <a:lvl7pPr>
              <a:buNone/>
              <a:defRPr sz="2625" b="1">
                <a:solidFill>
                  <a:srgbClr val="161616"/>
                </a:solidFill>
                <a:latin typeface="Instrument Sans"/>
                <a:ea typeface="Instrument Sans"/>
                <a:cs typeface="Instrument Sans"/>
              </a:defRPr>
            </a:lvl7pPr>
            <a:lvl8pPr>
              <a:buNone/>
              <a:defRPr sz="2625" b="1">
                <a:solidFill>
                  <a:srgbClr val="161616"/>
                </a:solidFill>
                <a:latin typeface="Instrument Sans"/>
                <a:ea typeface="Instrument Sans"/>
                <a:cs typeface="Instrument Sans"/>
              </a:defRPr>
            </a:lvl8pPr>
            <a:lvl9pPr>
              <a:buNone/>
              <a:defRPr sz="2625" b="1">
                <a:solidFill>
                  <a:srgbClr val="161616"/>
                </a:solidFill>
                <a:latin typeface="Instrument Sans"/>
                <a:ea typeface="Instrument Sans"/>
                <a:cs typeface="Instrument Sans"/>
              </a:defRPr>
            </a:lvl9pPr>
          </a:lstStyle>
          <a:p xmlns:a="http://schemas.openxmlformats.org/drawingml/2006/main">
            <a:pPr>
              <a:buNone/>
              <a:defRPr sz="2625" b="1">
                <a:solidFill>
                  <a:srgbClr val="161616"/>
                </a:solidFill>
                <a:latin typeface="Instrument Sans"/>
                <a:ea typeface="Instrument Sans"/>
                <a:cs typeface="Instrument Sans"/>
              </a:defRPr>
            </a:pPr>
            <a:r>
              <a:rPr sz="2625" b="1">
                <a:solidFill>
                  <a:srgbClr val="161616"/>
                </a:solidFill>
                <a:latin typeface="Instrument Sans"/>
                <a:ea typeface="Instrument Sans"/>
                <a:cs typeface="Instrument Sans"/>
              </a:rPr>
              <a:t>Stellar + ZK</a:t>
            </a:r>
          </a:p>
        </p:txBody>
      </p:sp>
      <p:sp>
        <p:nvSpPr>
          <p:cNvPr id="181" name="Stellar verification detail">
            <a:extLst xmlns:a="http://schemas.openxmlformats.org/drawingml/2006/main">
              <a:ext uri="{FF2B5EF4-FFF2-40B4-BE49-F238E27FC236}">
                <a16:creationId xmlns:a16="http://schemas.microsoft.com/office/drawing/2014/main" id="{B6769E8F-1BE9-4302-8333-700180375304}"/>
              </a:ext>
            </a:extLst>
          </p:cNvPr>
          <p:cNvSpPr>
            <a:spLocks xmlns:a="http://schemas.openxmlformats.org/drawingml/2006/main" noGrp="1"/>
          </p:cNvSpPr>
          <p:nvPr/>
        </p:nvSpPr>
        <p:spPr>
          <a:xfrm xmlns:a="http://schemas.openxmlformats.org/drawingml/2006/main">
            <a:off x="11934825" y="7219950"/>
            <a:ext cx="4962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61616"/>
                </a:solidFill>
                <a:latin typeface="Instrument Sans"/>
                <a:ea typeface="Instrument Sans"/>
                <a:cs typeface="Instrument Sans"/>
              </a:defRPr>
            </a:defPPr>
            <a:lvl1pPr>
              <a:buNone/>
              <a:defRPr sz="2175" b="0">
                <a:solidFill>
                  <a:srgbClr val="161616"/>
                </a:solidFill>
                <a:latin typeface="Instrument Sans"/>
                <a:ea typeface="Instrument Sans"/>
                <a:cs typeface="Instrument Sans"/>
              </a:defRPr>
            </a:lvl1pPr>
            <a:lvl2pPr>
              <a:buNone/>
              <a:defRPr sz="2175" b="0">
                <a:solidFill>
                  <a:srgbClr val="161616"/>
                </a:solidFill>
                <a:latin typeface="Instrument Sans"/>
                <a:ea typeface="Instrument Sans"/>
                <a:cs typeface="Instrument Sans"/>
              </a:defRPr>
            </a:lvl2pPr>
            <a:lvl3pPr>
              <a:buNone/>
              <a:defRPr sz="2175" b="0">
                <a:solidFill>
                  <a:srgbClr val="161616"/>
                </a:solidFill>
                <a:latin typeface="Instrument Sans"/>
                <a:ea typeface="Instrument Sans"/>
                <a:cs typeface="Instrument Sans"/>
              </a:defRPr>
            </a:lvl3pPr>
            <a:lvl4pPr>
              <a:buNone/>
              <a:defRPr sz="2175" b="0">
                <a:solidFill>
                  <a:srgbClr val="161616"/>
                </a:solidFill>
                <a:latin typeface="Instrument Sans"/>
                <a:ea typeface="Instrument Sans"/>
                <a:cs typeface="Instrument Sans"/>
              </a:defRPr>
            </a:lvl4pPr>
            <a:lvl5pPr>
              <a:buNone/>
              <a:defRPr sz="2175" b="0">
                <a:solidFill>
                  <a:srgbClr val="161616"/>
                </a:solidFill>
                <a:latin typeface="Instrument Sans"/>
                <a:ea typeface="Instrument Sans"/>
                <a:cs typeface="Instrument Sans"/>
              </a:defRPr>
            </a:lvl5pPr>
            <a:lvl6pPr>
              <a:buNone/>
              <a:defRPr sz="2175" b="0">
                <a:solidFill>
                  <a:srgbClr val="161616"/>
                </a:solidFill>
                <a:latin typeface="Instrument Sans"/>
                <a:ea typeface="Instrument Sans"/>
                <a:cs typeface="Instrument Sans"/>
              </a:defRPr>
            </a:lvl6pPr>
            <a:lvl7pPr>
              <a:buNone/>
              <a:defRPr sz="2175" b="0">
                <a:solidFill>
                  <a:srgbClr val="161616"/>
                </a:solidFill>
                <a:latin typeface="Instrument Sans"/>
                <a:ea typeface="Instrument Sans"/>
                <a:cs typeface="Instrument Sans"/>
              </a:defRPr>
            </a:lvl7pPr>
            <a:lvl8pPr>
              <a:buNone/>
              <a:defRPr sz="2175" b="0">
                <a:solidFill>
                  <a:srgbClr val="161616"/>
                </a:solidFill>
                <a:latin typeface="Instrument Sans"/>
                <a:ea typeface="Instrument Sans"/>
                <a:cs typeface="Instrument Sans"/>
              </a:defRPr>
            </a:lvl8pPr>
            <a:lvl9pPr>
              <a:buNone/>
              <a:defRPr sz="2175" b="0">
                <a:solidFill>
                  <a:srgbClr val="161616"/>
                </a:solidFill>
                <a:latin typeface="Instrument Sans"/>
                <a:ea typeface="Instrument Sans"/>
                <a:cs typeface="Instrument Sans"/>
              </a:defRPr>
            </a:lvl9pPr>
          </a:lstStyle>
          <a:p xmlns:a="http://schemas.openxmlformats.org/drawingml/2006/main">
            <a:pPr>
              <a:buNone/>
              <a:defRPr sz="2175" b="0">
                <a:solidFill>
                  <a:srgbClr val="161616"/>
                </a:solidFill>
                <a:latin typeface="Instrument Sans"/>
                <a:ea typeface="Instrument Sans"/>
                <a:cs typeface="Instrument Sans"/>
              </a:defRPr>
            </a:pPr>
            <a:r>
              <a:rPr sz="2175" b="0">
                <a:solidFill>
                  <a:srgbClr val="161616"/>
                </a:solidFill>
                <a:latin typeface="Instrument Sans"/>
                <a:ea typeface="Instrument Sans"/>
                <a:cs typeface="Instrument Sans"/>
              </a:rPr>
              <a:t>Proof, qualification and consent</a:t>
            </a:r>
          </a:p>
        </p:txBody>
      </p:sp>
      <p:sp>
        <p:nvSpPr>
          <p:cNvPr id="182" name="Client tools">
            <a:extLst xmlns:a="http://schemas.openxmlformats.org/drawingml/2006/main">
              <a:ext uri="{FF2B5EF4-FFF2-40B4-BE49-F238E27FC236}">
                <a16:creationId xmlns:a16="http://schemas.microsoft.com/office/drawing/2014/main" id="{1B786342-BB08-4964-904E-F39655BC6E14}"/>
              </a:ext>
            </a:extLst>
          </p:cNvPr>
          <p:cNvSpPr>
            <a:spLocks xmlns:a="http://schemas.openxmlformats.org/drawingml/2006/main" noGrp="1"/>
          </p:cNvSpPr>
          <p:nvPr/>
        </p:nvSpPr>
        <p:spPr>
          <a:xfrm xmlns:a="http://schemas.openxmlformats.org/drawingml/2006/main">
            <a:off x="4543425" y="5857875"/>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23813">
            <a:solidFill>
              <a:srgbClr val="343B42"/>
            </a:solidFill>
          </a:ln>
        </p:spPr>
      </p:sp>
      <p:sp>
        <p:nvSpPr>
          <p:cNvPr id="183" name="Client tools arrow">
            <a:extLst xmlns:a="http://schemas.openxmlformats.org/drawingml/2006/main">
              <a:ext uri="{FF2B5EF4-FFF2-40B4-BE49-F238E27FC236}">
                <a16:creationId xmlns:a16="http://schemas.microsoft.com/office/drawing/2014/main" id="{42F49F37-9F8C-4004-962F-9AA06AC84329}"/>
              </a:ext>
            </a:extLst>
          </p:cNvPr>
          <p:cNvSpPr>
            <a:spLocks xmlns:a="http://schemas.openxmlformats.org/drawingml/2006/main" noGrp="1"/>
          </p:cNvSpPr>
          <p:nvPr/>
        </p:nvSpPr>
        <p:spPr>
          <a:xfrm xmlns:a="http://schemas.openxmlformats.org/drawingml/2006/main">
            <a:off x="5090817" y="58030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343B42"/>
            </a:solidFill>
          </a:ln>
        </p:spPr>
      </p:sp>
      <p:sp>
        <p:nvSpPr>
          <p:cNvPr id="184" name="MCP API">
            <a:extLst xmlns:a="http://schemas.openxmlformats.org/drawingml/2006/main">
              <a:ext uri="{FF2B5EF4-FFF2-40B4-BE49-F238E27FC236}">
                <a16:creationId xmlns:a16="http://schemas.microsoft.com/office/drawing/2014/main" id="{1CF04FB5-8660-47AA-94C3-95CD5539696A}"/>
              </a:ext>
            </a:extLst>
          </p:cNvPr>
          <p:cNvSpPr>
            <a:spLocks xmlns:a="http://schemas.openxmlformats.org/drawingml/2006/main" noGrp="1"/>
          </p:cNvSpPr>
          <p:nvPr/>
        </p:nvSpPr>
        <p:spPr>
          <a:xfrm xmlns:a="http://schemas.openxmlformats.org/drawingml/2006/main">
            <a:off x="11001375" y="5286375"/>
            <a:ext cx="714375" cy="9525"/>
          </a:xfrm>
          <a:custGeom xmlns:a="http://schemas.openxmlformats.org/drawingml/2006/main">
            <a:pathLst>
              <a:path w="714375" h="9525">
                <a:moveTo>
                  <a:pt x="0" y="0"/>
                </a:moveTo>
                <a:lnTo>
                  <a:pt x="714375" y="0"/>
                </a:lnTo>
              </a:path>
            </a:pathLst>
          </a:custGeom>
          <a:noFill xmlns:a="http://schemas.openxmlformats.org/drawingml/2006/main"/>
          <a:ln xmlns:a="http://schemas.openxmlformats.org/drawingml/2006/main" w="23813">
            <a:solidFill>
              <a:srgbClr val="343B42"/>
            </a:solidFill>
          </a:ln>
        </p:spPr>
      </p:sp>
      <p:sp>
        <p:nvSpPr>
          <p:cNvPr id="185" name="MCP API arrow">
            <a:extLst xmlns:a="http://schemas.openxmlformats.org/drawingml/2006/main">
              <a:ext uri="{FF2B5EF4-FFF2-40B4-BE49-F238E27FC236}">
                <a16:creationId xmlns:a16="http://schemas.microsoft.com/office/drawing/2014/main" id="{BFAE36D6-1CC6-46E6-AE0E-5C8870CAA51F}"/>
              </a:ext>
            </a:extLst>
          </p:cNvPr>
          <p:cNvSpPr>
            <a:spLocks xmlns:a="http://schemas.openxmlformats.org/drawingml/2006/main" noGrp="1"/>
          </p:cNvSpPr>
          <p:nvPr/>
        </p:nvSpPr>
        <p:spPr>
          <a:xfrm xmlns:a="http://schemas.openxmlformats.org/drawingml/2006/main">
            <a:off x="11615442" y="5231577"/>
            <a:ext cx="100308" cy="109597"/>
          </a:xfrm>
          <a:custGeom xmlns:a="http://schemas.openxmlformats.org/drawingml/2006/main">
            <a:pathLst>
              <a:path w="100308" h="109597">
                <a:moveTo>
                  <a:pt x="0" y="109597"/>
                </a:moveTo>
                <a:lnTo>
                  <a:pt x="100308" y="54798"/>
                </a:lnTo>
                <a:lnTo>
                  <a:pt x="0" y="0"/>
                </a:lnTo>
              </a:path>
            </a:pathLst>
          </a:custGeom>
          <a:noFill xmlns:a="http://schemas.openxmlformats.org/drawingml/2006/main"/>
          <a:ln xmlns:a="http://schemas.openxmlformats.org/drawingml/2006/main" w="23813">
            <a:solidFill>
              <a:srgbClr val="343B42"/>
            </a:solidFill>
          </a:ln>
        </p:spPr>
      </p:sp>
      <p:sp>
        <p:nvSpPr>
          <p:cNvPr id="186" name="Policy check">
            <a:extLst xmlns:a="http://schemas.openxmlformats.org/drawingml/2006/main">
              <a:ext uri="{FF2B5EF4-FFF2-40B4-BE49-F238E27FC236}">
                <a16:creationId xmlns:a16="http://schemas.microsoft.com/office/drawing/2014/main" id="{D6066CB0-0212-4E02-BCAE-DEFA6E093AC8}"/>
              </a:ext>
            </a:extLst>
          </p:cNvPr>
          <p:cNvSpPr>
            <a:spLocks xmlns:a="http://schemas.openxmlformats.org/drawingml/2006/main" noGrp="1"/>
          </p:cNvSpPr>
          <p:nvPr/>
        </p:nvSpPr>
        <p:spPr>
          <a:xfrm xmlns:a="http://schemas.openxmlformats.org/drawingml/2006/main">
            <a:off x="14411325" y="5972175"/>
            <a:ext cx="9525" cy="457200"/>
          </a:xfrm>
          <a:custGeom xmlns:a="http://schemas.openxmlformats.org/drawingml/2006/main">
            <a:pathLst>
              <a:path w="9525" h="457200">
                <a:moveTo>
                  <a:pt x="0" y="0"/>
                </a:moveTo>
                <a:lnTo>
                  <a:pt x="0" y="457200"/>
                </a:lnTo>
              </a:path>
            </a:pathLst>
          </a:custGeom>
          <a:noFill xmlns:a="http://schemas.openxmlformats.org/drawingml/2006/main"/>
          <a:ln xmlns:a="http://schemas.openxmlformats.org/drawingml/2006/main" w="23813">
            <a:solidFill>
              <a:srgbClr val="343B42"/>
            </a:solidFill>
          </a:ln>
        </p:spPr>
      </p:sp>
      <p:sp>
        <p:nvSpPr>
          <p:cNvPr id="187" name="Policy check arrow">
            <a:extLst xmlns:a="http://schemas.openxmlformats.org/drawingml/2006/main">
              <a:ext uri="{FF2B5EF4-FFF2-40B4-BE49-F238E27FC236}">
                <a16:creationId xmlns:a16="http://schemas.microsoft.com/office/drawing/2014/main" id="{3AD7D731-F354-4C27-9354-AA8BC1F029E2}"/>
              </a:ext>
            </a:extLst>
          </p:cNvPr>
          <p:cNvSpPr>
            <a:spLocks xmlns:a="http://schemas.openxmlformats.org/drawingml/2006/main" noGrp="1"/>
          </p:cNvSpPr>
          <p:nvPr/>
        </p:nvSpPr>
        <p:spPr>
          <a:xfrm xmlns:a="http://schemas.openxmlformats.org/drawingml/2006/main">
            <a:off x="14356527" y="6329067"/>
            <a:ext cx="109597" cy="100308"/>
          </a:xfrm>
          <a:custGeom xmlns:a="http://schemas.openxmlformats.org/drawingml/2006/main">
            <a:pathLst>
              <a:path w="109597" h="100308">
                <a:moveTo>
                  <a:pt x="0" y="0"/>
                </a:moveTo>
                <a:lnTo>
                  <a:pt x="54798" y="100308"/>
                </a:lnTo>
                <a:lnTo>
                  <a:pt x="109597" y="0"/>
                </a:lnTo>
              </a:path>
            </a:pathLst>
          </a:custGeom>
          <a:noFill xmlns:a="http://schemas.openxmlformats.org/drawingml/2006/main"/>
          <a:ln xmlns:a="http://schemas.openxmlformats.org/drawingml/2006/main" w="23813">
            <a:solidFill>
              <a:srgbClr val="343B42"/>
            </a:solidFill>
          </a:ln>
        </p:spPr>
      </p:sp>
      <p:sp>
        <p:nvSpPr>
          <p:cNvPr id="188" name="Control statement">
            <a:extLst xmlns:a="http://schemas.openxmlformats.org/drawingml/2006/main">
              <a:ext uri="{FF2B5EF4-FFF2-40B4-BE49-F238E27FC236}">
                <a16:creationId xmlns:a16="http://schemas.microsoft.com/office/drawing/2014/main" id="{3167C43B-4268-46DB-9BC2-79F9C94B2AAC}"/>
              </a:ext>
            </a:extLst>
          </p:cNvPr>
          <p:cNvSpPr>
            <a:spLocks xmlns:a="http://schemas.openxmlformats.org/drawingml/2006/main" noGrp="1"/>
          </p:cNvSpPr>
          <p:nvPr/>
        </p:nvSpPr>
        <p:spPr>
          <a:xfrm xmlns:a="http://schemas.openxmlformats.org/drawingml/2006/main">
            <a:off x="1162050" y="8172450"/>
            <a:ext cx="1566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161616"/>
                </a:solidFill>
                <a:latin typeface="Instrument Sans"/>
                <a:ea typeface="Instrument Sans"/>
                <a:cs typeface="Instrument Sans"/>
              </a:defRPr>
            </a:defPPr>
            <a:lvl1pPr>
              <a:buNone/>
              <a:defRPr sz="2775" b="1">
                <a:solidFill>
                  <a:srgbClr val="161616"/>
                </a:solidFill>
                <a:latin typeface="Instrument Sans"/>
                <a:ea typeface="Instrument Sans"/>
                <a:cs typeface="Instrument Sans"/>
              </a:defRPr>
            </a:lvl1pPr>
            <a:lvl2pPr>
              <a:buNone/>
              <a:defRPr sz="2775" b="1">
                <a:solidFill>
                  <a:srgbClr val="161616"/>
                </a:solidFill>
                <a:latin typeface="Instrument Sans"/>
                <a:ea typeface="Instrument Sans"/>
                <a:cs typeface="Instrument Sans"/>
              </a:defRPr>
            </a:lvl2pPr>
            <a:lvl3pPr>
              <a:buNone/>
              <a:defRPr sz="2775" b="1">
                <a:solidFill>
                  <a:srgbClr val="161616"/>
                </a:solidFill>
                <a:latin typeface="Instrument Sans"/>
                <a:ea typeface="Instrument Sans"/>
                <a:cs typeface="Instrument Sans"/>
              </a:defRPr>
            </a:lvl3pPr>
            <a:lvl4pPr>
              <a:buNone/>
              <a:defRPr sz="2775" b="1">
                <a:solidFill>
                  <a:srgbClr val="161616"/>
                </a:solidFill>
                <a:latin typeface="Instrument Sans"/>
                <a:ea typeface="Instrument Sans"/>
                <a:cs typeface="Instrument Sans"/>
              </a:defRPr>
            </a:lvl4pPr>
            <a:lvl5pPr>
              <a:buNone/>
              <a:defRPr sz="2775" b="1">
                <a:solidFill>
                  <a:srgbClr val="161616"/>
                </a:solidFill>
                <a:latin typeface="Instrument Sans"/>
                <a:ea typeface="Instrument Sans"/>
                <a:cs typeface="Instrument Sans"/>
              </a:defRPr>
            </a:lvl5pPr>
            <a:lvl6pPr>
              <a:buNone/>
              <a:defRPr sz="2775" b="1">
                <a:solidFill>
                  <a:srgbClr val="161616"/>
                </a:solidFill>
                <a:latin typeface="Instrument Sans"/>
                <a:ea typeface="Instrument Sans"/>
                <a:cs typeface="Instrument Sans"/>
              </a:defRPr>
            </a:lvl6pPr>
            <a:lvl7pPr>
              <a:buNone/>
              <a:defRPr sz="2775" b="1">
                <a:solidFill>
                  <a:srgbClr val="161616"/>
                </a:solidFill>
                <a:latin typeface="Instrument Sans"/>
                <a:ea typeface="Instrument Sans"/>
                <a:cs typeface="Instrument Sans"/>
              </a:defRPr>
            </a:lvl7pPr>
            <a:lvl8pPr>
              <a:buNone/>
              <a:defRPr sz="2775" b="1">
                <a:solidFill>
                  <a:srgbClr val="161616"/>
                </a:solidFill>
                <a:latin typeface="Instrument Sans"/>
                <a:ea typeface="Instrument Sans"/>
                <a:cs typeface="Instrument Sans"/>
              </a:defRPr>
            </a:lvl8pPr>
            <a:lvl9pPr>
              <a:buNone/>
              <a:defRPr sz="2775" b="1">
                <a:solidFill>
                  <a:srgbClr val="161616"/>
                </a:solidFill>
                <a:latin typeface="Instrument Sans"/>
                <a:ea typeface="Instrument Sans"/>
                <a:cs typeface="Instrument Sans"/>
              </a:defRPr>
            </a:lvl9pPr>
          </a:lstStyle>
          <a:p xmlns:a="http://schemas.openxmlformats.org/drawingml/2006/main">
            <a:pPr>
              <a:buNone/>
              <a:defRPr sz="2775" b="1">
                <a:solidFill>
                  <a:srgbClr val="161616"/>
                </a:solidFill>
                <a:latin typeface="Instrument Sans"/>
                <a:ea typeface="Instrument Sans"/>
                <a:cs typeface="Instrument Sans"/>
              </a:defRPr>
            </a:pPr>
            <a:r>
              <a:rPr sz="2775" b="1">
                <a:solidFill>
                  <a:srgbClr val="161616"/>
                </a:solidFill>
                <a:latin typeface="Instrument Sans"/>
                <a:ea typeface="Instrument Sans"/>
                <a:cs typeface="Instrument Sans"/>
              </a:rPr>
              <a:t>You approve every disclosure. Stellar enforces the policy.</a:t>
            </a:r>
          </a:p>
        </p:txBody>
      </p:sp>
      <p:sp>
        <p:nvSpPr>
          <p:cNvPr id="189" name="Future disclosure">
            <a:extLst xmlns:a="http://schemas.openxmlformats.org/drawingml/2006/main">
              <a:ext uri="{FF2B5EF4-FFF2-40B4-BE49-F238E27FC236}">
                <a16:creationId xmlns:a16="http://schemas.microsoft.com/office/drawing/2014/main" id="{55C15343-7C05-470C-BF9E-9F700E82436E}"/>
              </a:ext>
            </a:extLst>
          </p:cNvPr>
          <p:cNvSpPr>
            <a:spLocks xmlns:a="http://schemas.openxmlformats.org/drawingml/2006/main" noGrp="1"/>
          </p:cNvSpPr>
          <p:nvPr/>
        </p:nvSpPr>
        <p:spPr>
          <a:xfrm xmlns:a="http://schemas.openxmlformats.org/drawingml/2006/main">
            <a:off x="1162050" y="8772525"/>
            <a:ext cx="1524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C5C53"/>
                </a:solidFill>
                <a:latin typeface="Instrument Sans"/>
                <a:ea typeface="Instrument Sans"/>
                <a:cs typeface="Instrument Sans"/>
              </a:defRPr>
            </a:defPPr>
            <a:lvl1pPr>
              <a:buNone/>
              <a:defRPr sz="1875" b="0">
                <a:solidFill>
                  <a:srgbClr val="5C5C53"/>
                </a:solidFill>
                <a:latin typeface="Instrument Sans"/>
                <a:ea typeface="Instrument Sans"/>
                <a:cs typeface="Instrument Sans"/>
              </a:defRPr>
            </a:lvl1pPr>
            <a:lvl2pPr>
              <a:buNone/>
              <a:defRPr sz="1875" b="0">
                <a:solidFill>
                  <a:srgbClr val="5C5C53"/>
                </a:solidFill>
                <a:latin typeface="Instrument Sans"/>
                <a:ea typeface="Instrument Sans"/>
                <a:cs typeface="Instrument Sans"/>
              </a:defRPr>
            </a:lvl2pPr>
            <a:lvl3pPr>
              <a:buNone/>
              <a:defRPr sz="1875" b="0">
                <a:solidFill>
                  <a:srgbClr val="5C5C53"/>
                </a:solidFill>
                <a:latin typeface="Instrument Sans"/>
                <a:ea typeface="Instrument Sans"/>
                <a:cs typeface="Instrument Sans"/>
              </a:defRPr>
            </a:lvl3pPr>
            <a:lvl4pPr>
              <a:buNone/>
              <a:defRPr sz="1875" b="0">
                <a:solidFill>
                  <a:srgbClr val="5C5C53"/>
                </a:solidFill>
                <a:latin typeface="Instrument Sans"/>
                <a:ea typeface="Instrument Sans"/>
                <a:cs typeface="Instrument Sans"/>
              </a:defRPr>
            </a:lvl4pPr>
            <a:lvl5pPr>
              <a:buNone/>
              <a:defRPr sz="1875" b="0">
                <a:solidFill>
                  <a:srgbClr val="5C5C53"/>
                </a:solidFill>
                <a:latin typeface="Instrument Sans"/>
                <a:ea typeface="Instrument Sans"/>
                <a:cs typeface="Instrument Sans"/>
              </a:defRPr>
            </a:lvl5pPr>
            <a:lvl6pPr>
              <a:buNone/>
              <a:defRPr sz="1875" b="0">
                <a:solidFill>
                  <a:srgbClr val="5C5C53"/>
                </a:solidFill>
                <a:latin typeface="Instrument Sans"/>
                <a:ea typeface="Instrument Sans"/>
                <a:cs typeface="Instrument Sans"/>
              </a:defRPr>
            </a:lvl6pPr>
            <a:lvl7pPr>
              <a:buNone/>
              <a:defRPr sz="1875" b="0">
                <a:solidFill>
                  <a:srgbClr val="5C5C53"/>
                </a:solidFill>
                <a:latin typeface="Instrument Sans"/>
                <a:ea typeface="Instrument Sans"/>
                <a:cs typeface="Instrument Sans"/>
              </a:defRPr>
            </a:lvl7pPr>
            <a:lvl8pPr>
              <a:buNone/>
              <a:defRPr sz="1875" b="0">
                <a:solidFill>
                  <a:srgbClr val="5C5C53"/>
                </a:solidFill>
                <a:latin typeface="Instrument Sans"/>
                <a:ea typeface="Instrument Sans"/>
                <a:cs typeface="Instrument Sans"/>
              </a:defRPr>
            </a:lvl8pPr>
            <a:lvl9pPr>
              <a:buNone/>
              <a:defRPr sz="1875" b="0">
                <a:solidFill>
                  <a:srgbClr val="5C5C53"/>
                </a:solidFill>
                <a:latin typeface="Instrument Sans"/>
                <a:ea typeface="Instrument Sans"/>
                <a:cs typeface="Instrument Sans"/>
              </a:defRPr>
            </a:lvl9pPr>
          </a:lstStyle>
          <a:p xmlns:a="http://schemas.openxmlformats.org/drawingml/2006/main">
            <a:pPr>
              <a:buNone/>
              <a:defRPr sz="1875" b="0">
                <a:solidFill>
                  <a:srgbClr val="5C5C53"/>
                </a:solidFill>
                <a:latin typeface="Instrument Sans"/>
                <a:ea typeface="Instrument Sans"/>
                <a:cs typeface="Instrument Sans"/>
              </a:defRPr>
            </a:pPr>
            <a:r>
              <a:rPr sz="1875" b="0">
                <a:solidFill>
                  <a:srgbClr val="5C5C53"/>
                </a:solidFill>
                <a:latin typeface="Instrument Sans"/>
                <a:ea typeface="Instrument Sans"/>
                <a:cs typeface="Instrument Sans"/>
              </a:rPr>
              <a:t>Planned extension. Private evidence stays in the secure verification flow.</a:t>
            </a:r>
          </a:p>
        </p:txBody>
      </p:sp>
    </p:spTree>
    <p:extLst>
      <p:ext uri="{BB962C8B-B14F-4D97-AF65-F5344CB8AC3E}">
        <p14:creationId xmlns:p14="http://schemas.microsoft.com/office/powerpoint/2010/main" val="697853663"/>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2" name="Google Shape;172;p17">
            <a:extLst xmlns:a="http://schemas.openxmlformats.org/drawingml/2006/main">
              <a:ext uri="{FF2B5EF4-FFF2-40B4-BE49-F238E27FC236}">
                <a16:creationId xmlns:a16="http://schemas.microsoft.com/office/drawing/2014/main" id="{7D3EBED5-A39C-4D54-9B1B-2EE35C86EB96}"/>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73" name="Google Shape;173;p17">
            <a:extLst xmlns:a="http://schemas.openxmlformats.org/drawingml/2006/main">
              <a:ext uri="{FF2B5EF4-FFF2-40B4-BE49-F238E27FC236}">
                <a16:creationId xmlns:a16="http://schemas.microsoft.com/office/drawing/2014/main" id="{B6942BC0-7BB3-4ED3-BFA2-800719DEC8D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08 / 08</a:t>
            </a:r>
            <a:endParaRPr/>
          </a:p>
        </p:txBody>
      </p:sp>
      <p:sp>
        <p:nvSpPr>
          <p:cNvPr id="174" name="Google Shape;174;p17">
            <a:extLst xmlns:a="http://schemas.openxmlformats.org/drawingml/2006/main">
              <a:ext uri="{FF2B5EF4-FFF2-40B4-BE49-F238E27FC236}">
                <a16:creationId xmlns:a16="http://schemas.microsoft.com/office/drawing/2014/main" id="{01357805-7734-4188-B64F-8AB1AA620B80}"/>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75" name="Google Shape;175;p17">
            <a:extLst xmlns:a="http://schemas.openxmlformats.org/drawingml/2006/main">
              <a:ext uri="{FF2B5EF4-FFF2-40B4-BE49-F238E27FC236}">
                <a16:creationId xmlns:a16="http://schemas.microsoft.com/office/drawing/2014/main" id="{542C1F76-E1C2-4C92-97A2-1BB724409F05}"/>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FINAL STOP</a:t>
            </a:r>
            <a:endParaRPr/>
          </a:p>
        </p:txBody>
      </p:sp>
      <p:sp>
        <p:nvSpPr>
          <p:cNvPr id="176" name="Google Shape;176;p17">
            <a:extLst xmlns:a="http://schemas.openxmlformats.org/drawingml/2006/main">
              <a:ext uri="{FF2B5EF4-FFF2-40B4-BE49-F238E27FC236}">
                <a16:creationId xmlns:a16="http://schemas.microsoft.com/office/drawing/2014/main" id="{7F2DC12A-4C10-45E9-BC2A-90657FE294FF}"/>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04 / 04</a:t>
            </a:r>
            <a:endParaRPr/>
          </a:p>
        </p:txBody>
      </p:sp>
      <p:sp>
        <p:nvSpPr>
          <p:cNvPr id="177" name="Google Shape;177;p17">
            <a:extLst xmlns:a="http://schemas.openxmlformats.org/drawingml/2006/main">
              <a:ext uri="{FF2B5EF4-FFF2-40B4-BE49-F238E27FC236}">
                <a16:creationId xmlns:a16="http://schemas.microsoft.com/office/drawing/2014/main" id="{6A8F7DCB-4E34-4EB3-9720-8FBA8683AE5D}"/>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TEAM</a:t>
            </a:r>
            <a:endParaRPr/>
          </a:p>
        </p:txBody>
      </p:sp>
      <p:sp>
        <p:nvSpPr>
          <p:cNvPr id="178" name="Google Shape;178;p17">
            <a:extLst xmlns:a="http://schemas.openxmlformats.org/drawingml/2006/main">
              <a:ext uri="{FF2B5EF4-FFF2-40B4-BE49-F238E27FC236}">
                <a16:creationId xmlns:a16="http://schemas.microsoft.com/office/drawing/2014/main" id="{AA494132-E033-4DE6-8898-89FA0F1019F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EasyAI / Oleksiy Onishchenko / Solo builder</a:t>
            </a:r>
            <a:endParaRPr/>
          </a:p>
        </p:txBody>
      </p:sp>
      <p:sp>
        <p:nvSpPr>
          <p:cNvPr id="179" name="Google Shape;179;p17">
            <a:extLst xmlns:a="http://schemas.openxmlformats.org/drawingml/2006/main">
              <a:ext uri="{FF2B5EF4-FFF2-40B4-BE49-F238E27FC236}">
                <a16:creationId xmlns:a16="http://schemas.microsoft.com/office/drawing/2014/main" id="{35D6B7B7-FA3E-4A8D-B511-03A2E588A0A5}"/>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25+ years in software, including fintech and cloud systems.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Solo engineer behind two production marketplaces.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Former 3Commas Engineering Manager and R&amp;D Engineering Director.</a:t>
            </a:r>
            <a:endParaRPr/>
          </a:p>
        </p:txBody>
      </p:sp>
      <p:sp>
        <p:nvSpPr>
          <p:cNvPr id="180" name="Google Shape;180;p17">
            <a:extLst xmlns:a="http://schemas.openxmlformats.org/drawingml/2006/main">
              <a:ext uri="{FF2B5EF4-FFF2-40B4-BE49-F238E27FC236}">
                <a16:creationId xmlns:a16="http://schemas.microsoft.com/office/drawing/2014/main" id="{20BBFE67-E7D7-4DA5-A12C-DB5FCDDD0046}"/>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Built: proof circuit, policy contracts, API, interface and demo.</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Post-MVP: real verification, proof renewal and non-GPL stack.</a:t>
            </a:r>
            <a:endParaRPr/>
          </a:p>
        </p:txBody>
      </p:sp>
      <p:sp>
        <p:nvSpPr>
          <p:cNvPr id="181" name="Google Shape;181;p17">
            <a:extLst xmlns:a="http://schemas.openxmlformats.org/drawingml/2006/main">
              <a:ext uri="{FF2B5EF4-FFF2-40B4-BE49-F238E27FC236}">
                <a16:creationId xmlns:a16="http://schemas.microsoft.com/office/drawing/2014/main" id="{4E6824C6-79EC-4B05-B1A8-90676CE9D402}"/>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2" name="Google Shape;182;p17">
            <a:extLst xmlns:a="http://schemas.openxmlformats.org/drawingml/2006/main">
              <a:ext uri="{FF2B5EF4-FFF2-40B4-BE49-F238E27FC236}">
                <a16:creationId xmlns:a16="http://schemas.microsoft.com/office/drawing/2014/main" id="{79D5CF23-AC89-4CAA-A941-2FD485BE86B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3" name="Google Shape;183;p17">
            <a:extLst xmlns:a="http://schemas.openxmlformats.org/drawingml/2006/main">
              <a:ext uri="{FF2B5EF4-FFF2-40B4-BE49-F238E27FC236}">
                <a16:creationId xmlns:a16="http://schemas.microsoft.com/office/drawing/2014/main" id="{C28643D1-FE0A-4CAA-ADAC-3844982CEE2C}"/>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4" name="Google Shape;184;p17">
            <a:extLst xmlns:a="http://schemas.openxmlformats.org/drawingml/2006/main">
              <a:ext uri="{FF2B5EF4-FFF2-40B4-BE49-F238E27FC236}">
                <a16:creationId xmlns:a16="http://schemas.microsoft.com/office/drawing/2014/main" id="{0B4A3FF3-8CD1-4D36-8C49-C4A9DD13E917}"/>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5" name="Google Shape;185;p17">
            <a:extLst xmlns:a="http://schemas.openxmlformats.org/drawingml/2006/main">
              <a:ext uri="{FF2B5EF4-FFF2-40B4-BE49-F238E27FC236}">
                <a16:creationId xmlns:a16="http://schemas.microsoft.com/office/drawing/2014/main" id="{1AED71B4-E6C7-441A-9074-165BDE7062C8}"/>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6" name="Google Shape;186;p17">
            <a:extLst xmlns:a="http://schemas.openxmlformats.org/drawingml/2006/main">
              <a:ext uri="{FF2B5EF4-FFF2-40B4-BE49-F238E27FC236}">
                <a16:creationId xmlns:a16="http://schemas.microsoft.com/office/drawing/2014/main" id="{3425FFAF-AD96-460D-A358-EEC17E39B7EC}"/>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7" name="Google Shape;187;p17">
            <a:extLst xmlns:a="http://schemas.openxmlformats.org/drawingml/2006/main">
              <a:ext uri="{FF2B5EF4-FFF2-40B4-BE49-F238E27FC236}">
                <a16:creationId xmlns:a16="http://schemas.microsoft.com/office/drawing/2014/main" id="{35FD91CA-BBB3-4339-9424-ACAD4E6088B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8" name="Google Shape;188;p17">
            <a:extLst xmlns:a="http://schemas.openxmlformats.org/drawingml/2006/main">
              <a:ext uri="{FF2B5EF4-FFF2-40B4-BE49-F238E27FC236}">
                <a16:creationId xmlns:a16="http://schemas.microsoft.com/office/drawing/2014/main" id="{C23EDC0D-2B1F-43C9-A157-7F044362B986}"/>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89" name="Google Shape;189;p17">
            <a:extLst xmlns:a="http://schemas.openxmlformats.org/drawingml/2006/main">
              <a:ext uri="{FF2B5EF4-FFF2-40B4-BE49-F238E27FC236}">
                <a16:creationId xmlns:a16="http://schemas.microsoft.com/office/drawing/2014/main" id="{6BB79CD7-9E32-4BF9-AF9B-E6243B8700B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d5b2fda34be4aa4">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90" name="MVP target / Synthetic credentials / Res">
            <a:extLst xmlns:a="http://schemas.openxmlformats.org/drawingml/2006/main">
              <a:ext uri="{FF2B5EF4-FFF2-40B4-BE49-F238E27FC236}">
                <a16:creationId xmlns:a16="http://schemas.microsoft.com/office/drawing/2014/main" id="{ABE81326-9827-4678-A205-78A69B8672E5}"/>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Human review and submission: Oleksiy / Real bank and registry integration: post-MVP</a:t>
            </a:r>
          </a:p>
        </p:txBody>
      </p:sp>
      <p:pic>
        <p:nvPicPr>
          <p:cNvPr id="191" name="">
            <a:extLst xmlns:a="http://schemas.openxmlformats.org/drawingml/2006/main">
              <a:ext uri="{FF2B5EF4-FFF2-40B4-BE49-F238E27FC236}">
                <a16:creationId xmlns:a16="http://schemas.microsoft.com/office/drawing/2014/main" id="{3AAF63C6-1B5B-40B4-A768-9C2F96B603CB}"/>
              </a:ext>
            </a:extLst>
          </p:cNvPr>
          <p:cNvPicPr>
            <a:picLocks xmlns:a="http://schemas.openxmlformats.org/drawingml/2006/main" noChangeAspect="1"/>
          </p:cNvPicPr>
          <p:nvPr/>
        </p:nvPicPr>
        <p:blipFill>
          <a:blip xmlns:r="http://schemas.openxmlformats.org/officeDocument/2006/relationships" xmlns:a="http://schemas.openxmlformats.org/drawingml/2006/main" r:embed="R3d2a6b0d93b24d80"/>
          <a:srcRect xmlns:a="http://schemas.openxmlformats.org/drawingml/2006/main" l="0" t="0" r="0" b="0"/>
          <a:stretch xmlns:a="http://schemas.openxmlformats.org/drawingml/2006/main"/>
        </p:blipFill>
        <p:spPr>
          <a:xfrm xmlns:a="http://schemas.openxmlformats.org/drawingml/2006/main">
            <a:off x="12611100" y="3238500"/>
            <a:ext cx="4762500" cy="4095750"/>
          </a:xfrm>
          <a:prstGeom xmlns:a="http://schemas.openxmlformats.org/drawingml/2006/main" prst="rect">
            <a:avLst/>
          </a:prstGeom>
        </p:spPr>
      </p:pic>
    </p:spTree>
    <p:extLst>
      <p:ext uri="{BB962C8B-B14F-4D97-AF65-F5344CB8AC3E}">
        <p14:creationId xmlns:p14="http://schemas.microsoft.com/office/powerpoint/2010/main" val="1399007677"/>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2026-10-26T10:33:14.4980000Z</dcterms:created>
  <dcterms:modified xsi:type="dcterms:W3CDTF">2026-10-26T10:33:14.4980000Z</dcterms:modified>
</coreProperties>
</file>