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0c1ef62cff415a" /><Relationship Type="http://schemas.openxmlformats.org/officeDocument/2006/relationships/extended-properties" Target="/docProps/app.xml" Id="R625816ae14c74bc0" /><Relationship Type="http://schemas.openxmlformats.org/officeDocument/2006/relationships/officeDocument" Target="/ppt/presentation.xml" Id="R9da72a63a1514f2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3154d8d78654f7c"/>
  </p:sldMasterIdLst>
  <p:notesMasterIdLst>
    <p:notesMasterId xmlns:r="http://schemas.openxmlformats.org/officeDocument/2006/relationships" r:id="Ra3e21c6db64140b5"/>
  </p:notesMasterIdLst>
  <p:sldIdLst>
    <p:sldId xmlns:r="http://schemas.openxmlformats.org/officeDocument/2006/relationships" id="256" r:id="R97ada80d4fda4d60"/>
    <p:sldId xmlns:r="http://schemas.openxmlformats.org/officeDocument/2006/relationships" id="257" r:id="R2e84f88f8f124b54"/>
    <p:sldId xmlns:r="http://schemas.openxmlformats.org/officeDocument/2006/relationships" id="258" r:id="Ra02e6bf1c3bb4724"/>
    <p:sldId xmlns:r="http://schemas.openxmlformats.org/officeDocument/2006/relationships" id="259" r:id="Rd38c06a2938a43e4"/>
    <p:sldId xmlns:r="http://schemas.openxmlformats.org/officeDocument/2006/relationships" id="260" r:id="Rcc2d8cdc634140b3"/>
  </p:sldIdLst>
  <p:sldSz cx="18288000" cy="10287000"/>
  <p:notesSz cx="6858000" cy="9144000"/>
  <p:embeddedFontLst>
    <p:embeddedFont>
      <p:font typeface="Instrument Sans"/>
      <p:regular xmlns:r="http://schemas.openxmlformats.org/officeDocument/2006/relationships" r:id="R27c5ecaa23434bab"/>
      <p:bold xmlns:r="http://schemas.openxmlformats.org/officeDocument/2006/relationships" r:id="R7dc9142e4e594052"/>
      <p:italic xmlns:r="http://schemas.openxmlformats.org/officeDocument/2006/relationships" r:id="R535115bc7ba24ecd"/>
      <p:boldItalic xmlns:r="http://schemas.openxmlformats.org/officeDocument/2006/relationships" r:id="R924f44d60d8e4782"/>
    </p:embeddedFont>
    <p:embeddedFont>
      <p:font typeface="Inter Tight"/>
      <p:regular xmlns:r="http://schemas.openxmlformats.org/officeDocument/2006/relationships" r:id="R38955a2b0c174b7b"/>
      <p:bold xmlns:r="http://schemas.openxmlformats.org/officeDocument/2006/relationships" r:id="R0ba3f41943084c3d"/>
      <p:italic xmlns:r="http://schemas.openxmlformats.org/officeDocument/2006/relationships" r:id="Redf19a626dd043ba"/>
      <p:boldItalic xmlns:r="http://schemas.openxmlformats.org/officeDocument/2006/relationships" r:id="Rbc96dd0ac7f144c6"/>
    </p:embeddedFont>
    <p:embeddedFont>
      <p:font typeface="JetBrains Mono"/>
      <p:regular xmlns:r="http://schemas.openxmlformats.org/officeDocument/2006/relationships" r:id="R93437cf9b08b4931"/>
      <p:bold xmlns:r="http://schemas.openxmlformats.org/officeDocument/2006/relationships" r:id="Rc52a0c6492fe43e6"/>
      <p:italic xmlns:r="http://schemas.openxmlformats.org/officeDocument/2006/relationships" r:id="R60a4b05aff094582"/>
      <p:boldItalic xmlns:r="http://schemas.openxmlformats.org/officeDocument/2006/relationships" r:id="R8e926c166b96451f"/>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efc4da1e73d4d94" /><Relationship Type="http://schemas.openxmlformats.org/officeDocument/2006/relationships/slideMaster" Target="/ppt/slideMasters/slideMaster1.xml" Id="R93154d8d78654f7c" /><Relationship Type="http://schemas.openxmlformats.org/officeDocument/2006/relationships/notesMaster" Target="/ppt/notesMasters/notesMaster1.xml" Id="Ra3e21c6db64140b5" /><Relationship Type="http://schemas.openxmlformats.org/officeDocument/2006/relationships/presProps" Target="/ppt/presProps.xml" Id="R3178df37f0ec438a" /><Relationship Type="http://schemas.openxmlformats.org/officeDocument/2006/relationships/viewProps" Target="/ppt/viewProps.xml" Id="Rfcb10ea8dcdf4394" /><Relationship Type="http://schemas.openxmlformats.org/officeDocument/2006/relationships/tableStyles" Target="/ppt/tableStyles.xml" Id="R78c9a3d36f794338" /><Relationship Type="http://schemas.openxmlformats.org/officeDocument/2006/relationships/font" Target="/ppt/fonts/font.dat" Id="R27c5ecaa23434bab" /><Relationship Type="http://schemas.openxmlformats.org/officeDocument/2006/relationships/font" Target="/ppt/fonts/font2.dat" Id="R7dc9142e4e594052" /><Relationship Type="http://schemas.openxmlformats.org/officeDocument/2006/relationships/font" Target="/ppt/fonts/font3.dat" Id="R535115bc7ba24ecd" /><Relationship Type="http://schemas.openxmlformats.org/officeDocument/2006/relationships/font" Target="/ppt/fonts/font4.dat" Id="R924f44d60d8e4782" /><Relationship Type="http://schemas.openxmlformats.org/officeDocument/2006/relationships/font" Target="/ppt/fonts/font5.dat" Id="R38955a2b0c174b7b" /><Relationship Type="http://schemas.openxmlformats.org/officeDocument/2006/relationships/font" Target="/ppt/fonts/font6.dat" Id="R0ba3f41943084c3d" /><Relationship Type="http://schemas.openxmlformats.org/officeDocument/2006/relationships/font" Target="/ppt/fonts/font7.dat" Id="Redf19a626dd043ba" /><Relationship Type="http://schemas.openxmlformats.org/officeDocument/2006/relationships/font" Target="/ppt/fonts/font8.dat" Id="Rbc96dd0ac7f144c6" /><Relationship Type="http://schemas.openxmlformats.org/officeDocument/2006/relationships/font" Target="/ppt/fonts/font9.dat" Id="R93437cf9b08b4931" /><Relationship Type="http://schemas.openxmlformats.org/officeDocument/2006/relationships/font" Target="/ppt/fonts/font10.dat" Id="Rc52a0c6492fe43e6" /><Relationship Type="http://schemas.openxmlformats.org/officeDocument/2006/relationships/font" Target="/ppt/fonts/font11.dat" Id="R60a4b05aff094582" /><Relationship Type="http://schemas.openxmlformats.org/officeDocument/2006/relationships/font" Target="/ppt/fonts/font12.dat" Id="R8e926c166b96451f" /><Relationship Type="http://schemas.openxmlformats.org/officeDocument/2006/relationships/slide" Target="/ppt/slides/slide1.xml" Id="R97ada80d4fda4d60" /><Relationship Type="http://schemas.openxmlformats.org/officeDocument/2006/relationships/slide" Target="/ppt/slides/slide2.xml" Id="R2e84f88f8f124b54" /><Relationship Type="http://schemas.openxmlformats.org/officeDocument/2006/relationships/slide" Target="/ppt/slides/slide3.xml" Id="Ra02e6bf1c3bb4724" /><Relationship Type="http://schemas.openxmlformats.org/officeDocument/2006/relationships/slide" Target="/ppt/slides/slide4.xml" Id="Rd38c06a2938a43e4" /><Relationship Type="http://schemas.openxmlformats.org/officeDocument/2006/relationships/slide" Target="/ppt/slides/slide5.xml" Id="Rcc2d8cdc634140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32e62b00fc4a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0a73c38a224a9d" /><Relationship Type="http://schemas.openxmlformats.org/officeDocument/2006/relationships/notesMaster" Target="/ppt/notesMasters/notesMaster1.xml" Id="R01640f9f47434d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6c45689ecb4b67" /><Relationship Type="http://schemas.openxmlformats.org/officeDocument/2006/relationships/notesMaster" Target="/ppt/notesMasters/notesMaster1.xml" Id="Rd6afeef0600645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91b87b8a054aad" /><Relationship Type="http://schemas.openxmlformats.org/officeDocument/2006/relationships/notesMaster" Target="/ppt/notesMasters/notesMaster1.xml" Id="R6a56e47fefd242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abae43cac44964" /><Relationship Type="http://schemas.openxmlformats.org/officeDocument/2006/relationships/notesMaster" Target="/ppt/notesMasters/notesMaster1.xml" Id="R69b72284b48743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f824ad17194657" /><Relationship Type="http://schemas.openxmlformats.org/officeDocument/2006/relationships/notesMaster" Target="/ppt/notesMasters/notesMaster1.xml" Id="R80f68ac1527a41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is the EasyAI hackathon project by Oleksiy Onishchenko. It targets confidential qualification for high-value property negotiations. The intended MVP uses synthetic financial and property credentials with genuine Stellar Testnet verification. The visible MVP target label applies to all implementation-dependent behavior in this deck. No contract deployment, successful proof, passing test result, live website or video is claimed at deck creation.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Pitch: Two strangers can establish that they qualify for the same deal without exchanging the private evidence behind their claims.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Deal_Passport_HackMeridian_Build_Spec.md in this project; user-provided team details; shared planning conversation https://chatgpt.com/share/6ade81eb-caf0-83ed-9549-280c99929b07. Event template: supplied HackMeridian 2026 pitch deck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seller requires €750,000. A synthetic financial attestor certifies a €900,000 eligible balance bound to the buyer's secret. The buyer proves only that the certified balance reaches the deal threshold. A synthetic property reviewer authenticates AUTHORIZED_TO_MARKET for the specific property/deal commitment. The property claim is an authenticated attestation, not a second zero-knowledge ownership proof. Both qualification checks and both parties' consent are necessary before the backend releases the synthetic dossier. The judge should see a real verification transaction and can switch to the €400,000 buyer to see rejection. These are target outcomes pending implementation.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public ledger still exposes the transaction submitter and public statement. The circuit hides the certified balance. No real bank or registry verification is claimed, and qualification does not guarantee financing or legal title.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Deal_Passport_HackMeridian_Build_Spec.md, sections 1, 3, 4 and 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initial customer is an off-market platform or licensed real-estate intermediary that repeatedly qualifies counterparties before sharing sensitive property evidence. The product hypothesis is that reusable credentials and mutual disclosure can reduce repeated document requests. Price hypothesis: €49–€299 per month plus per-verification fees. There is no claim of validated demand, paying customers, secured pilots, achieved revenue or measured savings.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completed home sales totaling €41.2 billion in 2025. This describes all home sales and is market context, not the addressable market or a forecast. Source: Direção Geral de Economia, reporting INE, 24 March 2026: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Next: test acceptance with a Portuguese licensed broker, compare repeated document requests and qualification time, then evaluate qualified financial and property issuers. Empiro is a possible future integration context. No Empiro integration or partnership is claimed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proposed React/TypeScript demo uses a Cloudflare Worker and D1 for offchain sessions and disclosure state. An authorized financial issuer publishes the credential root through authenticated Soroban calls. Circom/snarkjs proves a range-checked balance threshold, issuer-root membership and credential expiry, plus a nullifier derived inside the circuit from the holder secret and deal ID. DealGate validates the stored threshold, deal, accepted issuer/root and current time against chain state. The contract authenticates the property issuer and its specific claim. The Worker independently reads current chain qualification before serving the dossier and requires authenticated mutual consent. Proof generation should run in the browser where feasible, or in a separately provisioned synthetic-only prover runtime.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Required tests: €900k valid buyer qualifies; €400k fails; fabricated balance outside the trusted root fails; changed deal/threshold/root fails; expired or revoked credentials fail; unauthorized property issuer fails; nullifier replay fails; direct dossier access before consent fails. These are acceptance targets, not reported results. Testnet contract IDs and transaction hashes will be recorded in the README after deployment. No invented identifiers or performance measurements appear here.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Reuse: official educational, unaudited Groth16 verifier example https://github.com/stellar/soroban-examples/tree/main/groth16_verifier and standard Circom/snarkjs components, subject to implementation validation and license attribution. Native Stellar primitives: https://developers.stellar.org/docs/build/apps/zk. ACTA and Reclaim remain optional future integrations and are not claimed as implemented.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EasyAI. Participant: Oleksiy Onishchenko, solo builder. Owns concept, architecture, implementation and demo, with human review and submission. The implementation/demo responsibilities describe the planned complete MVP and are not evidence that it is already built.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CV summary: 25+ years in software and 20 years leading teams. Sole engineer for two production marketplaces, empiro.io and gleamit.io, launched within two months. Former Engineering Manager at 3Commas, leading three product teams and contributing directly to backend code. Former R&amp;D Engineering Director at OpenCascade within Capgemini Engineering. Experience spans TypeScript/React, backend services, cloud infrastructure, security and AI-assisted product delivery. The CV also records three hackathon wins in 2026, including the Cloudflare challenge at Agents Day. These are CV-supplied statements, not independently audited claims. No claim of prior professional ZK expertise is made.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user-provided team details and Oleksiy_Onishchenko_AI_EM_CV.pdf in the project folder. Contact details from the CV are omitted from the deck. AI disclosure: ChatGPT supported idea research and specification; Codex supports repository work, technical implementation, verification and submission drafting. The final disclosure must match the tools actually used when the MVP is complete.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a58e1290ec4d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a63989d1f04d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9cb1b9d59d43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470888d60c4a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39d8131f104a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6fe9d1b1e8416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baa253b5fcc4b4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bdc3aa99484452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387e451f055499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2c7a9ca434b4fb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01e9333ce834310"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84e933a4cb4992" /><Relationship Type="http://schemas.openxmlformats.org/officeDocument/2006/relationships/slideLayout" Target="/ppt/slideLayouts/slideLayout1.xml" Id="R77be1d27824f4009" /><Relationship Type="http://schemas.openxmlformats.org/officeDocument/2006/relationships/slideLayout" Target="/ppt/slideLayouts/slideLayout2.xml" Id="R71e2ecae59ff4ce0" /><Relationship Type="http://schemas.openxmlformats.org/officeDocument/2006/relationships/slideLayout" Target="/ppt/slideLayouts/slideLayout3.xml" Id="R7485a847900c490a" /><Relationship Type="http://schemas.openxmlformats.org/officeDocument/2006/relationships/slideLayout" Target="/ppt/slideLayouts/slideLayout4.xml" Id="R28ccff98e2d2472f" /><Relationship Type="http://schemas.openxmlformats.org/officeDocument/2006/relationships/slideLayout" Target="/ppt/slideLayouts/slideLayout5.xml" Id="R1644fc8734f34f30" /><Relationship Type="http://schemas.openxmlformats.org/officeDocument/2006/relationships/slideLayout" Target="/ppt/slideLayouts/slideLayout6.xml" Id="R5ea6b901e30c4c0e" /><Relationship Type="http://schemas.openxmlformats.org/officeDocument/2006/relationships/slideLayout" Target="/ppt/slideLayouts/slideLayout7.xml" Id="R5acede6c6728457c" /><Relationship Type="http://schemas.openxmlformats.org/officeDocument/2006/relationships/slideLayout" Target="/ppt/slideLayouts/slideLayout8.xml" Id="Rc28b61731a8d45c7" /><Relationship Type="http://schemas.openxmlformats.org/officeDocument/2006/relationships/slideLayout" Target="/ppt/slideLayouts/slideLayout9.xml" Id="R05f54f86cc91411b" /><Relationship Type="http://schemas.openxmlformats.org/officeDocument/2006/relationships/slideLayout" Target="/ppt/slideLayouts/slideLayout10.xml" Id="R314790b79167412b" /><Relationship Type="http://schemas.openxmlformats.org/officeDocument/2006/relationships/slideLayout" Target="/ppt/slideLayouts/slideLayout11.xml" Id="Rf74b0ee4db464a2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7be1d27824f4009"/>
    <p:sldLayoutId xmlns:r="http://schemas.openxmlformats.org/officeDocument/2006/relationships" id="2147483650" r:id="R71e2ecae59ff4ce0"/>
    <p:sldLayoutId xmlns:r="http://schemas.openxmlformats.org/officeDocument/2006/relationships" id="2147483651" r:id="R7485a847900c490a"/>
    <p:sldLayoutId xmlns:r="http://schemas.openxmlformats.org/officeDocument/2006/relationships" id="2147483652" r:id="R28ccff98e2d2472f"/>
    <p:sldLayoutId xmlns:r="http://schemas.openxmlformats.org/officeDocument/2006/relationships" id="2147483653" r:id="R1644fc8734f34f30"/>
    <p:sldLayoutId xmlns:r="http://schemas.openxmlformats.org/officeDocument/2006/relationships" id="2147483654" r:id="R5ea6b901e30c4c0e"/>
    <p:sldLayoutId xmlns:r="http://schemas.openxmlformats.org/officeDocument/2006/relationships" id="2147483655" r:id="R5acede6c6728457c"/>
    <p:sldLayoutId xmlns:r="http://schemas.openxmlformats.org/officeDocument/2006/relationships" id="2147483656" r:id="Rc28b61731a8d45c7"/>
    <p:sldLayoutId xmlns:r="http://schemas.openxmlformats.org/officeDocument/2006/relationships" id="2147483657" r:id="R05f54f86cc91411b"/>
    <p:sldLayoutId xmlns:r="http://schemas.openxmlformats.org/officeDocument/2006/relationships" id="2147483658" r:id="R314790b79167412b"/>
    <p:sldLayoutId xmlns:r="http://schemas.openxmlformats.org/officeDocument/2006/relationships" id="2147483659" r:id="Rf74b0ee4db464a2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80b874c5784084" /><Relationship Type="http://schemas.openxmlformats.org/officeDocument/2006/relationships/image" Target="/ppt/media/image.png" Id="R9db8d72d8a574e12" /><Relationship Type="http://schemas.openxmlformats.org/officeDocument/2006/relationships/image" Target="/ppt/media/image2.png" Id="R51189fa131f040c9" /><Relationship Type="http://schemas.openxmlformats.org/officeDocument/2006/relationships/image" Target="/ppt/media/image3.png" Id="R18c0418581ed406b" /><Relationship Type="http://schemas.openxmlformats.org/officeDocument/2006/relationships/notesSlide" Target="/ppt/notesSlides/notesSlide1.xml" Id="Rb76d5fd8aa7a43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45fa1d557f4a0a" /><Relationship Type="http://schemas.openxmlformats.org/officeDocument/2006/relationships/image" Target="/ppt/media/image4.png" Id="Ree480b8c85c74df0" /><Relationship Type="http://schemas.openxmlformats.org/officeDocument/2006/relationships/notesSlide" Target="/ppt/notesSlides/notesSlide2.xml" Id="R553efdd6e3474c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2c6f6ac4e64624" /><Relationship Type="http://schemas.openxmlformats.org/officeDocument/2006/relationships/image" Target="/ppt/media/image4.png" Id="Ra41014fd762340c3" /><Relationship Type="http://schemas.openxmlformats.org/officeDocument/2006/relationships/notesSlide" Target="/ppt/notesSlides/notesSlide3.xml" Id="R4819ada9a07a4c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e3157c142f415e" /><Relationship Type="http://schemas.openxmlformats.org/officeDocument/2006/relationships/image" Target="/ppt/media/image4.png" Id="R4f31e98f7b6f470a" /><Relationship Type="http://schemas.openxmlformats.org/officeDocument/2006/relationships/notesSlide" Target="/ppt/notesSlides/notesSlide4.xml" Id="R8d628a840bbf4a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330c36000a41d2" /><Relationship Type="http://schemas.openxmlformats.org/officeDocument/2006/relationships/image" Target="/ppt/media/image4.png" Id="R4ff4f8f41d9342d1" /><Relationship Type="http://schemas.openxmlformats.org/officeDocument/2006/relationships/notesSlide" Target="/ppt/notesSlides/notesSlide5.xml" Id="Rdaabdd637e7e414a"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05</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6EED6F43-4598-473A-9E55-F2F5ECB97C6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b8d72d8a574e12">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BDE8E787-C5D2-4625-BA8C-DA8C4A9CE37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189fa131f040c9">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923129EA-3001-41AF-A6E8-A4FBBF1482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8c0418581ed406b">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MVP TARGET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defRPr sz="2800">
                <a:solidFill>
                  <a:srgbClr val="FFFFFF"/>
                </a:solidFill>
                <a:latin typeface="Instrument Sans"/>
                <a:ea typeface="Instrument Sans"/>
                <a:cs typeface="Instrument Sans"/>
              </a:defRPr>
            </a:lvl1pPr>
            <a:lvl2pPr>
              <a:defRPr sz="2800">
                <a:solidFill>
                  <a:srgbClr val="FFFFFF"/>
                </a:solidFill>
                <a:latin typeface="Instrument Sans"/>
                <a:ea typeface="Instrument Sans"/>
                <a:cs typeface="Instrument Sans"/>
              </a:defRPr>
            </a:lvl2pPr>
            <a:lvl3pPr>
              <a:defRPr sz="2800">
                <a:solidFill>
                  <a:srgbClr val="FFFFFF"/>
                </a:solidFill>
                <a:latin typeface="Instrument Sans"/>
                <a:ea typeface="Instrument Sans"/>
                <a:cs typeface="Instrument Sans"/>
              </a:defRPr>
            </a:lvl3pPr>
            <a:lvl4pPr>
              <a:defRPr sz="2800">
                <a:solidFill>
                  <a:srgbClr val="FFFFFF"/>
                </a:solidFill>
                <a:latin typeface="Instrument Sans"/>
                <a:ea typeface="Instrument Sans"/>
                <a:cs typeface="Instrument Sans"/>
              </a:defRPr>
            </a:lvl4pPr>
            <a:lvl5pPr>
              <a:defRPr sz="2800">
                <a:solidFill>
                  <a:srgbClr val="FFFFFF"/>
                </a:solidFill>
                <a:latin typeface="Instrument Sans"/>
                <a:ea typeface="Instrument Sans"/>
                <a:cs typeface="Instrument Sans"/>
              </a:defRPr>
            </a:lvl5pPr>
            <a:lvl6pPr>
              <a:defRPr sz="2800">
                <a:solidFill>
                  <a:srgbClr val="FFFFFF"/>
                </a:solidFill>
                <a:latin typeface="Instrument Sans"/>
                <a:ea typeface="Instrument Sans"/>
                <a:cs typeface="Instrument Sans"/>
              </a:defRPr>
            </a:lvl6pPr>
            <a:lvl7pPr>
              <a:defRPr sz="2800">
                <a:solidFill>
                  <a:srgbClr val="FFFFFF"/>
                </a:solidFill>
                <a:latin typeface="Instrument Sans"/>
                <a:ea typeface="Instrument Sans"/>
                <a:cs typeface="Instrument Sans"/>
              </a:defRPr>
            </a:lvl7pPr>
            <a:lvl8pPr>
              <a:defRPr sz="2800">
                <a:solidFill>
                  <a:srgbClr val="FFFFFF"/>
                </a:solidFill>
                <a:latin typeface="Instrument Sans"/>
                <a:ea typeface="Instrument Sans"/>
                <a:cs typeface="Instrument Sans"/>
              </a:defRPr>
            </a:lvl8pPr>
            <a:lvl9pPr>
              <a:defRPr sz="2800">
                <a:solidFill>
                  <a:srgbClr val="FFFFFF"/>
                </a:solidFill>
                <a:latin typeface="Instrument Sans"/>
                <a:ea typeface="Instrument Sans"/>
                <a:cs typeface="Instrument Sans"/>
              </a:defRPr>
            </a:lvl9pPr>
          </a:lstStyle>
          <a:p xmlns:a="http://schemas.openxmlformats.org/drawingml/2006/main">
            <a:pPr>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real estate. Verified qualification.</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defRPr sz="1900">
                <a:solidFill>
                  <a:srgbClr val="FDDA24"/>
                </a:solidFill>
                <a:latin typeface="Instrument Sans"/>
                <a:ea typeface="Instrument Sans"/>
                <a:cs typeface="Instrument Sans"/>
              </a:defRPr>
            </a:lvl1pPr>
            <a:lvl2pPr>
              <a:defRPr sz="1900">
                <a:solidFill>
                  <a:srgbClr val="FDDA24"/>
                </a:solidFill>
                <a:latin typeface="Instrument Sans"/>
                <a:ea typeface="Instrument Sans"/>
                <a:cs typeface="Instrument Sans"/>
              </a:defRPr>
            </a:lvl2pPr>
            <a:lvl3pPr>
              <a:defRPr sz="1900">
                <a:solidFill>
                  <a:srgbClr val="FDDA24"/>
                </a:solidFill>
                <a:latin typeface="Instrument Sans"/>
                <a:ea typeface="Instrument Sans"/>
                <a:cs typeface="Instrument Sans"/>
              </a:defRPr>
            </a:lvl3pPr>
            <a:lvl4pPr>
              <a:defRPr sz="1900">
                <a:solidFill>
                  <a:srgbClr val="FDDA24"/>
                </a:solidFill>
                <a:latin typeface="Instrument Sans"/>
                <a:ea typeface="Instrument Sans"/>
                <a:cs typeface="Instrument Sans"/>
              </a:defRPr>
            </a:lvl4pPr>
            <a:lvl5pPr>
              <a:defRPr sz="1900">
                <a:solidFill>
                  <a:srgbClr val="FDDA24"/>
                </a:solidFill>
                <a:latin typeface="Instrument Sans"/>
                <a:ea typeface="Instrument Sans"/>
                <a:cs typeface="Instrument Sans"/>
              </a:defRPr>
            </a:lvl5pPr>
            <a:lvl6pPr>
              <a:defRPr sz="1900">
                <a:solidFill>
                  <a:srgbClr val="FDDA24"/>
                </a:solidFill>
                <a:latin typeface="Instrument Sans"/>
                <a:ea typeface="Instrument Sans"/>
                <a:cs typeface="Instrument Sans"/>
              </a:defRPr>
            </a:lvl6pPr>
            <a:lvl7pPr>
              <a:defRPr sz="1900">
                <a:solidFill>
                  <a:srgbClr val="FDDA24"/>
                </a:solidFill>
                <a:latin typeface="Instrument Sans"/>
                <a:ea typeface="Instrument Sans"/>
                <a:cs typeface="Instrument Sans"/>
              </a:defRPr>
            </a:lvl7pPr>
            <a:lvl8pPr>
              <a:defRPr sz="1900">
                <a:solidFill>
                  <a:srgbClr val="FDDA24"/>
                </a:solidFill>
                <a:latin typeface="Instrument Sans"/>
                <a:ea typeface="Instrument Sans"/>
                <a:cs typeface="Instrument Sans"/>
              </a:defRPr>
            </a:lvl8pPr>
            <a:lvl9pPr>
              <a:defRPr sz="1900">
                <a:solidFill>
                  <a:srgbClr val="FDDA24"/>
                </a:solidFill>
                <a:latin typeface="Instrument Sans"/>
                <a:ea typeface="Instrument Sans"/>
                <a:cs typeface="Instrument Sans"/>
              </a:defRPr>
            </a:lvl9pPr>
          </a:lstStyle>
          <a:p xmlns:a="http://schemas.openxmlformats.org/drawingml/2006/main">
            <a:pPr>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05</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strangers qualify for one private property deal.</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defRPr sz="2400">
                <a:solidFill>
                  <a:srgbClr val="2A2A2A"/>
                </a:solidFill>
                <a:latin typeface="Instrument Sans"/>
                <a:ea typeface="Instrument Sans"/>
                <a:cs typeface="Instrument Sans"/>
              </a:defRPr>
            </a:lvl1pPr>
            <a:lvl2pPr>
              <a:defRPr sz="2400">
                <a:solidFill>
                  <a:srgbClr val="2A2A2A"/>
                </a:solidFill>
                <a:latin typeface="Instrument Sans"/>
                <a:ea typeface="Instrument Sans"/>
                <a:cs typeface="Instrument Sans"/>
              </a:defRPr>
            </a:lvl2pPr>
            <a:lvl3pPr>
              <a:defRPr sz="2400">
                <a:solidFill>
                  <a:srgbClr val="2A2A2A"/>
                </a:solidFill>
                <a:latin typeface="Instrument Sans"/>
                <a:ea typeface="Instrument Sans"/>
                <a:cs typeface="Instrument Sans"/>
              </a:defRPr>
            </a:lvl3pPr>
            <a:lvl4pPr>
              <a:defRPr sz="2400">
                <a:solidFill>
                  <a:srgbClr val="2A2A2A"/>
                </a:solidFill>
                <a:latin typeface="Instrument Sans"/>
                <a:ea typeface="Instrument Sans"/>
                <a:cs typeface="Instrument Sans"/>
              </a:defRPr>
            </a:lvl4pPr>
            <a:lvl5pPr>
              <a:defRPr sz="2400">
                <a:solidFill>
                  <a:srgbClr val="2A2A2A"/>
                </a:solidFill>
                <a:latin typeface="Instrument Sans"/>
                <a:ea typeface="Instrument Sans"/>
                <a:cs typeface="Instrument Sans"/>
              </a:defRPr>
            </a:lvl5pPr>
            <a:lvl6pPr>
              <a:defRPr sz="2400">
                <a:solidFill>
                  <a:srgbClr val="2A2A2A"/>
                </a:solidFill>
                <a:latin typeface="Instrument Sans"/>
                <a:ea typeface="Instrument Sans"/>
                <a:cs typeface="Instrument Sans"/>
              </a:defRPr>
            </a:lvl6pPr>
            <a:lvl7pPr>
              <a:defRPr sz="2400">
                <a:solidFill>
                  <a:srgbClr val="2A2A2A"/>
                </a:solidFill>
                <a:latin typeface="Instrument Sans"/>
                <a:ea typeface="Instrument Sans"/>
                <a:cs typeface="Instrument Sans"/>
              </a:defRPr>
            </a:lvl7pPr>
            <a:lvl8pPr>
              <a:defRPr sz="2400">
                <a:solidFill>
                  <a:srgbClr val="2A2A2A"/>
                </a:solidFill>
                <a:latin typeface="Instrument Sans"/>
                <a:ea typeface="Instrument Sans"/>
                <a:cs typeface="Instrument Sans"/>
              </a:defRPr>
            </a:lvl8pPr>
            <a:lvl9pPr>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without revealing the certified balance.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prove marketing authority while evidence stays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unlock the dossier after both checks and mutual consent.</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Demo target: €900k buyer qualifies. €400k buyer fails.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Synthetic issuers. Real verification on Stellar Testnet.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0DA425EA-C239-4911-85F0-0289231F4F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480b8c85c74df0">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defRPr sz="1400">
                <a:solidFill>
                  <a:srgbClr val="5C5C5C"/>
                </a:solidFill>
                <a:latin typeface="JetBrains Mono"/>
                <a:ea typeface="JetBrains Mono"/>
                <a:cs typeface="JetBrains Mono"/>
              </a:defRPr>
            </a:lvl1pPr>
            <a:lvl2pPr>
              <a:defRPr sz="1400">
                <a:solidFill>
                  <a:srgbClr val="5C5C5C"/>
                </a:solidFill>
                <a:latin typeface="JetBrains Mono"/>
                <a:ea typeface="JetBrains Mono"/>
                <a:cs typeface="JetBrains Mono"/>
              </a:defRPr>
            </a:lvl2pPr>
            <a:lvl3pPr>
              <a:defRPr sz="1400">
                <a:solidFill>
                  <a:srgbClr val="5C5C5C"/>
                </a:solidFill>
                <a:latin typeface="JetBrains Mono"/>
                <a:ea typeface="JetBrains Mono"/>
                <a:cs typeface="JetBrains Mono"/>
              </a:defRPr>
            </a:lvl3pPr>
            <a:lvl4pPr>
              <a:defRPr sz="1400">
                <a:solidFill>
                  <a:srgbClr val="5C5C5C"/>
                </a:solidFill>
                <a:latin typeface="JetBrains Mono"/>
                <a:ea typeface="JetBrains Mono"/>
                <a:cs typeface="JetBrains Mono"/>
              </a:defRPr>
            </a:lvl4pPr>
            <a:lvl5pPr>
              <a:defRPr sz="1400">
                <a:solidFill>
                  <a:srgbClr val="5C5C5C"/>
                </a:solidFill>
                <a:latin typeface="JetBrains Mono"/>
                <a:ea typeface="JetBrains Mono"/>
                <a:cs typeface="JetBrains Mono"/>
              </a:defRPr>
            </a:lvl5pPr>
            <a:lvl6pPr>
              <a:defRPr sz="1400">
                <a:solidFill>
                  <a:srgbClr val="5C5C5C"/>
                </a:solidFill>
                <a:latin typeface="JetBrains Mono"/>
                <a:ea typeface="JetBrains Mono"/>
                <a:cs typeface="JetBrains Mono"/>
              </a:defRPr>
            </a:lvl6pPr>
            <a:lvl7pPr>
              <a:defRPr sz="1400">
                <a:solidFill>
                  <a:srgbClr val="5C5C5C"/>
                </a:solidFill>
                <a:latin typeface="JetBrains Mono"/>
                <a:ea typeface="JetBrains Mono"/>
                <a:cs typeface="JetBrains Mono"/>
              </a:defRPr>
            </a:lvl7pPr>
            <a:lvl8pPr>
              <a:defRPr sz="1400">
                <a:solidFill>
                  <a:srgbClr val="5C5C5C"/>
                </a:solidFill>
                <a:latin typeface="JetBrains Mono"/>
                <a:ea typeface="JetBrains Mono"/>
                <a:cs typeface="JetBrains Mono"/>
              </a:defRPr>
            </a:lvl8pPr>
            <a:lvl9pPr>
              <a:defRPr sz="1400">
                <a:solidFill>
                  <a:srgbClr val="5C5C5C"/>
                </a:solidFill>
                <a:latin typeface="JetBrains Mono"/>
                <a:ea typeface="JetBrains Mono"/>
                <a:cs typeface="JetBrains Mono"/>
              </a:defRPr>
            </a:lvl9pPr>
          </a:lstStyle>
          <a:p xmlns:a="http://schemas.openxmlformats.org/drawingml/2006/main">
            <a:pPr>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05</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defRPr sz="2400">
                <a:solidFill>
                  <a:srgbClr val="2A2A2A"/>
                </a:solidFill>
                <a:latin typeface="Instrument Sans"/>
                <a:ea typeface="Instrument Sans"/>
                <a:cs typeface="Instrument Sans"/>
              </a:defRPr>
            </a:lvl1pPr>
            <a:lvl2pPr>
              <a:defRPr sz="2400">
                <a:solidFill>
                  <a:srgbClr val="2A2A2A"/>
                </a:solidFill>
                <a:latin typeface="Instrument Sans"/>
                <a:ea typeface="Instrument Sans"/>
                <a:cs typeface="Instrument Sans"/>
              </a:defRPr>
            </a:lvl2pPr>
            <a:lvl3pPr>
              <a:defRPr sz="2400">
                <a:solidFill>
                  <a:srgbClr val="2A2A2A"/>
                </a:solidFill>
                <a:latin typeface="Instrument Sans"/>
                <a:ea typeface="Instrument Sans"/>
                <a:cs typeface="Instrument Sans"/>
              </a:defRPr>
            </a:lvl3pPr>
            <a:lvl4pPr>
              <a:defRPr sz="2400">
                <a:solidFill>
                  <a:srgbClr val="2A2A2A"/>
                </a:solidFill>
                <a:latin typeface="Instrument Sans"/>
                <a:ea typeface="Instrument Sans"/>
                <a:cs typeface="Instrument Sans"/>
              </a:defRPr>
            </a:lvl4pPr>
            <a:lvl5pPr>
              <a:defRPr sz="2400">
                <a:solidFill>
                  <a:srgbClr val="2A2A2A"/>
                </a:solidFill>
                <a:latin typeface="Instrument Sans"/>
                <a:ea typeface="Instrument Sans"/>
                <a:cs typeface="Instrument Sans"/>
              </a:defRPr>
            </a:lvl5pPr>
            <a:lvl6pPr>
              <a:defRPr sz="2400">
                <a:solidFill>
                  <a:srgbClr val="2A2A2A"/>
                </a:solidFill>
                <a:latin typeface="Instrument Sans"/>
                <a:ea typeface="Instrument Sans"/>
                <a:cs typeface="Instrument Sans"/>
              </a:defRPr>
            </a:lvl6pPr>
            <a:lvl7pPr>
              <a:defRPr sz="2400">
                <a:solidFill>
                  <a:srgbClr val="2A2A2A"/>
                </a:solidFill>
                <a:latin typeface="Instrument Sans"/>
                <a:ea typeface="Instrument Sans"/>
                <a:cs typeface="Instrument Sans"/>
              </a:defRPr>
            </a:lvl7pPr>
            <a:lvl8pPr>
              <a:defRPr sz="2400">
                <a:solidFill>
                  <a:srgbClr val="2A2A2A"/>
                </a:solidFill>
                <a:latin typeface="Instrument Sans"/>
                <a:ea typeface="Instrument Sans"/>
                <a:cs typeface="Instrument Sans"/>
              </a:defRPr>
            </a:lvl8pPr>
            <a:lvl9pPr>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€49–€299/month plus 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068584DB-D95E-4374-9600-CDE8FE81197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41014fd762340c3">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defRPr sz="1400">
                <a:solidFill>
                  <a:srgbClr val="5C5C5C"/>
                </a:solidFill>
                <a:latin typeface="JetBrains Mono"/>
                <a:ea typeface="JetBrains Mono"/>
                <a:cs typeface="JetBrains Mono"/>
              </a:defRPr>
            </a:lvl1pPr>
            <a:lvl2pPr>
              <a:defRPr sz="1400">
                <a:solidFill>
                  <a:srgbClr val="5C5C5C"/>
                </a:solidFill>
                <a:latin typeface="JetBrains Mono"/>
                <a:ea typeface="JetBrains Mono"/>
                <a:cs typeface="JetBrains Mono"/>
              </a:defRPr>
            </a:lvl2pPr>
            <a:lvl3pPr>
              <a:defRPr sz="1400">
                <a:solidFill>
                  <a:srgbClr val="5C5C5C"/>
                </a:solidFill>
                <a:latin typeface="JetBrains Mono"/>
                <a:ea typeface="JetBrains Mono"/>
                <a:cs typeface="JetBrains Mono"/>
              </a:defRPr>
            </a:lvl3pPr>
            <a:lvl4pPr>
              <a:defRPr sz="1400">
                <a:solidFill>
                  <a:srgbClr val="5C5C5C"/>
                </a:solidFill>
                <a:latin typeface="JetBrains Mono"/>
                <a:ea typeface="JetBrains Mono"/>
                <a:cs typeface="JetBrains Mono"/>
              </a:defRPr>
            </a:lvl4pPr>
            <a:lvl5pPr>
              <a:defRPr sz="1400">
                <a:solidFill>
                  <a:srgbClr val="5C5C5C"/>
                </a:solidFill>
                <a:latin typeface="JetBrains Mono"/>
                <a:ea typeface="JetBrains Mono"/>
                <a:cs typeface="JetBrains Mono"/>
              </a:defRPr>
            </a:lvl5pPr>
            <a:lvl6pPr>
              <a:defRPr sz="1400">
                <a:solidFill>
                  <a:srgbClr val="5C5C5C"/>
                </a:solidFill>
                <a:latin typeface="JetBrains Mono"/>
                <a:ea typeface="JetBrains Mono"/>
                <a:cs typeface="JetBrains Mono"/>
              </a:defRPr>
            </a:lvl6pPr>
            <a:lvl7pPr>
              <a:defRPr sz="1400">
                <a:solidFill>
                  <a:srgbClr val="5C5C5C"/>
                </a:solidFill>
                <a:latin typeface="JetBrains Mono"/>
                <a:ea typeface="JetBrains Mono"/>
                <a:cs typeface="JetBrains Mono"/>
              </a:defRPr>
            </a:lvl7pPr>
            <a:lvl8pPr>
              <a:defRPr sz="1400">
                <a:solidFill>
                  <a:srgbClr val="5C5C5C"/>
                </a:solidFill>
                <a:latin typeface="JetBrains Mono"/>
                <a:ea typeface="JetBrains Mono"/>
                <a:cs typeface="JetBrains Mono"/>
              </a:defRPr>
            </a:lvl8pPr>
            <a:lvl9pPr>
              <a:defRPr sz="1400">
                <a:solidFill>
                  <a:srgbClr val="5C5C5C"/>
                </a:solidFill>
                <a:latin typeface="JetBrains Mono"/>
                <a:ea typeface="JetBrains Mono"/>
                <a:cs typeface="JetBrains Mono"/>
              </a:defRPr>
            </a:lvl9pPr>
          </a:lstStyle>
          <a:p xmlns:a="http://schemas.openxmlformats.org/drawingml/2006/main">
            <a:pPr>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05</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TECHNICAL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Issuer-backed ZK verification controls room access.</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defRPr sz="2400">
                <a:solidFill>
                  <a:srgbClr val="2A2A2A"/>
                </a:solidFill>
                <a:latin typeface="Instrument Sans"/>
                <a:ea typeface="Instrument Sans"/>
                <a:cs typeface="Instrument Sans"/>
              </a:defRPr>
            </a:lvl1pPr>
            <a:lvl2pPr>
              <a:defRPr sz="2400">
                <a:solidFill>
                  <a:srgbClr val="2A2A2A"/>
                </a:solidFill>
                <a:latin typeface="Instrument Sans"/>
                <a:ea typeface="Instrument Sans"/>
                <a:cs typeface="Instrument Sans"/>
              </a:defRPr>
            </a:lvl2pPr>
            <a:lvl3pPr>
              <a:defRPr sz="2400">
                <a:solidFill>
                  <a:srgbClr val="2A2A2A"/>
                </a:solidFill>
                <a:latin typeface="Instrument Sans"/>
                <a:ea typeface="Instrument Sans"/>
                <a:cs typeface="Instrument Sans"/>
              </a:defRPr>
            </a:lvl3pPr>
            <a:lvl4pPr>
              <a:defRPr sz="2400">
                <a:solidFill>
                  <a:srgbClr val="2A2A2A"/>
                </a:solidFill>
                <a:latin typeface="Instrument Sans"/>
                <a:ea typeface="Instrument Sans"/>
                <a:cs typeface="Instrument Sans"/>
              </a:defRPr>
            </a:lvl4pPr>
            <a:lvl5pPr>
              <a:defRPr sz="2400">
                <a:solidFill>
                  <a:srgbClr val="2A2A2A"/>
                </a:solidFill>
                <a:latin typeface="Instrument Sans"/>
                <a:ea typeface="Instrument Sans"/>
                <a:cs typeface="Instrument Sans"/>
              </a:defRPr>
            </a:lvl5pPr>
            <a:lvl6pPr>
              <a:defRPr sz="2400">
                <a:solidFill>
                  <a:srgbClr val="2A2A2A"/>
                </a:solidFill>
                <a:latin typeface="Instrument Sans"/>
                <a:ea typeface="Instrument Sans"/>
                <a:cs typeface="Instrument Sans"/>
              </a:defRPr>
            </a:lvl6pPr>
            <a:lvl7pPr>
              <a:defRPr sz="2400">
                <a:solidFill>
                  <a:srgbClr val="2A2A2A"/>
                </a:solidFill>
                <a:latin typeface="Instrument Sans"/>
                <a:ea typeface="Instrument Sans"/>
                <a:cs typeface="Instrument Sans"/>
              </a:defRPr>
            </a:lvl7pPr>
            <a:lvl8pPr>
              <a:defRPr sz="2400">
                <a:solidFill>
                  <a:srgbClr val="2A2A2A"/>
                </a:solidFill>
                <a:latin typeface="Instrument Sans"/>
                <a:ea typeface="Instrument Sans"/>
                <a:cs typeface="Instrument Sans"/>
              </a:defRPr>
            </a:lvl8pPr>
            <a:lvl9pPr>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Issuers register a financial root and a property-authority claim.</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Circom / snarkjs proves balance, membership, expiry and deal binding.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Soroban verifies Groth16 with BN254 and rejects reused nullifiers.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Worker checks chain state and both consents before serving the dossier.</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Acceptance target: a valid proof opens the qualification gate.</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Underfunded, forged, expired and replayed cases fail.</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99E42454-A4E6-499E-B4EE-97DFDFFAE2E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31e98f7b6f470a">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defRPr sz="1400">
                <a:solidFill>
                  <a:srgbClr val="5C5C5C"/>
                </a:solidFill>
                <a:latin typeface="JetBrains Mono"/>
                <a:ea typeface="JetBrains Mono"/>
                <a:cs typeface="JetBrains Mono"/>
              </a:defRPr>
            </a:lvl1pPr>
            <a:lvl2pPr>
              <a:defRPr sz="1400">
                <a:solidFill>
                  <a:srgbClr val="5C5C5C"/>
                </a:solidFill>
                <a:latin typeface="JetBrains Mono"/>
                <a:ea typeface="JetBrains Mono"/>
                <a:cs typeface="JetBrains Mono"/>
              </a:defRPr>
            </a:lvl2pPr>
            <a:lvl3pPr>
              <a:defRPr sz="1400">
                <a:solidFill>
                  <a:srgbClr val="5C5C5C"/>
                </a:solidFill>
                <a:latin typeface="JetBrains Mono"/>
                <a:ea typeface="JetBrains Mono"/>
                <a:cs typeface="JetBrains Mono"/>
              </a:defRPr>
            </a:lvl3pPr>
            <a:lvl4pPr>
              <a:defRPr sz="1400">
                <a:solidFill>
                  <a:srgbClr val="5C5C5C"/>
                </a:solidFill>
                <a:latin typeface="JetBrains Mono"/>
                <a:ea typeface="JetBrains Mono"/>
                <a:cs typeface="JetBrains Mono"/>
              </a:defRPr>
            </a:lvl4pPr>
            <a:lvl5pPr>
              <a:defRPr sz="1400">
                <a:solidFill>
                  <a:srgbClr val="5C5C5C"/>
                </a:solidFill>
                <a:latin typeface="JetBrains Mono"/>
                <a:ea typeface="JetBrains Mono"/>
                <a:cs typeface="JetBrains Mono"/>
              </a:defRPr>
            </a:lvl5pPr>
            <a:lvl6pPr>
              <a:defRPr sz="1400">
                <a:solidFill>
                  <a:srgbClr val="5C5C5C"/>
                </a:solidFill>
                <a:latin typeface="JetBrains Mono"/>
                <a:ea typeface="JetBrains Mono"/>
                <a:cs typeface="JetBrains Mono"/>
              </a:defRPr>
            </a:lvl6pPr>
            <a:lvl7pPr>
              <a:defRPr sz="1400">
                <a:solidFill>
                  <a:srgbClr val="5C5C5C"/>
                </a:solidFill>
                <a:latin typeface="JetBrains Mono"/>
                <a:ea typeface="JetBrains Mono"/>
                <a:cs typeface="JetBrains Mono"/>
              </a:defRPr>
            </a:lvl7pPr>
            <a:lvl8pPr>
              <a:defRPr sz="1400">
                <a:solidFill>
                  <a:srgbClr val="5C5C5C"/>
                </a:solidFill>
                <a:latin typeface="JetBrains Mono"/>
                <a:ea typeface="JetBrains Mono"/>
                <a:cs typeface="JetBrains Mono"/>
              </a:defRPr>
            </a:lvl8pPr>
            <a:lvl9pPr>
              <a:defRPr sz="1400">
                <a:solidFill>
                  <a:srgbClr val="5C5C5C"/>
                </a:solidFill>
                <a:latin typeface="JetBrains Mono"/>
                <a:ea typeface="JetBrains Mono"/>
                <a:cs typeface="JetBrains Mono"/>
              </a:defRPr>
            </a:lvl9pPr>
          </a:lstStyle>
          <a:p xmlns:a="http://schemas.openxmlformats.org/drawingml/2006/main">
            <a:pPr>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69785366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05</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defRPr sz="2400">
                <a:solidFill>
                  <a:srgbClr val="2A2A2A"/>
                </a:solidFill>
                <a:latin typeface="Instrument Sans"/>
                <a:ea typeface="Instrument Sans"/>
                <a:cs typeface="Instrument Sans"/>
              </a:defRPr>
            </a:lvl1pPr>
            <a:lvl2pPr>
              <a:defRPr sz="2400">
                <a:solidFill>
                  <a:srgbClr val="2A2A2A"/>
                </a:solidFill>
                <a:latin typeface="Instrument Sans"/>
                <a:ea typeface="Instrument Sans"/>
                <a:cs typeface="Instrument Sans"/>
              </a:defRPr>
            </a:lvl2pPr>
            <a:lvl3pPr>
              <a:defRPr sz="2400">
                <a:solidFill>
                  <a:srgbClr val="2A2A2A"/>
                </a:solidFill>
                <a:latin typeface="Instrument Sans"/>
                <a:ea typeface="Instrument Sans"/>
                <a:cs typeface="Instrument Sans"/>
              </a:defRPr>
            </a:lvl3pPr>
            <a:lvl4pPr>
              <a:defRPr sz="2400">
                <a:solidFill>
                  <a:srgbClr val="2A2A2A"/>
                </a:solidFill>
                <a:latin typeface="Instrument Sans"/>
                <a:ea typeface="Instrument Sans"/>
                <a:cs typeface="Instrument Sans"/>
              </a:defRPr>
            </a:lvl4pPr>
            <a:lvl5pPr>
              <a:defRPr sz="2400">
                <a:solidFill>
                  <a:srgbClr val="2A2A2A"/>
                </a:solidFill>
                <a:latin typeface="Instrument Sans"/>
                <a:ea typeface="Instrument Sans"/>
                <a:cs typeface="Instrument Sans"/>
              </a:defRPr>
            </a:lvl5pPr>
            <a:lvl6pPr>
              <a:defRPr sz="2400">
                <a:solidFill>
                  <a:srgbClr val="2A2A2A"/>
                </a:solidFill>
                <a:latin typeface="Instrument Sans"/>
                <a:ea typeface="Instrument Sans"/>
                <a:cs typeface="Instrument Sans"/>
              </a:defRPr>
            </a:lvl6pPr>
            <a:lvl7pPr>
              <a:defRPr sz="2400">
                <a:solidFill>
                  <a:srgbClr val="2A2A2A"/>
                </a:solidFill>
                <a:latin typeface="Instrument Sans"/>
                <a:ea typeface="Instrument Sans"/>
                <a:cs typeface="Instrument Sans"/>
              </a:defRPr>
            </a:lvl7pPr>
            <a:lvl8pPr>
              <a:defRPr sz="2400">
                <a:solidFill>
                  <a:srgbClr val="2A2A2A"/>
                </a:solidFill>
                <a:latin typeface="Instrument Sans"/>
                <a:ea typeface="Instrument Sans"/>
                <a:cs typeface="Instrument Sans"/>
              </a:defRPr>
            </a:lvl8pPr>
            <a:lvl9pPr>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empiro.io and gleamit.io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Hackathon role: idea, implementation and MVP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AI support: ChatGPT planning and Codex engineering.</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C4C18334-153E-40F6-A08A-86917CCBD10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f4f8f41d9342d1">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defRPr sz="1400">
                <a:solidFill>
                  <a:srgbClr val="5C5C5C"/>
                </a:solidFill>
                <a:latin typeface="JetBrains Mono"/>
                <a:ea typeface="JetBrains Mono"/>
                <a:cs typeface="JetBrains Mono"/>
              </a:defRPr>
            </a:lvl1pPr>
            <a:lvl2pPr>
              <a:defRPr sz="1400">
                <a:solidFill>
                  <a:srgbClr val="5C5C5C"/>
                </a:solidFill>
                <a:latin typeface="JetBrains Mono"/>
                <a:ea typeface="JetBrains Mono"/>
                <a:cs typeface="JetBrains Mono"/>
              </a:defRPr>
            </a:lvl2pPr>
            <a:lvl3pPr>
              <a:defRPr sz="1400">
                <a:solidFill>
                  <a:srgbClr val="5C5C5C"/>
                </a:solidFill>
                <a:latin typeface="JetBrains Mono"/>
                <a:ea typeface="JetBrains Mono"/>
                <a:cs typeface="JetBrains Mono"/>
              </a:defRPr>
            </a:lvl3pPr>
            <a:lvl4pPr>
              <a:defRPr sz="1400">
                <a:solidFill>
                  <a:srgbClr val="5C5C5C"/>
                </a:solidFill>
                <a:latin typeface="JetBrains Mono"/>
                <a:ea typeface="JetBrains Mono"/>
                <a:cs typeface="JetBrains Mono"/>
              </a:defRPr>
            </a:lvl4pPr>
            <a:lvl5pPr>
              <a:defRPr sz="1400">
                <a:solidFill>
                  <a:srgbClr val="5C5C5C"/>
                </a:solidFill>
                <a:latin typeface="JetBrains Mono"/>
                <a:ea typeface="JetBrains Mono"/>
                <a:cs typeface="JetBrains Mono"/>
              </a:defRPr>
            </a:lvl5pPr>
            <a:lvl6pPr>
              <a:defRPr sz="1400">
                <a:solidFill>
                  <a:srgbClr val="5C5C5C"/>
                </a:solidFill>
                <a:latin typeface="JetBrains Mono"/>
                <a:ea typeface="JetBrains Mono"/>
                <a:cs typeface="JetBrains Mono"/>
              </a:defRPr>
            </a:lvl6pPr>
            <a:lvl7pPr>
              <a:defRPr sz="1400">
                <a:solidFill>
                  <a:srgbClr val="5C5C5C"/>
                </a:solidFill>
                <a:latin typeface="JetBrains Mono"/>
                <a:ea typeface="JetBrains Mono"/>
                <a:cs typeface="JetBrains Mono"/>
              </a:defRPr>
            </a:lvl7pPr>
            <a:lvl8pPr>
              <a:defRPr sz="1400">
                <a:solidFill>
                  <a:srgbClr val="5C5C5C"/>
                </a:solidFill>
                <a:latin typeface="JetBrains Mono"/>
                <a:ea typeface="JetBrains Mono"/>
                <a:cs typeface="JetBrains Mono"/>
              </a:defRPr>
            </a:lvl8pPr>
            <a:lvl9pPr>
              <a:defRPr sz="1400">
                <a:solidFill>
                  <a:srgbClr val="5C5C5C"/>
                </a:solidFill>
                <a:latin typeface="JetBrains Mono"/>
                <a:ea typeface="JetBrains Mono"/>
                <a:cs typeface="JetBrains Mono"/>
              </a:defRPr>
            </a:lvl9pPr>
          </a:lstStyle>
          <a:p xmlns:a="http://schemas.openxmlformats.org/drawingml/2006/main">
            <a:pPr>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2026-10-25T22:46:45.3730000Z</dcterms:created>
  <dcterms:modified xsi:type="dcterms:W3CDTF">2026-10-25T22:46:45.3740000Z</dcterms:modified>
</coreProperties>
</file>