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6fb233e674439d" /><Relationship Type="http://schemas.openxmlformats.org/officeDocument/2006/relationships/extended-properties" Target="/docProps/app.xml" Id="R4c30bfd453da4af1" /><Relationship Type="http://schemas.openxmlformats.org/officeDocument/2006/relationships/officeDocument" Target="/ppt/presentation.xml" Id="R67db6ae715534e1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1b3da8d6f2d467b"/>
  </p:sldMasterIdLst>
  <p:notesMasterIdLst>
    <p:notesMasterId xmlns:r="http://schemas.openxmlformats.org/officeDocument/2006/relationships" r:id="R8a14170847374f95"/>
  </p:notesMasterIdLst>
  <p:sldIdLst>
    <p:sldId xmlns:r="http://schemas.openxmlformats.org/officeDocument/2006/relationships" id="256" r:id="R2bf4261d161d4908"/>
    <p:sldId xmlns:r="http://schemas.openxmlformats.org/officeDocument/2006/relationships" id="257" r:id="R5c7a922bee464754"/>
    <p:sldId xmlns:r="http://schemas.openxmlformats.org/officeDocument/2006/relationships" id="258" r:id="Rc7041861254448f5"/>
    <p:sldId xmlns:r="http://schemas.openxmlformats.org/officeDocument/2006/relationships" id="259" r:id="R0b9642136a9c439d"/>
    <p:sldId xmlns:r="http://schemas.openxmlformats.org/officeDocument/2006/relationships" id="260" r:id="Ref8e75bdbf3b426e"/>
    <p:sldId xmlns:r="http://schemas.openxmlformats.org/officeDocument/2006/relationships" id="261" r:id="Redd5cf45cfcb4ae5"/>
  </p:sldIdLst>
  <p:sldSz cx="18288000" cy="10287000"/>
  <p:notesSz cx="6858000" cy="9144000"/>
  <p:embeddedFontLst>
    <p:embeddedFont>
      <p:font typeface="Instrument Sans"/>
      <p:regular xmlns:r="http://schemas.openxmlformats.org/officeDocument/2006/relationships" r:id="Rf18b5ef63a44494e"/>
      <p:bold xmlns:r="http://schemas.openxmlformats.org/officeDocument/2006/relationships" r:id="R947b0e4a5e2143d1"/>
      <p:italic xmlns:r="http://schemas.openxmlformats.org/officeDocument/2006/relationships" r:id="Rbed5ebec05004148"/>
      <p:boldItalic xmlns:r="http://schemas.openxmlformats.org/officeDocument/2006/relationships" r:id="Rbf0080f7e4b3424f"/>
    </p:embeddedFont>
    <p:embeddedFont>
      <p:font typeface="Inter Tight"/>
      <p:regular xmlns:r="http://schemas.openxmlformats.org/officeDocument/2006/relationships" r:id="R2d621c98e372490a"/>
      <p:bold xmlns:r="http://schemas.openxmlformats.org/officeDocument/2006/relationships" r:id="Rbf6b7119d6534f30"/>
      <p:italic xmlns:r="http://schemas.openxmlformats.org/officeDocument/2006/relationships" r:id="R5311b1f2b09f4c75"/>
      <p:boldItalic xmlns:r="http://schemas.openxmlformats.org/officeDocument/2006/relationships" r:id="R4b746164be45444f"/>
    </p:embeddedFont>
    <p:embeddedFont>
      <p:font typeface="JetBrains Mono"/>
      <p:regular xmlns:r="http://schemas.openxmlformats.org/officeDocument/2006/relationships" r:id="R5c8e9a02c2e64768"/>
      <p:bold xmlns:r="http://schemas.openxmlformats.org/officeDocument/2006/relationships" r:id="Rb9717fa6e7ff43ab"/>
      <p:italic xmlns:r="http://schemas.openxmlformats.org/officeDocument/2006/relationships" r:id="Rd9238e364c2e404a"/>
      <p:boldItalic xmlns:r="http://schemas.openxmlformats.org/officeDocument/2006/relationships" r:id="R3192dbabaa1b49b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73686014e36d4907" /><Relationship Type="http://schemas.openxmlformats.org/officeDocument/2006/relationships/slideMaster" Target="/ppt/slideMasters/slideMaster1.xml" Id="R51b3da8d6f2d467b" /><Relationship Type="http://schemas.openxmlformats.org/officeDocument/2006/relationships/notesMaster" Target="/ppt/notesMasters/notesMaster1.xml" Id="R8a14170847374f95" /><Relationship Type="http://schemas.openxmlformats.org/officeDocument/2006/relationships/presProps" Target="/ppt/presProps.xml" Id="R0a7acf6657c14523" /><Relationship Type="http://schemas.openxmlformats.org/officeDocument/2006/relationships/viewProps" Target="/ppt/viewProps.xml" Id="R0246b904af704a9d" /><Relationship Type="http://schemas.openxmlformats.org/officeDocument/2006/relationships/tableStyles" Target="/ppt/tableStyles.xml" Id="Rfc00f8ce8a8344a8" /><Relationship Type="http://schemas.openxmlformats.org/officeDocument/2006/relationships/font" Target="/ppt/fonts/font.dat" Id="Rf18b5ef63a44494e" /><Relationship Type="http://schemas.openxmlformats.org/officeDocument/2006/relationships/font" Target="/ppt/fonts/font2.dat" Id="R947b0e4a5e2143d1" /><Relationship Type="http://schemas.openxmlformats.org/officeDocument/2006/relationships/font" Target="/ppt/fonts/font3.dat" Id="Rbed5ebec05004148" /><Relationship Type="http://schemas.openxmlformats.org/officeDocument/2006/relationships/font" Target="/ppt/fonts/font4.dat" Id="Rbf0080f7e4b3424f" /><Relationship Type="http://schemas.openxmlformats.org/officeDocument/2006/relationships/font" Target="/ppt/fonts/font5.dat" Id="R2d621c98e372490a" /><Relationship Type="http://schemas.openxmlformats.org/officeDocument/2006/relationships/font" Target="/ppt/fonts/font6.dat" Id="Rbf6b7119d6534f30" /><Relationship Type="http://schemas.openxmlformats.org/officeDocument/2006/relationships/font" Target="/ppt/fonts/font7.dat" Id="R5311b1f2b09f4c75" /><Relationship Type="http://schemas.openxmlformats.org/officeDocument/2006/relationships/font" Target="/ppt/fonts/font8.dat" Id="R4b746164be45444f" /><Relationship Type="http://schemas.openxmlformats.org/officeDocument/2006/relationships/font" Target="/ppt/fonts/font9.dat" Id="R5c8e9a02c2e64768" /><Relationship Type="http://schemas.openxmlformats.org/officeDocument/2006/relationships/font" Target="/ppt/fonts/font10.dat" Id="Rb9717fa6e7ff43ab" /><Relationship Type="http://schemas.openxmlformats.org/officeDocument/2006/relationships/font" Target="/ppt/fonts/font11.dat" Id="Rd9238e364c2e404a" /><Relationship Type="http://schemas.openxmlformats.org/officeDocument/2006/relationships/font" Target="/ppt/fonts/font12.dat" Id="R3192dbabaa1b49b4" /><Relationship Type="http://schemas.openxmlformats.org/officeDocument/2006/relationships/slide" Target="/ppt/slides/slide1.xml" Id="R2bf4261d161d4908" /><Relationship Type="http://schemas.openxmlformats.org/officeDocument/2006/relationships/slide" Target="/ppt/slides/slide2.xml" Id="R5c7a922bee464754" /><Relationship Type="http://schemas.openxmlformats.org/officeDocument/2006/relationships/slide" Target="/ppt/slides/slide3.xml" Id="Rc7041861254448f5" /><Relationship Type="http://schemas.openxmlformats.org/officeDocument/2006/relationships/slide" Target="/ppt/slides/slide4.xml" Id="R0b9642136a9c439d" /><Relationship Type="http://schemas.openxmlformats.org/officeDocument/2006/relationships/slide" Target="/ppt/slides/slide5.xml" Id="Ref8e75bdbf3b426e" /><Relationship Type="http://schemas.openxmlformats.org/officeDocument/2006/relationships/slide" Target="/ppt/slides/slide6.xml" Id="Redd5cf45cfcb4a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e23ff2945b4a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7a6a9643ea4da6" /><Relationship Type="http://schemas.openxmlformats.org/officeDocument/2006/relationships/notesMaster" Target="/ppt/notesMasters/notesMaster1.xml" Id="R8d510b312b9240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b63f9cda2747ed" /><Relationship Type="http://schemas.openxmlformats.org/officeDocument/2006/relationships/notesMaster" Target="/ppt/notesMasters/notesMaster1.xml" Id="R75ac9cd8f90c4f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2f57cff6814c87" /><Relationship Type="http://schemas.openxmlformats.org/officeDocument/2006/relationships/notesMaster" Target="/ppt/notesMasters/notesMaster1.xml" Id="Rffa617f9ca2d4e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03194ac6ab4cca" /><Relationship Type="http://schemas.openxmlformats.org/officeDocument/2006/relationships/notesMaster" Target="/ppt/notesMasters/notesMaster1.xml" Id="R448a0cd7f0e84e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8ce12c6daa4ca5" /><Relationship Type="http://schemas.openxmlformats.org/officeDocument/2006/relationships/notesMaster" Target="/ppt/notesMasters/notesMaster1.xml" Id="R674cbddfcffb4b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b70927432b4a2d" /><Relationship Type="http://schemas.openxmlformats.org/officeDocument/2006/relationships/notesMaster" Target="/ppt/notesMasters/notesMaster1.xml" Id="R39c2f66463454d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Deal Passport is EasyAI's solo HackMeridian project by Oleksiy Onishchenko. The full product remains an MVP target. Buyer ZK verification is now implemented and verified on Stellar Testnet. Property attestation, mutual disclosure, the backend, interface and demo video remain to build. All financial/property data is synthetic.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Deal_Passport_HackMeridian_Build_Spec.md; docs/evidence/gate-a.json; docs/evidence/gate-b.json; the user-provided team details and organizer's template.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Prior work: Oleksiy confirms no pre-event Deal Passport code, designs or assets and no Empiro reuse. Standard third-party cryptographic tools and the official educational verifier are attributed in docs/THIRD_PARTY.md.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seller requires €750,000. A synthetic financial attestor certifies a €900,000 eligible balance bound to the buyer's secret. The buyer proves only that the certified balance reaches the deal threshold. A synthetic property reviewer authenticates AUTHORIZED_TO_MARKET for the specific property/deal commitment. The property claim is an authenticated attestation, not a second zero-knowledge ownership proof. Both qualification checks and both parties' consent are necessary before the backend releases the synthetic dossier. The judge should see a real verification transaction and can switch to the €400,000 buyer to see rejection. These are target outcomes pending implementation.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public ledger still exposes the transaction submitter and public statement. The circuit hides the certified balance. No real bank or registry verification is claimed, and qualification does not guarantee financing or legal title.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Deal_Passport_HackMeridian_Build_Spec.md, sections 1, 3, 4 and 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Verified update, 25 October 2026: the issuer-bound €900k proof qualified on Stellar Testnet. A real €400k issuer-member and an expired credential failed witness generation. Seller qualification and mutual dossier disclosure remain planned. See docs/evidence/gate-b.json.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initial customer is an off-market platform or licensed real-estate intermediary that repeatedly qualifies counterparties before sharing sensitive property evidence. The product hypothesis is that reusable credentials and mutual disclosure can reduce repeated document requests. Price hypothesis: €89 per month or per-verification fees. There is no claim of validated demand, paying customers, secured pilots, achieved revenue or measured savings.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Portugal recorded 169,812 completed home sales totaling €41.2 billion in 2025. This describes all home sales and is market context, not the addressable market or a forecast. Source: Direção Geral de Economia, reporting INE, 24 March 2026: https://estatistica.dgeconomia.gov.pt/indice-de-precos-da-habitacao-ine-18/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Next: test acceptance with a Portuguese licensed broker, compare repeated document requests and qualification time, then evaluate qualified financial and property issuers. Empiro is a possible future integration context. No Empiro integration or partnership is claimed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Step 02 continuation. These are adjacent competitors and existing specialized services, not evidence that Deal Passport has product-market fit.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RealOpen documents a crypto proof-of-funds workflow and a letter that shows the verified dollar balance. Deal Passport's proposed addition is an issuer-backed threshold proof that hides the exact balance. Source: https://realopen.com/get-started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IntegraLayer describes an onchain Asset Passport enriched with property data and verified by attestors including lawyers, valuers and inspectors. Deal Passport applies a specific authority claim to mutual qualification for one deal. Source: https://integralayer.com/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MERKAO offers investor/seller verification, proof-of-funds checks, NDAs and confidential data rooms. It reports 250+ verified professionals. This is a company-reported network metric, not audited usage, revenue or an addressable-market estimate. Source: https://www.merkao.io/ (accessed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Inference: existing offerings and MERKAO's reported network are demand signals for the surrounding verification/confidential-deal category. They do not prove high demand for Deal Passport, willingness to pay €89/month, or a secured customer pipeline.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Novelty claim: the combination of an issuer-bound private buyer threshold, a property-specific seller claim and mutually consented disclosure under the same deal policy. This comparison identifies differences from the reviewed published offers. It does not establish worldwide uniqueness or the absence of equivalent competitor features. The buyer circuit and Testnet enforcement now work; seller attestation and the consent/dossier workflow remain to 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proposed React/TypeScript demo uses a Cloudflare Worker and D1 for offchain sessions and disclosure state. An authorized financial issuer publishes the credential root through authenticated Soroban calls. Circom/snarkjs proves a range-checked balance threshold, issuer-root membership and credential expiry, plus a nullifier derived inside the circuit from the holder secret and deal ID. DealGate validates the stored threshold, deal, accepted issuer/root and current time against chain state. The contract authenticates the property issuer and its specific claim. The Worker independently reads current chain qualification before serving the dossier and requires authenticated mutual consent. Proof generation should run in the browser where feasible, or in a separately provisioned synthetic-only prover runtime.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Required tests: €900k valid buyer qualifies; €400k fails; fabricated balance outside the trusted root fails; changed deal/threshold/root fails; expired or revoked credentials fail; unauthorized property issuer fails; nullifier replay fails; direct dossier access before consent fails. Buyer proof and policy checks are now verified as recorded below. Seller/backend checks remain targets. Testnet contract IDs and transaction hashes will be recorded in the README after deployment. No invented identifiers or performance measurements appear here.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Reuse: official educational, unaudited Groth16 verifier example https://github.com/stellar/soroban-examples/tree/main/groth16_verifier and standard Circom/snarkjs components, subject to implementation validation and license attribution. Native Stellar primitives: https://developers.stellar.org/docs/build/apps/zk. ACTA and Reclaim remain optional future integrations and are not claimed as implemented.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Observed results on 25 October 2026: Gate A and Gate B passed, with seven local tests and actual Testnet verification. The buyer gate enforces the pinned key, authorized issuer root, exact stored threshold, current ledger epoch, receiving account and used nullifier. Replay and fresh randomized replay fail. Revocation invalidates a fresh eligibility read. Qualification receipt: https://stellar.expert/explorer/testnet/tx/623f433fe8fe01c94ab242b70ada08ac0725378eda1658c7974ebecffd2f0936. These results cover buyer verification only. The Worker, seller claim, consent and dossier serving still need implementation. The setup is single-party demo-only and the educational verifier remains unaudited.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EasyAI. Participant: Oleksiy Onishchenko, solo builder. Owns concept, architecture, implementation and demo, with human review and submission. The implementation/demo responsibilities describe the planned complete MVP and are not evidence that it is already built.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CV summary: 25+ years in software and 20 years leading teams. Sole engineer for two production marketplaces, empiro.io and gleamit.io, launched within two months. Former Engineering Manager at 3Commas, leading three product teams and contributing directly to backend code. Former R&amp;D Engineering Director at OpenCascade within Capgemini Engineering. Experience spans TypeScript/React, backend services, cloud infrastructure, security and AI-assisted product delivery. The CV also records three hackathon wins in 2026, including the Cloudflare challenge at Agents Day. These are CV-supplied statements, not independently audited claims. No claim of prior professional ZK expertise is made.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user-provided team details and Oleksiy_Onishchenko_AI_EM_CV.pdf in the project folder. Contact details from the CV are omitted from the deck. AI disclosure: ChatGPT supported idea research and specification; Codex supports repository work, technical implementation, verification and submission drafting. The final disclosure must match the tools actually used when the MVP is complete.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68ae6b001647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02a8b3f9ba4f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a82b933ee544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3221f3f7eb40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adcdc1457341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09da11b14d47d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37ee26d61d44c0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ecd4bd209e54c6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1509e69265f4f3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279877cdef426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c00110ddaea42f2"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2">
            <a:extLst xmlns:a="http://schemas.openxmlformats.org/drawingml/2006/main">
              <a:ext uri="{FF2B5EF4-FFF2-40B4-BE49-F238E27FC236}">
                <a16:creationId xmlns:a16="http://schemas.microsoft.com/office/drawing/2014/main" id="{FAB1C9E6-EAF3-42B7-8CE3-19126ADDA28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83BE4A12-1411-4A7B-9D53-D62A7106521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6D7184D7-D0BE-43B6-9337-03B0F6E4BFD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5151DFDD-648D-4FB3-9FAD-B750F0B5CB13}"/>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17" name="Google Shape;17;p3">
            <a:extLst xmlns:a="http://schemas.openxmlformats.org/drawingml/2006/main">
              <a:ext uri="{FF2B5EF4-FFF2-40B4-BE49-F238E27FC236}">
                <a16:creationId xmlns:a16="http://schemas.microsoft.com/office/drawing/2014/main" id="{2400551B-EA0C-45E9-87AF-A2CD5117E132}"/>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18" name="Google Shape;18;p3">
            <a:extLst xmlns:a="http://schemas.openxmlformats.org/drawingml/2006/main">
              <a:ext uri="{FF2B5EF4-FFF2-40B4-BE49-F238E27FC236}">
                <a16:creationId xmlns:a16="http://schemas.microsoft.com/office/drawing/2014/main" id="{4DDEBFF5-5D1B-4DAA-8B3F-B0C49C71C1C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A28D2F6D-06F0-4FB3-8B8B-B2DBB3DAB1F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86F7382E-6234-4FDC-85A5-A0F785A75B0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4">
            <a:extLst xmlns:a="http://schemas.openxmlformats.org/drawingml/2006/main">
              <a:ext uri="{FF2B5EF4-FFF2-40B4-BE49-F238E27FC236}">
                <a16:creationId xmlns:a16="http://schemas.microsoft.com/office/drawing/2014/main" id="{A755824B-8A62-4508-9243-AE27C713503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3" name="Google Shape;23;p4">
            <a:extLst xmlns:a="http://schemas.openxmlformats.org/drawingml/2006/main">
              <a:ext uri="{FF2B5EF4-FFF2-40B4-BE49-F238E27FC236}">
                <a16:creationId xmlns:a16="http://schemas.microsoft.com/office/drawing/2014/main" id="{10A3277B-EB1C-4377-B3F1-9B61CEF866E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24" name="Google Shape;24;p4">
            <a:extLst xmlns:a="http://schemas.openxmlformats.org/drawingml/2006/main">
              <a:ext uri="{FF2B5EF4-FFF2-40B4-BE49-F238E27FC236}">
                <a16:creationId xmlns:a16="http://schemas.microsoft.com/office/drawing/2014/main" id="{3F1A3FBA-2851-4ACE-BB59-9EAAA6AC3C5F}"/>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D27003D8-9F63-4526-B6E4-220E5F1E0A8F}"/>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26" name="Google Shape;26;p4">
            <a:extLst xmlns:a="http://schemas.openxmlformats.org/drawingml/2006/main">
              <a:ext uri="{FF2B5EF4-FFF2-40B4-BE49-F238E27FC236}">
                <a16:creationId xmlns:a16="http://schemas.microsoft.com/office/drawing/2014/main" id="{65DB427C-41ED-40A5-BC78-0D264401DDA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E53ABB68-2D17-4E10-9E39-F02FE21A6580}"/>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Inter Tight"/>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29" name="Google Shape;29;p5">
            <a:extLst xmlns:a="http://schemas.openxmlformats.org/drawingml/2006/main">
              <a:ext uri="{FF2B5EF4-FFF2-40B4-BE49-F238E27FC236}">
                <a16:creationId xmlns:a16="http://schemas.microsoft.com/office/drawing/2014/main" id="{4E33EF72-B88F-4861-A262-81F210AA71CA}"/>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431CEC96-1B02-47ED-8B19-77436B6A8A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892742AF-E853-48ED-AF12-0F54322E251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590268D2-B211-4BCF-A1E8-23CEDDD297B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
            <a:extLst xmlns:a="http://schemas.openxmlformats.org/drawingml/2006/main">
              <a:ext uri="{FF2B5EF4-FFF2-40B4-BE49-F238E27FC236}">
                <a16:creationId xmlns:a16="http://schemas.microsoft.com/office/drawing/2014/main" id="{44FAEA67-418F-492C-9603-E2D8CC580DB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35" name="Google Shape;35;p6">
            <a:extLst xmlns:a="http://schemas.openxmlformats.org/drawingml/2006/main">
              <a:ext uri="{FF2B5EF4-FFF2-40B4-BE49-F238E27FC236}">
                <a16:creationId xmlns:a16="http://schemas.microsoft.com/office/drawing/2014/main" id="{E9A0D0D2-BA62-4DE8-945A-45F7B2B2B3F9}"/>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B3F910-901A-483A-B710-0622AC026BD2}"/>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p:txBody>
      </p:sp>
      <p:sp>
        <p:nvSpPr>
          <p:cNvPr id="37" name="Google Shape;37;p6">
            <a:extLst xmlns:a="http://schemas.openxmlformats.org/drawingml/2006/main">
              <a:ext uri="{FF2B5EF4-FFF2-40B4-BE49-F238E27FC236}">
                <a16:creationId xmlns:a16="http://schemas.microsoft.com/office/drawing/2014/main" id="{10AF601B-A63E-4A0A-8B2A-4A6EF3077F4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8" name="Google Shape;38;p6">
            <a:extLst xmlns:a="http://schemas.openxmlformats.org/drawingml/2006/main">
              <a:ext uri="{FF2B5EF4-FFF2-40B4-BE49-F238E27FC236}">
                <a16:creationId xmlns:a16="http://schemas.microsoft.com/office/drawing/2014/main" id="{E8F691D6-C7B8-40A9-A3BC-F94BF1E6B203}"/>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BA6F00BB-6F08-4E9A-9C05-20C0E153361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
            <a:extLst xmlns:a="http://schemas.openxmlformats.org/drawingml/2006/main">
              <a:ext uri="{FF2B5EF4-FFF2-40B4-BE49-F238E27FC236}">
                <a16:creationId xmlns:a16="http://schemas.microsoft.com/office/drawing/2014/main" id="{FFDF2C49-4F46-4D5D-ACE0-9D293FDFAA7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Inter Tight"/>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16659FC5-1390-4A5A-BDCA-6C589BBF12B3}"/>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3" name="Google Shape;43;p7">
            <a:extLst xmlns:a="http://schemas.openxmlformats.org/drawingml/2006/main">
              <a:ext uri="{FF2B5EF4-FFF2-40B4-BE49-F238E27FC236}">
                <a16:creationId xmlns:a16="http://schemas.microsoft.com/office/drawing/2014/main" id="{7D2112C1-0045-4F3C-8782-587BC5140A80}"/>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4" name="Google Shape;44;p7">
            <a:extLst xmlns:a="http://schemas.openxmlformats.org/drawingml/2006/main">
              <a:ext uri="{FF2B5EF4-FFF2-40B4-BE49-F238E27FC236}">
                <a16:creationId xmlns:a16="http://schemas.microsoft.com/office/drawing/2014/main" id="{546F0901-C4EC-4AE0-A744-F9D43AB8EF53}"/>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p:txBody>
      </p:sp>
      <p:sp>
        <p:nvSpPr>
          <p:cNvPr id="45" name="Google Shape;45;p7">
            <a:extLst xmlns:a="http://schemas.openxmlformats.org/drawingml/2006/main">
              <a:ext uri="{FF2B5EF4-FFF2-40B4-BE49-F238E27FC236}">
                <a16:creationId xmlns:a16="http://schemas.microsoft.com/office/drawing/2014/main" id="{82E8F8A7-6998-40E0-9FA1-EEBF685DC2B7}"/>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94F356AF-D23E-4621-8901-1FE6D95E280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D3F7C2AD-532C-45AE-BB35-43C185884AC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EB5238F5-4DF4-4AF7-9A75-6DCB5162F34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8">
            <a:extLst xmlns:a="http://schemas.openxmlformats.org/drawingml/2006/main">
              <a:ext uri="{FF2B5EF4-FFF2-40B4-BE49-F238E27FC236}">
                <a16:creationId xmlns:a16="http://schemas.microsoft.com/office/drawing/2014/main" id="{92C28437-1D30-48C9-8BC2-9F6C501B53EC}"/>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1" name="Google Shape;51;p8">
            <a:extLst xmlns:a="http://schemas.openxmlformats.org/drawingml/2006/main">
              <a:ext uri="{FF2B5EF4-FFF2-40B4-BE49-F238E27FC236}">
                <a16:creationId xmlns:a16="http://schemas.microsoft.com/office/drawing/2014/main" id="{1CE09AA8-E4E1-4827-BCA2-B2499577974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2" name="Google Shape;52;p8">
            <a:extLst xmlns:a="http://schemas.openxmlformats.org/drawingml/2006/main">
              <a:ext uri="{FF2B5EF4-FFF2-40B4-BE49-F238E27FC236}">
                <a16:creationId xmlns:a16="http://schemas.microsoft.com/office/drawing/2014/main" id="{3C0147E1-BAD9-4D67-9D96-4D125C2CCE0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3" name="Google Shape;53;p8">
            <a:extLst xmlns:a="http://schemas.openxmlformats.org/drawingml/2006/main">
              <a:ext uri="{FF2B5EF4-FFF2-40B4-BE49-F238E27FC236}">
                <a16:creationId xmlns:a16="http://schemas.microsoft.com/office/drawing/2014/main" id="{8759686E-060B-471D-887A-980F7BF2816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9">
            <a:extLst xmlns:a="http://schemas.openxmlformats.org/drawingml/2006/main">
              <a:ext uri="{FF2B5EF4-FFF2-40B4-BE49-F238E27FC236}">
                <a16:creationId xmlns:a16="http://schemas.microsoft.com/office/drawing/2014/main" id="{3D869978-DBA1-42BE-9A03-CE729F347436}"/>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56" name="Google Shape;56;p9">
            <a:extLst xmlns:a="http://schemas.openxmlformats.org/drawingml/2006/main">
              <a:ext uri="{FF2B5EF4-FFF2-40B4-BE49-F238E27FC236}">
                <a16:creationId xmlns:a16="http://schemas.microsoft.com/office/drawing/2014/main" id="{248C71BB-7A44-44F1-8B11-7978B99C10FB}"/>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p:txBody>
      </p:sp>
      <p:sp>
        <p:nvSpPr>
          <p:cNvPr id="57" name="Google Shape;57;p9">
            <a:extLst xmlns:a="http://schemas.openxmlformats.org/drawingml/2006/main">
              <a:ext uri="{FF2B5EF4-FFF2-40B4-BE49-F238E27FC236}">
                <a16:creationId xmlns:a16="http://schemas.microsoft.com/office/drawing/2014/main" id="{7F0E0C35-3790-4302-8C20-0F00ABFFB8EC}"/>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58" name="Google Shape;58;p9">
            <a:extLst xmlns:a="http://schemas.openxmlformats.org/drawingml/2006/main">
              <a:ext uri="{FF2B5EF4-FFF2-40B4-BE49-F238E27FC236}">
                <a16:creationId xmlns:a16="http://schemas.microsoft.com/office/drawing/2014/main" id="{A61968C2-27B0-4746-9863-A5F5061512FA}"/>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59" name="Google Shape;59;p9">
            <a:extLst xmlns:a="http://schemas.openxmlformats.org/drawingml/2006/main">
              <a:ext uri="{FF2B5EF4-FFF2-40B4-BE49-F238E27FC236}">
                <a16:creationId xmlns:a16="http://schemas.microsoft.com/office/drawing/2014/main" id="{EAE280C4-94E5-4BFD-BDB0-88D0C1C9F1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73E9B84A-D175-4F68-94D5-3FAC36C4E68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10">
            <a:extLst xmlns:a="http://schemas.openxmlformats.org/drawingml/2006/main">
              <a:ext uri="{FF2B5EF4-FFF2-40B4-BE49-F238E27FC236}">
                <a16:creationId xmlns:a16="http://schemas.microsoft.com/office/drawing/2014/main" id="{A1682383-EFDD-42AC-B584-45F2E86160EE}"/>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Inter Tight"/>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63" name="Google Shape;63;p10">
            <a:extLst xmlns:a="http://schemas.openxmlformats.org/drawingml/2006/main">
              <a:ext uri="{FF2B5EF4-FFF2-40B4-BE49-F238E27FC236}">
                <a16:creationId xmlns:a16="http://schemas.microsoft.com/office/drawing/2014/main" id="{FD675D06-9C9C-4041-AD99-2FC4BE0BDDC2}"/>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4" name="Google Shape;64;p10">
            <a:extLst xmlns:a="http://schemas.openxmlformats.org/drawingml/2006/main">
              <a:ext uri="{FF2B5EF4-FFF2-40B4-BE49-F238E27FC236}">
                <a16:creationId xmlns:a16="http://schemas.microsoft.com/office/drawing/2014/main" id="{198868C8-F80C-4F2A-B32E-82770F701F0C}"/>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p:txBody>
      </p:sp>
      <p:sp>
        <p:nvSpPr>
          <p:cNvPr id="65" name="Google Shape;65;p10">
            <a:extLst xmlns:a="http://schemas.openxmlformats.org/drawingml/2006/main">
              <a:ext uri="{FF2B5EF4-FFF2-40B4-BE49-F238E27FC236}">
                <a16:creationId xmlns:a16="http://schemas.microsoft.com/office/drawing/2014/main" id="{B972EE1A-E05E-4DE8-AFCF-2980530B625D}"/>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6" name="Google Shape;66;p10">
            <a:extLst xmlns:a="http://schemas.openxmlformats.org/drawingml/2006/main">
              <a:ext uri="{FF2B5EF4-FFF2-40B4-BE49-F238E27FC236}">
                <a16:creationId xmlns:a16="http://schemas.microsoft.com/office/drawing/2014/main" id="{7339ADDE-C324-40AA-9524-F587EDCE509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DAF0CD51-6964-4FEE-BBA6-9915C34D994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11">
            <a:extLst xmlns:a="http://schemas.openxmlformats.org/drawingml/2006/main">
              <a:ext uri="{FF2B5EF4-FFF2-40B4-BE49-F238E27FC236}">
                <a16:creationId xmlns:a16="http://schemas.microsoft.com/office/drawing/2014/main" id="{A79B19EE-6CEC-41D7-B43E-D80C857993E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0" name="Google Shape;70;p11">
            <a:extLst xmlns:a="http://schemas.openxmlformats.org/drawingml/2006/main">
              <a:ext uri="{FF2B5EF4-FFF2-40B4-BE49-F238E27FC236}">
                <a16:creationId xmlns:a16="http://schemas.microsoft.com/office/drawing/2014/main" id="{513CCD56-7CC2-47A3-8187-E9CB1E42FF1A}"/>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1" name="Google Shape;71;p11">
            <a:extLst xmlns:a="http://schemas.openxmlformats.org/drawingml/2006/main">
              <a:ext uri="{FF2B5EF4-FFF2-40B4-BE49-F238E27FC236}">
                <a16:creationId xmlns:a16="http://schemas.microsoft.com/office/drawing/2014/main" id="{A55F2A13-9511-445F-B744-469C8299CF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2" name="Google Shape;72;p11">
            <a:extLst xmlns:a="http://schemas.openxmlformats.org/drawingml/2006/main">
              <a:ext uri="{FF2B5EF4-FFF2-40B4-BE49-F238E27FC236}">
                <a16:creationId xmlns:a16="http://schemas.microsoft.com/office/drawing/2014/main" id="{77489200-9E52-47F1-BA27-19F13DFD269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3" name="Google Shape;73;p11">
            <a:extLst xmlns:a="http://schemas.openxmlformats.org/drawingml/2006/main">
              <a:ext uri="{FF2B5EF4-FFF2-40B4-BE49-F238E27FC236}">
                <a16:creationId xmlns:a16="http://schemas.microsoft.com/office/drawing/2014/main" id="{AAD0B73C-603F-44FD-A18A-EC190509C80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12">
            <a:extLst xmlns:a="http://schemas.openxmlformats.org/drawingml/2006/main">
              <a:ext uri="{FF2B5EF4-FFF2-40B4-BE49-F238E27FC236}">
                <a16:creationId xmlns:a16="http://schemas.microsoft.com/office/drawing/2014/main" id="{A36C35BF-28B4-47BB-9708-C5B366CE1A7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p:txBody>
      </p:sp>
      <p:sp>
        <p:nvSpPr>
          <p:cNvPr id="76" name="Google Shape;76;p12">
            <a:extLst xmlns:a="http://schemas.openxmlformats.org/drawingml/2006/main">
              <a:ext uri="{FF2B5EF4-FFF2-40B4-BE49-F238E27FC236}">
                <a16:creationId xmlns:a16="http://schemas.microsoft.com/office/drawing/2014/main" id="{BBFBA8B1-DE99-4F9B-9124-CDE1F850D874}"/>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p:txBody>
      </p:sp>
      <p:sp>
        <p:nvSpPr>
          <p:cNvPr id="77" name="Google Shape;77;p12">
            <a:extLst xmlns:a="http://schemas.openxmlformats.org/drawingml/2006/main">
              <a:ext uri="{FF2B5EF4-FFF2-40B4-BE49-F238E27FC236}">
                <a16:creationId xmlns:a16="http://schemas.microsoft.com/office/drawing/2014/main" id="{DF9A5E9D-8292-4D57-97B0-619C1FB76F77}"/>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8" name="Google Shape;78;p12">
            <a:extLst xmlns:a="http://schemas.openxmlformats.org/drawingml/2006/main">
              <a:ext uri="{FF2B5EF4-FFF2-40B4-BE49-F238E27FC236}">
                <a16:creationId xmlns:a16="http://schemas.microsoft.com/office/drawing/2014/main" id="{9E34A214-067F-4BB4-B92B-D2E27733E2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p:txBody>
      </p:sp>
      <p:sp>
        <p:nvSpPr>
          <p:cNvPr id="79" name="Google Shape;79;p12">
            <a:extLst xmlns:a="http://schemas.openxmlformats.org/drawingml/2006/main">
              <a:ext uri="{FF2B5EF4-FFF2-40B4-BE49-F238E27FC236}">
                <a16:creationId xmlns:a16="http://schemas.microsoft.com/office/drawing/2014/main" id="{6046D1C2-31BB-48D2-BA1C-2B95DDED3168}"/>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bb2f83b8af4fe9" /><Relationship Type="http://schemas.openxmlformats.org/officeDocument/2006/relationships/slideLayout" Target="/ppt/slideLayouts/slideLayout1.xml" Id="R17f34e87a4ab4c92" /><Relationship Type="http://schemas.openxmlformats.org/officeDocument/2006/relationships/slideLayout" Target="/ppt/slideLayouts/slideLayout2.xml" Id="Re7b1b301d6714a57" /><Relationship Type="http://schemas.openxmlformats.org/officeDocument/2006/relationships/slideLayout" Target="/ppt/slideLayouts/slideLayout3.xml" Id="R724a32546a844781" /><Relationship Type="http://schemas.openxmlformats.org/officeDocument/2006/relationships/slideLayout" Target="/ppt/slideLayouts/slideLayout4.xml" Id="R899431357a07442a" /><Relationship Type="http://schemas.openxmlformats.org/officeDocument/2006/relationships/slideLayout" Target="/ppt/slideLayouts/slideLayout5.xml" Id="Ra46bc2bbc16e43ef" /><Relationship Type="http://schemas.openxmlformats.org/officeDocument/2006/relationships/slideLayout" Target="/ppt/slideLayouts/slideLayout6.xml" Id="Rdaf10ec81b8743f6" /><Relationship Type="http://schemas.openxmlformats.org/officeDocument/2006/relationships/slideLayout" Target="/ppt/slideLayouts/slideLayout7.xml" Id="Rdfe584e4e0cc4ba0" /><Relationship Type="http://schemas.openxmlformats.org/officeDocument/2006/relationships/slideLayout" Target="/ppt/slideLayouts/slideLayout8.xml" Id="Re7cbd816aea3486f" /><Relationship Type="http://schemas.openxmlformats.org/officeDocument/2006/relationships/slideLayout" Target="/ppt/slideLayouts/slideLayout9.xml" Id="Rcc617b7f51544d3b" /><Relationship Type="http://schemas.openxmlformats.org/officeDocument/2006/relationships/slideLayout" Target="/ppt/slideLayouts/slideLayout10.xml" Id="R0e0688777a5948be" /><Relationship Type="http://schemas.openxmlformats.org/officeDocument/2006/relationships/slideLayout" Target="/ppt/slideLayouts/slideLayout11.xml" Id="R4b6a5e1c8b1c473b"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2FBB3DF2-75FD-4031-AF95-1F4D6AA7AB5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Inter Tight"/>
              <a:buNone/>
              <a:defRPr sz="4400" b="0" i="0" u="none" strike="noStrike" cap="none">
                <a:solidFill>
                  <a:schemeClr val="dk1"/>
                </a:solidFill>
                <a:latin typeface="Inter Tight"/>
                <a:ea typeface="Inter Tight"/>
                <a:cs typeface="Inter Tight"/>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4A6C1532-AE6C-4B7E-87DD-0F15FC102F1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strike="noStrike" cap="none">
                <a:solidFill>
                  <a:schemeClr val="dk1"/>
                </a:solidFill>
                <a:latin typeface="Instrument Sans"/>
                <a:ea typeface="Instrument Sans"/>
                <a:cs typeface="Instrument Sans"/>
              </a:defRPr>
            </a:lvl1pPr>
            <a:lvl2pPr marL="914400" marR="0" indent="-406400" algn="l">
              <a:spcBef>
                <a:spcPts val="560"/>
              </a:spcBef>
              <a:spcAft>
                <a:spcPts val="0"/>
              </a:spcAft>
              <a:buClr>
                <a:schemeClr val="dk1"/>
              </a:buClr>
              <a:buSzPts val="2800"/>
              <a:buFont typeface="Arial"/>
              <a:buChar char="–"/>
              <a:defRPr sz="2800" b="0" i="0" u="none" strike="noStrike" cap="none">
                <a:solidFill>
                  <a:schemeClr val="dk1"/>
                </a:solidFill>
                <a:latin typeface="Instrument Sans"/>
                <a:ea typeface="Instrument Sans"/>
                <a:cs typeface="Instrument Sans"/>
              </a:defRPr>
            </a:lvl2pPr>
            <a:lvl3pPr marL="1371600" marR="0" indent="-381000" algn="l">
              <a:spcBef>
                <a:spcPts val="480"/>
              </a:spcBef>
              <a:spcAft>
                <a:spcPts val="0"/>
              </a:spcAft>
              <a:buClr>
                <a:schemeClr val="dk1"/>
              </a:buClr>
              <a:buSzPts val="2400"/>
              <a:buFont typeface="Arial"/>
              <a:buChar char="•"/>
              <a:defRPr sz="2400" b="0" i="0" u="none" strike="noStrike" cap="none">
                <a:solidFill>
                  <a:schemeClr val="dk1"/>
                </a:solidFill>
                <a:latin typeface="Instrument Sans"/>
                <a:ea typeface="Instrument Sans"/>
                <a:cs typeface="Instrument Sans"/>
              </a:defRPr>
            </a:lvl3pPr>
            <a:lvl4pPr marL="1828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4pPr>
            <a:lvl5pPr marL="22860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5pPr>
            <a:lvl6pPr marL="27432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6pPr>
            <a:lvl7pPr marL="32004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7pPr>
            <a:lvl8pPr marL="36576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8pPr>
            <a:lvl9pPr marL="4114800" marR="0" indent="-355600" algn="l">
              <a:spcBef>
                <a:spcPts val="400"/>
              </a:spcBef>
              <a:spcAft>
                <a:spcPts val="0"/>
              </a:spcAft>
              <a:buClr>
                <a:schemeClr val="dk1"/>
              </a:buClr>
              <a:buSzPts val="2000"/>
              <a:buFont typeface="Arial"/>
              <a:buChar char="•"/>
              <a:defRPr sz="20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E7D1D4FF-49C5-4F6E-877D-F1893AAF16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9" name="Google Shape;9;p1">
            <a:extLst xmlns:a="http://schemas.openxmlformats.org/drawingml/2006/main">
              <a:ext uri="{FF2B5EF4-FFF2-40B4-BE49-F238E27FC236}">
                <a16:creationId xmlns:a16="http://schemas.microsoft.com/office/drawing/2014/main" id="{9E712315-E5BA-4DFF-991E-62457AE3DE2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strike="noStrike" cap="none">
                <a:solidFill>
                  <a:srgbClr val="888888"/>
                </a:solidFill>
                <a:latin typeface="Instrument Sans"/>
                <a:ea typeface="Instrument Sans"/>
                <a:cs typeface="Instrument Sans"/>
              </a:defRPr>
            </a:lvl1pPr>
            <a:lvl2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2pPr>
            <a:lvl3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3pPr>
            <a:lvl4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4pPr>
            <a:lvl5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5pPr>
            <a:lvl6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6pPr>
            <a:lvl7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7pPr>
            <a:lvl8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8pPr>
            <a:lvl9pPr marR="0" algn="l">
              <a:spcBef>
                <a:spcPts val="0"/>
              </a:spcBef>
              <a:spcAft>
                <a:spcPts val="0"/>
              </a:spcAft>
              <a:buSzPts val="1400"/>
              <a:buNone/>
              <a:defRPr sz="1800" b="0" i="0" u="none" strike="noStrike" cap="none">
                <a:solidFill>
                  <a:schemeClr val="dk1"/>
                </a:solidFill>
                <a:latin typeface="Instrument Sans"/>
                <a:ea typeface="Instrument Sans"/>
                <a:cs typeface="Instrument Sans"/>
              </a:defRPr>
            </a:lvl9pPr>
          </a:lstStyle>
          <a:p xmlns:a="http://schemas.openxmlformats.org/drawingml/2006/main"/>
        </p:txBody>
      </p:sp>
      <p:sp>
        <p:nvSpPr>
          <p:cNvPr id="10" name="Google Shape;10;p1">
            <a:extLst xmlns:a="http://schemas.openxmlformats.org/drawingml/2006/main">
              <a:ext uri="{FF2B5EF4-FFF2-40B4-BE49-F238E27FC236}">
                <a16:creationId xmlns:a16="http://schemas.microsoft.com/office/drawing/2014/main" id="{02168D44-6A61-4C02-B43C-7E34CF3F8EB4}"/>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strike="noStrike" cap="none">
                <a:solidFill>
                  <a:srgbClr val="888888"/>
                </a:solidFill>
                <a:latin typeface="Instrument Sans"/>
                <a:ea typeface="Instrument Sans"/>
                <a:cs typeface="Instrument Sans"/>
              </a:defRPr>
            </a:lvl1pPr>
            <a:lvl2pPr marL="0" marR="0" indent="0" algn="r">
              <a:spcBef>
                <a:spcPts val="0"/>
              </a:spcBef>
              <a:buNone/>
              <a:defRPr sz="1200" b="0" i="0" u="none" strike="noStrike" cap="none">
                <a:solidFill>
                  <a:srgbClr val="888888"/>
                </a:solidFill>
                <a:latin typeface="Instrument Sans"/>
                <a:ea typeface="Instrument Sans"/>
                <a:cs typeface="Instrument Sans"/>
              </a:defRPr>
            </a:lvl2pPr>
            <a:lvl3pPr marL="0" marR="0" indent="0" algn="r">
              <a:spcBef>
                <a:spcPts val="0"/>
              </a:spcBef>
              <a:buNone/>
              <a:defRPr sz="1200" b="0" i="0" u="none" strike="noStrike" cap="none">
                <a:solidFill>
                  <a:srgbClr val="888888"/>
                </a:solidFill>
                <a:latin typeface="Instrument Sans"/>
                <a:ea typeface="Instrument Sans"/>
                <a:cs typeface="Instrument Sans"/>
              </a:defRPr>
            </a:lvl3pPr>
            <a:lvl4pPr marL="0" marR="0" indent="0" algn="r">
              <a:spcBef>
                <a:spcPts val="0"/>
              </a:spcBef>
              <a:buNone/>
              <a:defRPr sz="1200" b="0" i="0" u="none" strike="noStrike" cap="none">
                <a:solidFill>
                  <a:srgbClr val="888888"/>
                </a:solidFill>
                <a:latin typeface="Instrument Sans"/>
                <a:ea typeface="Instrument Sans"/>
                <a:cs typeface="Instrument Sans"/>
              </a:defRPr>
            </a:lvl4pPr>
            <a:lvl5pPr marL="0" marR="0" indent="0" algn="r">
              <a:spcBef>
                <a:spcPts val="0"/>
              </a:spcBef>
              <a:buNone/>
              <a:defRPr sz="1200" b="0" i="0" u="none" strike="noStrike" cap="none">
                <a:solidFill>
                  <a:srgbClr val="888888"/>
                </a:solidFill>
                <a:latin typeface="Instrument Sans"/>
                <a:ea typeface="Instrument Sans"/>
                <a:cs typeface="Instrument Sans"/>
              </a:defRPr>
            </a:lvl5pPr>
            <a:lvl6pPr marL="0" marR="0" indent="0" algn="r">
              <a:spcBef>
                <a:spcPts val="0"/>
              </a:spcBef>
              <a:buNone/>
              <a:defRPr sz="1200" b="0" i="0" u="none" strike="noStrike" cap="none">
                <a:solidFill>
                  <a:srgbClr val="888888"/>
                </a:solidFill>
                <a:latin typeface="Instrument Sans"/>
                <a:ea typeface="Instrument Sans"/>
                <a:cs typeface="Instrument Sans"/>
              </a:defRPr>
            </a:lvl6pPr>
            <a:lvl7pPr marL="0" marR="0" indent="0" algn="r">
              <a:spcBef>
                <a:spcPts val="0"/>
              </a:spcBef>
              <a:buNone/>
              <a:defRPr sz="1200" b="0" i="0" u="none" strike="noStrike" cap="none">
                <a:solidFill>
                  <a:srgbClr val="888888"/>
                </a:solidFill>
                <a:latin typeface="Instrument Sans"/>
                <a:ea typeface="Instrument Sans"/>
                <a:cs typeface="Instrument Sans"/>
              </a:defRPr>
            </a:lvl7pPr>
            <a:lvl8pPr marL="0" marR="0" indent="0" algn="r">
              <a:spcBef>
                <a:spcPts val="0"/>
              </a:spcBef>
              <a:buNone/>
              <a:defRPr sz="1200" b="0" i="0" u="none" strike="noStrike" cap="none">
                <a:solidFill>
                  <a:srgbClr val="888888"/>
                </a:solidFill>
                <a:latin typeface="Instrument Sans"/>
                <a:ea typeface="Instrument Sans"/>
                <a:cs typeface="Instrument Sans"/>
              </a:defRPr>
            </a:lvl8pPr>
            <a:lvl9pPr marL="0" marR="0" indent="0" algn="r">
              <a:spcBef>
                <a:spcPts val="0"/>
              </a:spcBef>
              <a:buNone/>
              <a:defRPr sz="1200" b="0" i="0" u="none" strike="noStrike" cap="none">
                <a:solidFill>
                  <a:srgbClr val="888888"/>
                </a:solidFill>
                <a:latin typeface="Instrument Sans"/>
                <a:ea typeface="Instrument Sans"/>
                <a:cs typeface="Instrument Sans"/>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7f34e87a4ab4c92"/>
    <p:sldLayoutId xmlns:r="http://schemas.openxmlformats.org/officeDocument/2006/relationships" id="2147483650" r:id="Re7b1b301d6714a57"/>
    <p:sldLayoutId xmlns:r="http://schemas.openxmlformats.org/officeDocument/2006/relationships" id="2147483651" r:id="R724a32546a844781"/>
    <p:sldLayoutId xmlns:r="http://schemas.openxmlformats.org/officeDocument/2006/relationships" id="2147483652" r:id="R899431357a07442a"/>
    <p:sldLayoutId xmlns:r="http://schemas.openxmlformats.org/officeDocument/2006/relationships" id="2147483653" r:id="Ra46bc2bbc16e43ef"/>
    <p:sldLayoutId xmlns:r="http://schemas.openxmlformats.org/officeDocument/2006/relationships" id="2147483654" r:id="Rdaf10ec81b8743f6"/>
    <p:sldLayoutId xmlns:r="http://schemas.openxmlformats.org/officeDocument/2006/relationships" id="2147483655" r:id="Rdfe584e4e0cc4ba0"/>
    <p:sldLayoutId xmlns:r="http://schemas.openxmlformats.org/officeDocument/2006/relationships" id="2147483656" r:id="Re7cbd816aea3486f"/>
    <p:sldLayoutId xmlns:r="http://schemas.openxmlformats.org/officeDocument/2006/relationships" id="2147483657" r:id="Rcc617b7f51544d3b"/>
    <p:sldLayoutId xmlns:r="http://schemas.openxmlformats.org/officeDocument/2006/relationships" id="2147483658" r:id="R0e0688777a5948be"/>
    <p:sldLayoutId xmlns:r="http://schemas.openxmlformats.org/officeDocument/2006/relationships" id="2147483659" r:id="R4b6a5e1c8b1c473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95bf1c87454e8d" /><Relationship Type="http://schemas.openxmlformats.org/officeDocument/2006/relationships/image" Target="/ppt/media/image.png" Id="R08fcce9c93354ee2" /><Relationship Type="http://schemas.openxmlformats.org/officeDocument/2006/relationships/image" Target="/ppt/media/image2.png" Id="Rd0bfb6301dba4969" /><Relationship Type="http://schemas.openxmlformats.org/officeDocument/2006/relationships/image" Target="/ppt/media/image3.png" Id="R31de8837d0cc4bf1" /><Relationship Type="http://schemas.openxmlformats.org/officeDocument/2006/relationships/notesSlide" Target="/ppt/notesSlides/notesSlide1.xml" Id="R42ff19269b394a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fcdfe24fb94f83" /><Relationship Type="http://schemas.openxmlformats.org/officeDocument/2006/relationships/image" Target="/ppt/media/image4.png" Id="R2f41e10d7a7c47e9" /><Relationship Type="http://schemas.openxmlformats.org/officeDocument/2006/relationships/notesSlide" Target="/ppt/notesSlides/notesSlide2.xml" Id="Rc8cc99c046eb40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dc50a0f4d64a09" /><Relationship Type="http://schemas.openxmlformats.org/officeDocument/2006/relationships/image" Target="/ppt/media/image4.png" Id="R4b88137b15dd43b8" /><Relationship Type="http://schemas.openxmlformats.org/officeDocument/2006/relationships/notesSlide" Target="/ppt/notesSlides/notesSlide3.xml" Id="Rff2ebdca5af048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af53c8f86c48dc" /><Relationship Type="http://schemas.openxmlformats.org/officeDocument/2006/relationships/image" Target="/ppt/media/image4.png" Id="R257db581e89246ac" /><Relationship Type="http://schemas.openxmlformats.org/officeDocument/2006/relationships/notesSlide" Target="/ppt/notesSlides/notesSlide4.xml" Id="R5877018f2e5a45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41518840b1458e" /><Relationship Type="http://schemas.openxmlformats.org/officeDocument/2006/relationships/image" Target="/ppt/media/image4.png" Id="R26fde37850594388" /><Relationship Type="http://schemas.openxmlformats.org/officeDocument/2006/relationships/notesSlide" Target="/ppt/notesSlides/notesSlide5.xml" Id="Rfac9e63900954d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05cc20e3ea4769" /><Relationship Type="http://schemas.openxmlformats.org/officeDocument/2006/relationships/image" Target="/ppt/media/image4.png" Id="R5a9ebcb5425a4d1e" /><Relationship Type="http://schemas.openxmlformats.org/officeDocument/2006/relationships/notesSlide" Target="/ppt/notesSlides/notesSlide6.xml" Id="R9a2b2d53510f4567" /></Relationships>
</file>

<file path=ppt/slides/slide1.xml><?xml version="1.0" encoding="utf-8"?>
<p:sld xmlns:p="http://schemas.openxmlformats.org/presentationml/2006/main">
  <p:cSld>
    <p:bg>
      <p:bgPr>
        <a:solidFill xmlns:a="http://schemas.openxmlformats.org/drawingml/2006/main">
          <a:srgbClr val="0F0F0F"/>
        </a:solidFill>
      </p:bgPr>
    </p:bg>
    <p:spTree>
      <p:nvGrpSpPr>
        <p:cNvPr id="1" name=""/>
        <p:cNvGrpSpPr/>
        <p:nvPr/>
      </p:nvGrpSpPr>
      <p:grpSpPr>
        <a:xfrm xmlns:a="http://schemas.openxmlformats.org/drawingml/2006/main"/>
      </p:grpSpPr>
      <p:sp>
        <p:nvSpPr>
          <p:cNvPr id="84" name="Google Shape;84;p13">
            <a:extLst xmlns:a="http://schemas.openxmlformats.org/drawingml/2006/main">
              <a:ext uri="{FF2B5EF4-FFF2-40B4-BE49-F238E27FC236}">
                <a16:creationId xmlns:a16="http://schemas.microsoft.com/office/drawing/2014/main" id="{BA0C68AD-BA6A-4564-A9AE-67754B5BF92C}"/>
              </a:ext>
            </a:extLst>
          </p:cNvPr>
          <p:cNvSpPr>
            <a:spLocks xmlns:a="http://schemas.openxmlformats.org/drawingml/2006/main" noGrp="1"/>
          </p:cNvSpPr>
          <p:nvPr/>
        </p:nvSpPr>
        <p:spPr>
          <a:xfrm xmlns:a="http://schemas.openxmlformats.org/drawingml/2006/main">
            <a:off x="914400" y="777240"/>
            <a:ext cx="82296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85" name="Google Shape;85;p13">
            <a:extLst xmlns:a="http://schemas.openxmlformats.org/drawingml/2006/main">
              <a:ext uri="{FF2B5EF4-FFF2-40B4-BE49-F238E27FC236}">
                <a16:creationId xmlns:a16="http://schemas.microsoft.com/office/drawing/2014/main" id="{FE2B9670-030C-4846-8D0F-0E93521E8EED}"/>
              </a:ext>
            </a:extLst>
          </p:cNvPr>
          <p:cNvSpPr>
            <a:spLocks xmlns:a="http://schemas.openxmlformats.org/drawingml/2006/main" noGrp="1"/>
          </p:cNvSpPr>
          <p:nvPr/>
        </p:nvSpPr>
        <p:spPr>
          <a:xfrm xmlns:a="http://schemas.openxmlformats.org/drawingml/2006/main">
            <a:off x="10058400" y="777240"/>
            <a:ext cx="73152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DDA24"/>
                </a:solidFill>
                <a:latin typeface="JetBrains Mono"/>
                <a:ea typeface="JetBrains Mono"/>
                <a:cs typeface="JetBrains Mono"/>
              </a:rPr>
              <a:t>PLATFORM 01 / 06</a:t>
            </a:r>
            <a:endParaRPr/>
          </a:p>
        </p:txBody>
      </p:sp>
      <p:sp>
        <p:nvSpPr>
          <p:cNvPr id="86" name="Google Shape;86;p13">
            <a:extLst xmlns:a="http://schemas.openxmlformats.org/drawingml/2006/main">
              <a:ext uri="{FF2B5EF4-FFF2-40B4-BE49-F238E27FC236}">
                <a16:creationId xmlns:a16="http://schemas.microsoft.com/office/drawing/2014/main" id="{7BD023C7-EAB8-4CCA-B4B6-32F1B00FEB5C}"/>
              </a:ext>
            </a:extLst>
          </p:cNvPr>
          <p:cNvSpPr>
            <a:spLocks xmlns:a="http://schemas.openxmlformats.org/drawingml/2006/main" noGrp="1"/>
          </p:cNvSpPr>
          <p:nvPr/>
        </p:nvSpPr>
        <p:spPr>
          <a:xfrm xmlns:a="http://schemas.openxmlformats.org/drawingml/2006/main">
            <a:off x="914400" y="1600200"/>
            <a:ext cx="4000500" cy="475488"/>
          </a:xfrm>
          <a:prstGeom xmlns:a="http://schemas.openxmlformats.org/drawingml/2006/main" prst="roundRect">
            <a:avLst>
              <a:gd name="adj" fmla="val 50000"/>
            </a:avLst>
          </a:prstGeom>
          <a:noFill xmlns:a="http://schemas.openxmlformats.org/drawingml/2006/main"/>
          <a:ln xmlns:a="http://schemas.openxmlformats.org/drawingml/2006/main" w="19050" cap="flat" cmpd="sng">
            <a:solidFill>
              <a:srgbClr val="FDDA24"/>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FDDA24"/>
                </a:solidFill>
                <a:latin typeface="JetBrains Mono"/>
                <a:ea typeface="JetBrains Mono"/>
                <a:cs typeface="JetBrains Mono"/>
              </a:rPr>
              <a:t>GENESIS / STELLAR UNLOCKED</a:t>
            </a:r>
            <a:endParaRPr/>
          </a:p>
        </p:txBody>
      </p:sp>
      <p:sp>
        <p:nvSpPr>
          <p:cNvPr id="87" name="Google Shape;87;p13">
            <a:extLst xmlns:a="http://schemas.openxmlformats.org/drawingml/2006/main">
              <a:ext uri="{FF2B5EF4-FFF2-40B4-BE49-F238E27FC236}">
                <a16:creationId xmlns:a16="http://schemas.microsoft.com/office/drawing/2014/main" id="{0DC0EDCE-22B6-45EC-879F-0469A9C01675}"/>
              </a:ext>
            </a:extLst>
          </p:cNvPr>
          <p:cNvSpPr>
            <a:spLocks xmlns:a="http://schemas.openxmlformats.org/drawingml/2006/main" noGrp="1"/>
          </p:cNvSpPr>
          <p:nvPr/>
        </p:nvSpPr>
        <p:spPr>
          <a:xfrm xmlns:a="http://schemas.openxmlformats.org/drawingml/2006/main">
            <a:off x="914400" y="2514600"/>
            <a:ext cx="10972800" cy="3511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DEAL</a:t>
            </a:r>
            <a:endParaRPr/>
          </a:p>
          <a:p xmlns:a="http://schemas.openxmlformats.org/drawingml/2006/main">
            <a:pPr marL="0" marR="0" lvl="0" indent="0" algn="l">
              <a:lnSpc>
                <a:spcPct val="90000"/>
              </a:lnSpc>
              <a:spcBef>
                <a:spcPts val="0"/>
              </a:spcBef>
              <a:spcAft>
                <a:spcPts val="0"/>
              </a:spcAft>
              <a:buNone/>
            </a:pPr>
            <a:r>
              <a:rPr sz="12800" b="1" i="0" u="none" strike="noStrike" cap="none">
                <a:solidFill>
                  <a:srgbClr val="FDDA24"/>
                </a:solidFill>
                <a:latin typeface="Inter Tight"/>
                <a:ea typeface="Inter Tight"/>
                <a:cs typeface="Inter Tight"/>
              </a:rPr>
              <a:t>PASSPORT</a:t>
            </a:r>
            <a:endParaRPr/>
          </a:p>
        </p:txBody>
      </p:sp>
      <p:sp>
        <p:nvSpPr>
          <p:cNvPr id="88" name="Google Shape;88;p13">
            <a:extLst xmlns:a="http://schemas.openxmlformats.org/drawingml/2006/main">
              <a:ext uri="{FF2B5EF4-FFF2-40B4-BE49-F238E27FC236}">
                <a16:creationId xmlns:a16="http://schemas.microsoft.com/office/drawing/2014/main" id="{D230AFE3-2D23-45DA-84BC-0E9A6DD6A67D}"/>
              </a:ext>
            </a:extLst>
          </p:cNvPr>
          <p:cNvSpPr>
            <a:spLocks xmlns:a="http://schemas.openxmlformats.org/drawingml/2006/main" noGrp="1"/>
          </p:cNvSpPr>
          <p:nvPr/>
        </p:nvSpPr>
        <p:spPr>
          <a:xfrm xmlns:a="http://schemas.openxmlformats.org/drawingml/2006/main">
            <a:off x="12435840" y="2103120"/>
            <a:ext cx="4937760" cy="2862850"/>
          </a:xfrm>
          <a:custGeom xmlns:a="http://schemas.openxmlformats.org/drawingml/2006/main">
            <a:rect l="l" t="t" r="r" b="b"/>
            <a:pathLst>
              <a:path w="4937760" h="2862850">
                <a:moveTo>
                  <a:pt x="0" y="0"/>
                </a:moveTo>
                <a:lnTo>
                  <a:pt x="0" y="1103116"/>
                </a:lnTo>
                <a:lnTo>
                  <a:pt x="2468880" y="2862850"/>
                </a:lnTo>
                <a:lnTo>
                  <a:pt x="4937760" y="1103116"/>
                </a:lnTo>
                <a:lnTo>
                  <a:pt x="4937760" y="0"/>
                </a:lnTo>
                <a:lnTo>
                  <a:pt x="2468880" y="1497086"/>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89" name="Google Shape;89;p13">
            <a:extLst xmlns:a="http://schemas.openxmlformats.org/drawingml/2006/main">
              <a:ext uri="{FF2B5EF4-FFF2-40B4-BE49-F238E27FC236}">
                <a16:creationId xmlns:a16="http://schemas.microsoft.com/office/drawing/2014/main" id="{AF36E3A8-3AC1-4502-991F-EC228CFF6A01}"/>
              </a:ext>
            </a:extLst>
          </p:cNvPr>
          <p:cNvSpPr>
            <a:spLocks xmlns:a="http://schemas.openxmlformats.org/drawingml/2006/main" noGrp="1"/>
          </p:cNvSpPr>
          <p:nvPr/>
        </p:nvSpPr>
        <p:spPr>
          <a:xfrm xmlns:a="http://schemas.openxmlformats.org/drawingml/2006/main">
            <a:off x="12435840" y="4151765"/>
            <a:ext cx="1444557" cy="1785998"/>
          </a:xfrm>
          <a:custGeom xmlns:a="http://schemas.openxmlformats.org/drawingml/2006/main">
            <a:rect l="l" t="t" r="r" b="b"/>
            <a:pathLst>
              <a:path w="1444557" h="1785998">
                <a:moveTo>
                  <a:pt x="0" y="0"/>
                </a:moveTo>
                <a:lnTo>
                  <a:pt x="0" y="1785998"/>
                </a:lnTo>
                <a:lnTo>
                  <a:pt x="1444557"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0" name="Google Shape;90;p13">
            <a:extLst xmlns:a="http://schemas.openxmlformats.org/drawingml/2006/main">
              <a:ext uri="{FF2B5EF4-FFF2-40B4-BE49-F238E27FC236}">
                <a16:creationId xmlns:a16="http://schemas.microsoft.com/office/drawing/2014/main" id="{0B1B65CD-6F4A-4726-AFF7-60FBDFBE7BBA}"/>
              </a:ext>
            </a:extLst>
          </p:cNvPr>
          <p:cNvSpPr>
            <a:spLocks xmlns:a="http://schemas.openxmlformats.org/drawingml/2006/main" noGrp="1"/>
          </p:cNvSpPr>
          <p:nvPr/>
        </p:nvSpPr>
        <p:spPr>
          <a:xfrm xmlns:a="http://schemas.openxmlformats.org/drawingml/2006/main">
            <a:off x="15929042" y="4151765"/>
            <a:ext cx="1444558" cy="1785998"/>
          </a:xfrm>
          <a:custGeom xmlns:a="http://schemas.openxmlformats.org/drawingml/2006/main">
            <a:rect l="l" t="t" r="r" b="b"/>
            <a:pathLst>
              <a:path w="1444558" h="1785998">
                <a:moveTo>
                  <a:pt x="1444558" y="0"/>
                </a:moveTo>
                <a:lnTo>
                  <a:pt x="1444558" y="1785998"/>
                </a:lnTo>
                <a:lnTo>
                  <a:pt x="0" y="866734"/>
                </a:lnTo>
                <a:close/>
              </a:path>
            </a:pathLst>
          </a:custGeom>
          <a:solidFill xmlns:a="http://schemas.openxmlformats.org/drawingml/2006/main">
            <a:srgbClr val="FDDA24">
              <a:alpha val="21961"/>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1" name="Google Shape;91;p13">
            <a:extLst xmlns:a="http://schemas.openxmlformats.org/drawingml/2006/main">
              <a:ext uri="{FF2B5EF4-FFF2-40B4-BE49-F238E27FC236}">
                <a16:creationId xmlns:a16="http://schemas.microsoft.com/office/drawing/2014/main" id="{74374F9B-8B68-4811-81EF-E33867BA229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8fcce9c93354ee2">
            <a:alphaModFix/>
          </a:blip>
          <a:srcRect xmlns:a="http://schemas.openxmlformats.org/drawingml/2006/main" l="0" t="0" r="0" b="0"/>
          <a:stretch xmlns:a="http://schemas.openxmlformats.org/drawingml/2006/main"/>
        </p:blipFill>
        <p:spPr>
          <a:xfrm xmlns:a="http://schemas.openxmlformats.org/drawingml/2006/main">
            <a:off x="914400" y="6812280"/>
            <a:ext cx="4721192" cy="822960"/>
          </a:xfrm>
          <a:prstGeom xmlns:a="http://schemas.openxmlformats.org/drawingml/2006/main" prst="rect">
            <a:avLst/>
          </a:prstGeom>
          <a:ln xmlns:a="http://schemas.openxmlformats.org/drawingml/2006/main">
            <a:noFill/>
          </a:ln>
        </p:spPr>
      </p:pic>
      <p:sp>
        <p:nvSpPr>
          <p:cNvPr id="92" name="Google Shape;92;p13">
            <a:extLst xmlns:a="http://schemas.openxmlformats.org/drawingml/2006/main">
              <a:ext uri="{FF2B5EF4-FFF2-40B4-BE49-F238E27FC236}">
                <a16:creationId xmlns:a16="http://schemas.microsoft.com/office/drawing/2014/main" id="{7C093E93-EA03-4939-9D2A-F00FC76376A5}"/>
              </a:ext>
            </a:extLst>
          </p:cNvPr>
          <p:cNvSpPr>
            <a:spLocks xmlns:a="http://schemas.openxmlformats.org/drawingml/2006/main" noGrp="1"/>
          </p:cNvSpPr>
          <p:nvPr/>
        </p:nvSpPr>
        <p:spPr>
          <a:xfrm xmlns:a="http://schemas.openxmlformats.org/drawingml/2006/main">
            <a:off x="5989320" y="6766560"/>
            <a:ext cx="18288" cy="914400"/>
          </a:xfrm>
          <a:prstGeom xmlns:a="http://schemas.openxmlformats.org/drawingml/2006/main" prst="rect">
            <a:avLst/>
          </a:prstGeom>
          <a:solidFill xmlns:a="http://schemas.openxmlformats.org/drawingml/2006/main">
            <a:srgbClr val="4A4A4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pic>
        <p:nvPicPr>
          <p:cNvPr id="93" name="Google Shape;93;p13">
            <a:extLst xmlns:a="http://schemas.openxmlformats.org/drawingml/2006/main">
              <a:ext uri="{FF2B5EF4-FFF2-40B4-BE49-F238E27FC236}">
                <a16:creationId xmlns:a16="http://schemas.microsoft.com/office/drawing/2014/main" id="{93F362BC-1726-4356-825E-58A52E5015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0bfb6301dba4969">
            <a:alphaModFix/>
          </a:blip>
          <a:srcRect xmlns:a="http://schemas.openxmlformats.org/drawingml/2006/main" l="0" t="0" r="0" b="0"/>
          <a:stretch xmlns:a="http://schemas.openxmlformats.org/drawingml/2006/main"/>
        </p:blipFill>
        <p:spPr>
          <a:xfrm xmlns:a="http://schemas.openxmlformats.org/drawingml/2006/main">
            <a:off x="6355080" y="6967728"/>
            <a:ext cx="2159633" cy="512064"/>
          </a:xfrm>
          <a:prstGeom xmlns:a="http://schemas.openxmlformats.org/drawingml/2006/main" prst="rect">
            <a:avLst/>
          </a:prstGeom>
          <a:ln xmlns:a="http://schemas.openxmlformats.org/drawingml/2006/main">
            <a:noFill/>
          </a:ln>
        </p:spPr>
      </p:pic>
      <p:pic>
        <p:nvPicPr>
          <p:cNvPr id="94" name="Google Shape;94;p13">
            <a:extLst xmlns:a="http://schemas.openxmlformats.org/drawingml/2006/main">
              <a:ext uri="{FF2B5EF4-FFF2-40B4-BE49-F238E27FC236}">
                <a16:creationId xmlns:a16="http://schemas.microsoft.com/office/drawing/2014/main" id="{B07EBE4B-2335-4C5A-BDCA-3F4794FF9E6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de8837d0cc4bf1">
            <a:alphaModFix/>
          </a:blip>
          <a:srcRect xmlns:a="http://schemas.openxmlformats.org/drawingml/2006/main" l="0" t="0" r="0" b="0"/>
          <a:stretch xmlns:a="http://schemas.openxmlformats.org/drawingml/2006/main"/>
        </p:blipFill>
        <p:spPr>
          <a:xfrm xmlns:a="http://schemas.openxmlformats.org/drawingml/2006/main">
            <a:off x="8823960" y="6903720"/>
            <a:ext cx="2483581" cy="621792"/>
          </a:xfrm>
          <a:prstGeom xmlns:a="http://schemas.openxmlformats.org/drawingml/2006/main" prst="rect">
            <a:avLst/>
          </a:prstGeom>
          <a:ln xmlns:a="http://schemas.openxmlformats.org/drawingml/2006/main">
            <a:noFill/>
          </a:ln>
        </p:spPr>
      </p:pic>
      <p:sp>
        <p:nvSpPr>
          <p:cNvPr id="95" name="Google Shape;95;p13">
            <a:extLst xmlns:a="http://schemas.openxmlformats.org/drawingml/2006/main">
              <a:ext uri="{FF2B5EF4-FFF2-40B4-BE49-F238E27FC236}">
                <a16:creationId xmlns:a16="http://schemas.microsoft.com/office/drawing/2014/main" id="{9328E81F-E823-4542-BA00-9CB6A770699B}"/>
              </a:ext>
            </a:extLst>
          </p:cNvPr>
          <p:cNvSpPr>
            <a:spLocks xmlns:a="http://schemas.openxmlformats.org/drawingml/2006/main" noGrp="1"/>
          </p:cNvSpPr>
          <p:nvPr/>
        </p:nvSpPr>
        <p:spPr>
          <a:xfrm xmlns:a="http://schemas.openxmlformats.org/drawingml/2006/main" rot="5400000">
            <a:off x="14904720" y="6858000"/>
            <a:ext cx="731520" cy="7315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6" name="Google Shape;96;p13">
            <a:extLst xmlns:a="http://schemas.openxmlformats.org/drawingml/2006/main">
              <a:ext uri="{FF2B5EF4-FFF2-40B4-BE49-F238E27FC236}">
                <a16:creationId xmlns:a16="http://schemas.microsoft.com/office/drawing/2014/main" id="{492169ED-42C5-492D-A1C1-0CA2BF1FEB1C}"/>
              </a:ext>
            </a:extLst>
          </p:cNvPr>
          <p:cNvSpPr>
            <a:spLocks xmlns:a="http://schemas.openxmlformats.org/drawingml/2006/main" noGrp="1"/>
          </p:cNvSpPr>
          <p:nvPr/>
        </p:nvSpPr>
        <p:spPr>
          <a:xfrm xmlns:a="http://schemas.openxmlformats.org/drawingml/2006/main" rot="5400000">
            <a:off x="15599664" y="6858000"/>
            <a:ext cx="731520" cy="7315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7" name="Google Shape;97;p13">
            <a:extLst xmlns:a="http://schemas.openxmlformats.org/drawingml/2006/main">
              <a:ext uri="{FF2B5EF4-FFF2-40B4-BE49-F238E27FC236}">
                <a16:creationId xmlns:a16="http://schemas.microsoft.com/office/drawing/2014/main" id="{D89C7A8F-4101-49FC-B703-320ABA673AB0}"/>
              </a:ext>
            </a:extLst>
          </p:cNvPr>
          <p:cNvSpPr>
            <a:spLocks xmlns:a="http://schemas.openxmlformats.org/drawingml/2006/main" noGrp="1"/>
          </p:cNvSpPr>
          <p:nvPr/>
        </p:nvSpPr>
        <p:spPr>
          <a:xfrm xmlns:a="http://schemas.openxmlformats.org/drawingml/2006/main" rot="5400000">
            <a:off x="16294608" y="6858000"/>
            <a:ext cx="731520" cy="7315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8" name="Google Shape;98;p13">
            <a:extLst xmlns:a="http://schemas.openxmlformats.org/drawingml/2006/main">
              <a:ext uri="{FF2B5EF4-FFF2-40B4-BE49-F238E27FC236}">
                <a16:creationId xmlns:a16="http://schemas.microsoft.com/office/drawing/2014/main" id="{F25DF466-91DB-4704-A4DF-1EDE292B1B74}"/>
              </a:ext>
            </a:extLst>
          </p:cNvPr>
          <p:cNvSpPr>
            <a:spLocks xmlns:a="http://schemas.openxmlformats.org/drawingml/2006/main" noGrp="1"/>
          </p:cNvSpPr>
          <p:nvPr/>
        </p:nvSpPr>
        <p:spPr>
          <a:xfrm xmlns:a="http://schemas.openxmlformats.org/drawingml/2006/main">
            <a:off x="914400" y="8641080"/>
            <a:ext cx="16459200" cy="13716"/>
          </a:xfrm>
          <a:prstGeom xmlns:a="http://schemas.openxmlformats.org/drawingml/2006/main" prst="rect">
            <a:avLst/>
          </a:prstGeom>
          <a:solidFill xmlns:a="http://schemas.openxmlformats.org/drawingml/2006/main">
            <a:srgbClr val="3A3A3A"/>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99" name="Google Shape;99;p13">
            <a:extLst xmlns:a="http://schemas.openxmlformats.org/drawingml/2006/main">
              <a:ext uri="{FF2B5EF4-FFF2-40B4-BE49-F238E27FC236}">
                <a16:creationId xmlns:a16="http://schemas.microsoft.com/office/drawing/2014/main" id="{5CD7E1A6-0837-4560-965E-4D18CC5F5032}"/>
              </a:ext>
            </a:extLst>
          </p:cNvPr>
          <p:cNvSpPr>
            <a:spLocks xmlns:a="http://schemas.openxmlformats.org/drawingml/2006/main" noGrp="1"/>
          </p:cNvSpPr>
          <p:nvPr/>
        </p:nvSpPr>
        <p:spPr>
          <a:xfrm xmlns:a="http://schemas.openxmlformats.org/drawingml/2006/main">
            <a:off x="914400" y="8961120"/>
            <a:ext cx="457200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600" b="1" i="0" u="none" strike="noStrike" cap="none">
                <a:solidFill>
                  <a:srgbClr val="FFFFFF"/>
                </a:solidFill>
                <a:latin typeface="JetBrains Mono"/>
                <a:ea typeface="JetBrains Mono"/>
                <a:cs typeface="JetBrains Mono"/>
              </a:rPr>
              <a:t>MVP TARGET / 26 OCT 2026</a:t>
            </a:r>
            <a:endParaRPr/>
          </a:p>
        </p:txBody>
      </p:sp>
      <p:sp>
        <p:nvSpPr>
          <p:cNvPr id="100" name="Google Shape;100;p13">
            <a:extLst xmlns:a="http://schemas.openxmlformats.org/drawingml/2006/main">
              <a:ext uri="{FF2B5EF4-FFF2-40B4-BE49-F238E27FC236}">
                <a16:creationId xmlns:a16="http://schemas.microsoft.com/office/drawing/2014/main" id="{A15B962B-8ADF-4E7F-8174-2E0E6A232D76}"/>
              </a:ext>
            </a:extLst>
          </p:cNvPr>
          <p:cNvSpPr>
            <a:spLocks xmlns:a="http://schemas.openxmlformats.org/drawingml/2006/main" noGrp="1"/>
          </p:cNvSpPr>
          <p:nvPr/>
        </p:nvSpPr>
        <p:spPr>
          <a:xfrm xmlns:a="http://schemas.openxmlformats.org/drawingml/2006/main">
            <a:off x="64008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DDA24"/>
                </a:solidFill>
                <a:latin typeface="JetBrains Mono"/>
                <a:ea typeface="JetBrains Mono"/>
                <a:cs typeface="JetBrains Mono"/>
              </a:rPr>
              <a:t>#HackMeridian26</a:t>
            </a:r>
            <a:endParaRPr/>
          </a:p>
        </p:txBody>
      </p:sp>
      <p:sp>
        <p:nvSpPr>
          <p:cNvPr id="101" name="Google Shape;101;p13">
            <a:extLst xmlns:a="http://schemas.openxmlformats.org/drawingml/2006/main">
              <a:ext uri="{FF2B5EF4-FFF2-40B4-BE49-F238E27FC236}">
                <a16:creationId xmlns:a16="http://schemas.microsoft.com/office/drawing/2014/main" id="{30B39000-4DD0-4DA3-B6BC-A2AD6F609BFA}"/>
              </a:ext>
            </a:extLst>
          </p:cNvPr>
          <p:cNvSpPr>
            <a:spLocks xmlns:a="http://schemas.openxmlformats.org/drawingml/2006/main" noGrp="1"/>
          </p:cNvSpPr>
          <p:nvPr/>
        </p:nvSpPr>
        <p:spPr>
          <a:xfrm xmlns:a="http://schemas.openxmlformats.org/drawingml/2006/main">
            <a:off x="11887200" y="896112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r">
              <a:spcBef>
                <a:spcPts val="0"/>
              </a:spcBef>
              <a:spcAft>
                <a:spcPts val="0"/>
              </a:spcAft>
              <a:buNone/>
            </a:pPr>
            <a:r>
              <a:rPr sz="1400" b="0" i="0" u="none" strike="noStrike" cap="none">
                <a:solidFill>
                  <a:srgbClr val="A7A7A7"/>
                </a:solidFill>
                <a:latin typeface="JetBrains Mono"/>
                <a:ea typeface="JetBrains Mono"/>
                <a:cs typeface="JetBrains Mono"/>
              </a:rPr>
              <a:t>© 2026 HackMeridian · Lisbon</a:t>
            </a:r>
            <a:endParaRPr/>
          </a:p>
        </p:txBody>
      </p:sp>
      <p:sp>
        <p:nvSpPr>
          <p:cNvPr id="102" name="Private real estate. Verified qualificat">
            <a:extLst xmlns:a="http://schemas.openxmlformats.org/drawingml/2006/main">
              <a:ext uri="{FF2B5EF4-FFF2-40B4-BE49-F238E27FC236}">
                <a16:creationId xmlns:a16="http://schemas.microsoft.com/office/drawing/2014/main" id="{9E0F2680-4F6B-4EA7-A43D-7E4AD2224127}"/>
              </a:ext>
            </a:extLst>
          </p:cNvPr>
          <p:cNvSpPr>
            <a:spLocks xmlns:a="http://schemas.openxmlformats.org/drawingml/2006/main" noGrp="1"/>
          </p:cNvSpPr>
          <p:nvPr/>
        </p:nvSpPr>
        <p:spPr>
          <a:xfrm xmlns:a="http://schemas.openxmlformats.org/drawingml/2006/main">
            <a:off x="914400" y="6191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800">
                <a:solidFill>
                  <a:srgbClr val="FFFFFF"/>
                </a:solidFill>
                <a:latin typeface="Instrument Sans"/>
                <a:ea typeface="Instrument Sans"/>
                <a:cs typeface="Instrument Sans"/>
              </a:defRPr>
            </a:defPPr>
            <a:lvl1pPr>
              <a:buNone/>
              <a:defRPr sz="2800">
                <a:solidFill>
                  <a:srgbClr val="FFFFFF"/>
                </a:solidFill>
                <a:latin typeface="Instrument Sans"/>
                <a:ea typeface="Instrument Sans"/>
                <a:cs typeface="Instrument Sans"/>
              </a:defRPr>
            </a:lvl1pPr>
            <a:lvl2pPr>
              <a:buNone/>
              <a:defRPr sz="2800">
                <a:solidFill>
                  <a:srgbClr val="FFFFFF"/>
                </a:solidFill>
                <a:latin typeface="Instrument Sans"/>
                <a:ea typeface="Instrument Sans"/>
                <a:cs typeface="Instrument Sans"/>
              </a:defRPr>
            </a:lvl2pPr>
            <a:lvl3pPr>
              <a:buNone/>
              <a:defRPr sz="2800">
                <a:solidFill>
                  <a:srgbClr val="FFFFFF"/>
                </a:solidFill>
                <a:latin typeface="Instrument Sans"/>
                <a:ea typeface="Instrument Sans"/>
                <a:cs typeface="Instrument Sans"/>
              </a:defRPr>
            </a:lvl3pPr>
            <a:lvl4pPr>
              <a:buNone/>
              <a:defRPr sz="2800">
                <a:solidFill>
                  <a:srgbClr val="FFFFFF"/>
                </a:solidFill>
                <a:latin typeface="Instrument Sans"/>
                <a:ea typeface="Instrument Sans"/>
                <a:cs typeface="Instrument Sans"/>
              </a:defRPr>
            </a:lvl4pPr>
            <a:lvl5pPr>
              <a:buNone/>
              <a:defRPr sz="2800">
                <a:solidFill>
                  <a:srgbClr val="FFFFFF"/>
                </a:solidFill>
                <a:latin typeface="Instrument Sans"/>
                <a:ea typeface="Instrument Sans"/>
                <a:cs typeface="Instrument Sans"/>
              </a:defRPr>
            </a:lvl5pPr>
            <a:lvl6pPr>
              <a:buNone/>
              <a:defRPr sz="2800">
                <a:solidFill>
                  <a:srgbClr val="FFFFFF"/>
                </a:solidFill>
                <a:latin typeface="Instrument Sans"/>
                <a:ea typeface="Instrument Sans"/>
                <a:cs typeface="Instrument Sans"/>
              </a:defRPr>
            </a:lvl6pPr>
            <a:lvl7pPr>
              <a:buNone/>
              <a:defRPr sz="2800">
                <a:solidFill>
                  <a:srgbClr val="FFFFFF"/>
                </a:solidFill>
                <a:latin typeface="Instrument Sans"/>
                <a:ea typeface="Instrument Sans"/>
                <a:cs typeface="Instrument Sans"/>
              </a:defRPr>
            </a:lvl7pPr>
            <a:lvl8pPr>
              <a:buNone/>
              <a:defRPr sz="2800">
                <a:solidFill>
                  <a:srgbClr val="FFFFFF"/>
                </a:solidFill>
                <a:latin typeface="Instrument Sans"/>
                <a:ea typeface="Instrument Sans"/>
                <a:cs typeface="Instrument Sans"/>
              </a:defRPr>
            </a:lvl8pPr>
            <a:lvl9pPr>
              <a:buNone/>
              <a:defRPr sz="2800">
                <a:solidFill>
                  <a:srgbClr val="FFFFFF"/>
                </a:solidFill>
                <a:latin typeface="Instrument Sans"/>
                <a:ea typeface="Instrument Sans"/>
                <a:cs typeface="Instrument Sans"/>
              </a:defRPr>
            </a:lvl9pPr>
          </a:lstStyle>
          <a:p xmlns:a="http://schemas.openxmlformats.org/drawingml/2006/main">
            <a:pPr>
              <a:buNone/>
              <a:defRPr sz="2800">
                <a:solidFill>
                  <a:srgbClr val="FFFFFF"/>
                </a:solidFill>
                <a:latin typeface="Instrument Sans"/>
                <a:ea typeface="Instrument Sans"/>
                <a:cs typeface="Instrument Sans"/>
              </a:defRPr>
            </a:pPr>
            <a:r>
              <a:rPr sz="2800">
                <a:solidFill>
                  <a:srgbClr val="FFFFFF"/>
                </a:solidFill>
                <a:latin typeface="Instrument Sans"/>
                <a:ea typeface="Instrument Sans"/>
                <a:cs typeface="Instrument Sans"/>
              </a:rPr>
              <a:t>Private real estate. Verified qualification.</a:t>
            </a:r>
          </a:p>
        </p:txBody>
      </p:sp>
      <p:sp>
        <p:nvSpPr>
          <p:cNvPr id="103" name="EasyAI / Oleksiy Onishchenko / Solo buil">
            <a:extLst xmlns:a="http://schemas.openxmlformats.org/drawingml/2006/main">
              <a:ext uri="{FF2B5EF4-FFF2-40B4-BE49-F238E27FC236}">
                <a16:creationId xmlns:a16="http://schemas.microsoft.com/office/drawing/2014/main" id="{C935F9A8-2B94-4611-AA48-C70F83C986D2}"/>
              </a:ext>
            </a:extLst>
          </p:cNvPr>
          <p:cNvSpPr>
            <a:spLocks xmlns:a="http://schemas.openxmlformats.org/drawingml/2006/main" noGrp="1"/>
          </p:cNvSpPr>
          <p:nvPr/>
        </p:nvSpPr>
        <p:spPr>
          <a:xfrm xmlns:a="http://schemas.openxmlformats.org/drawingml/2006/main">
            <a:off x="914400" y="79629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00">
                <a:solidFill>
                  <a:srgbClr val="FDDA24"/>
                </a:solidFill>
                <a:latin typeface="Instrument Sans"/>
                <a:ea typeface="Instrument Sans"/>
                <a:cs typeface="Instrument Sans"/>
              </a:defRPr>
            </a:defPPr>
            <a:lvl1pPr>
              <a:buNone/>
              <a:defRPr sz="1900">
                <a:solidFill>
                  <a:srgbClr val="FDDA24"/>
                </a:solidFill>
                <a:latin typeface="Instrument Sans"/>
                <a:ea typeface="Instrument Sans"/>
                <a:cs typeface="Instrument Sans"/>
              </a:defRPr>
            </a:lvl1pPr>
            <a:lvl2pPr>
              <a:buNone/>
              <a:defRPr sz="1900">
                <a:solidFill>
                  <a:srgbClr val="FDDA24"/>
                </a:solidFill>
                <a:latin typeface="Instrument Sans"/>
                <a:ea typeface="Instrument Sans"/>
                <a:cs typeface="Instrument Sans"/>
              </a:defRPr>
            </a:lvl2pPr>
            <a:lvl3pPr>
              <a:buNone/>
              <a:defRPr sz="1900">
                <a:solidFill>
                  <a:srgbClr val="FDDA24"/>
                </a:solidFill>
                <a:latin typeface="Instrument Sans"/>
                <a:ea typeface="Instrument Sans"/>
                <a:cs typeface="Instrument Sans"/>
              </a:defRPr>
            </a:lvl3pPr>
            <a:lvl4pPr>
              <a:buNone/>
              <a:defRPr sz="1900">
                <a:solidFill>
                  <a:srgbClr val="FDDA24"/>
                </a:solidFill>
                <a:latin typeface="Instrument Sans"/>
                <a:ea typeface="Instrument Sans"/>
                <a:cs typeface="Instrument Sans"/>
              </a:defRPr>
            </a:lvl4pPr>
            <a:lvl5pPr>
              <a:buNone/>
              <a:defRPr sz="1900">
                <a:solidFill>
                  <a:srgbClr val="FDDA24"/>
                </a:solidFill>
                <a:latin typeface="Instrument Sans"/>
                <a:ea typeface="Instrument Sans"/>
                <a:cs typeface="Instrument Sans"/>
              </a:defRPr>
            </a:lvl5pPr>
            <a:lvl6pPr>
              <a:buNone/>
              <a:defRPr sz="1900">
                <a:solidFill>
                  <a:srgbClr val="FDDA24"/>
                </a:solidFill>
                <a:latin typeface="Instrument Sans"/>
                <a:ea typeface="Instrument Sans"/>
                <a:cs typeface="Instrument Sans"/>
              </a:defRPr>
            </a:lvl6pPr>
            <a:lvl7pPr>
              <a:buNone/>
              <a:defRPr sz="1900">
                <a:solidFill>
                  <a:srgbClr val="FDDA24"/>
                </a:solidFill>
                <a:latin typeface="Instrument Sans"/>
                <a:ea typeface="Instrument Sans"/>
                <a:cs typeface="Instrument Sans"/>
              </a:defRPr>
            </a:lvl7pPr>
            <a:lvl8pPr>
              <a:buNone/>
              <a:defRPr sz="1900">
                <a:solidFill>
                  <a:srgbClr val="FDDA24"/>
                </a:solidFill>
                <a:latin typeface="Instrument Sans"/>
                <a:ea typeface="Instrument Sans"/>
                <a:cs typeface="Instrument Sans"/>
              </a:defRPr>
            </a:lvl8pPr>
            <a:lvl9pPr>
              <a:buNone/>
              <a:defRPr sz="1900">
                <a:solidFill>
                  <a:srgbClr val="FDDA24"/>
                </a:solidFill>
                <a:latin typeface="Instrument Sans"/>
                <a:ea typeface="Instrument Sans"/>
                <a:cs typeface="Instrument Sans"/>
              </a:defRPr>
            </a:lvl9pPr>
          </a:lstStyle>
          <a:p xmlns:a="http://schemas.openxmlformats.org/drawingml/2006/main">
            <a:pPr>
              <a:buNone/>
              <a:defRPr sz="1900">
                <a:solidFill>
                  <a:srgbClr val="FDDA24"/>
                </a:solidFill>
                <a:latin typeface="Instrument Sans"/>
                <a:ea typeface="Instrument Sans"/>
                <a:cs typeface="Instrument Sans"/>
              </a:defRPr>
            </a:pPr>
            <a:r>
              <a:rPr sz="1900">
                <a:solidFill>
                  <a:srgbClr val="FDDA24"/>
                </a:solidFill>
                <a:latin typeface="Instrument Sans"/>
                <a:ea typeface="Instrument Sans"/>
                <a:cs typeface="Instrument Sans"/>
              </a:rPr>
              <a:t>EasyAI / Oleksiy Onishchenko / Solo builder</a:t>
            </a:r>
          </a:p>
        </p:txBody>
      </p:sp>
    </p:spTree>
    <p:extLst>
      <p:ext uri="{BB962C8B-B14F-4D97-AF65-F5344CB8AC3E}">
        <p14:creationId xmlns:p14="http://schemas.microsoft.com/office/powerpoint/2010/main" val="201137607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6" name="Google Shape;106;p14">
            <a:extLst xmlns:a="http://schemas.openxmlformats.org/drawingml/2006/main">
              <a:ext uri="{FF2B5EF4-FFF2-40B4-BE49-F238E27FC236}">
                <a16:creationId xmlns:a16="http://schemas.microsoft.com/office/drawing/2014/main" id="{70E11B06-8417-427C-A23D-803C60D38FC9}"/>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07" name="Google Shape;107;p14">
            <a:extLst xmlns:a="http://schemas.openxmlformats.org/drawingml/2006/main">
              <a:ext uri="{FF2B5EF4-FFF2-40B4-BE49-F238E27FC236}">
                <a16:creationId xmlns:a16="http://schemas.microsoft.com/office/drawing/2014/main" id="{746CBDD3-DF20-44FE-9C23-82AC6858FB5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02 / 06</a:t>
            </a:r>
            <a:endParaRPr/>
          </a:p>
        </p:txBody>
      </p:sp>
      <p:sp>
        <p:nvSpPr>
          <p:cNvPr id="108" name="Google Shape;108;p14">
            <a:extLst xmlns:a="http://schemas.openxmlformats.org/drawingml/2006/main">
              <a:ext uri="{FF2B5EF4-FFF2-40B4-BE49-F238E27FC236}">
                <a16:creationId xmlns:a16="http://schemas.microsoft.com/office/drawing/2014/main" id="{7681E986-32BF-4F6B-B0D7-E82EE8E4AB55}"/>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09" name="Google Shape;109;p14">
            <a:extLst xmlns:a="http://schemas.openxmlformats.org/drawingml/2006/main">
              <a:ext uri="{FF2B5EF4-FFF2-40B4-BE49-F238E27FC236}">
                <a16:creationId xmlns:a16="http://schemas.microsoft.com/office/drawing/2014/main" id="{BADBA48E-2C3C-4CD7-A3C1-30FE99A25EC3}"/>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PMF</a:t>
            </a:r>
            <a:endParaRPr/>
          </a:p>
        </p:txBody>
      </p:sp>
      <p:sp>
        <p:nvSpPr>
          <p:cNvPr id="110" name="Google Shape;110;p14">
            <a:extLst xmlns:a="http://schemas.openxmlformats.org/drawingml/2006/main">
              <a:ext uri="{FF2B5EF4-FFF2-40B4-BE49-F238E27FC236}">
                <a16:creationId xmlns:a16="http://schemas.microsoft.com/office/drawing/2014/main" id="{76EC8AF0-91A8-46C8-9619-E9326D84EB7C}"/>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01 / 04</a:t>
            </a:r>
            <a:endParaRPr/>
          </a:p>
        </p:txBody>
      </p:sp>
      <p:sp>
        <p:nvSpPr>
          <p:cNvPr id="111" name="Google Shape;111;p14">
            <a:extLst xmlns:a="http://schemas.openxmlformats.org/drawingml/2006/main">
              <a:ext uri="{FF2B5EF4-FFF2-40B4-BE49-F238E27FC236}">
                <a16:creationId xmlns:a16="http://schemas.microsoft.com/office/drawing/2014/main" id="{7BCCE537-65B3-4A99-8083-A2E05B310299}"/>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SOLUTION</a:t>
            </a:r>
            <a:endParaRPr/>
          </a:p>
        </p:txBody>
      </p:sp>
      <p:sp>
        <p:nvSpPr>
          <p:cNvPr id="112" name="Google Shape;112;p14">
            <a:extLst xmlns:a="http://schemas.openxmlformats.org/drawingml/2006/main">
              <a:ext uri="{FF2B5EF4-FFF2-40B4-BE49-F238E27FC236}">
                <a16:creationId xmlns:a16="http://schemas.microsoft.com/office/drawing/2014/main" id="{C8AC25D4-C6DB-495B-BBD9-30859022B09E}"/>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Two strangers qualify for one private property deal.</a:t>
            </a:r>
            <a:endParaRPr/>
          </a:p>
        </p:txBody>
      </p:sp>
      <p:sp>
        <p:nvSpPr>
          <p:cNvPr id="113" name="Google Shape;113;p14">
            <a:extLst xmlns:a="http://schemas.openxmlformats.org/drawingml/2006/main">
              <a:ext uri="{FF2B5EF4-FFF2-40B4-BE49-F238E27FC236}">
                <a16:creationId xmlns:a16="http://schemas.microsoft.com/office/drawing/2014/main" id="{575838C8-E0E8-4B38-8E1E-F73F17AABCED}"/>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Buyer Passport: prove ≥ €750k without revealing the certified balance.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Property Passport: prove marketing authority while evidence stays private.</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Deal Passport: unlock the dossier after both checks and mutual consent.</a:t>
            </a:r>
            <a:endParaRPr/>
          </a:p>
        </p:txBody>
      </p:sp>
      <p:sp>
        <p:nvSpPr>
          <p:cNvPr id="114" name="Google Shape;114;p14">
            <a:extLst xmlns:a="http://schemas.openxmlformats.org/drawingml/2006/main">
              <a:ext uri="{FF2B5EF4-FFF2-40B4-BE49-F238E27FC236}">
                <a16:creationId xmlns:a16="http://schemas.microsoft.com/office/drawing/2014/main" id="{119145C6-24F2-490C-A942-7F294DD00FAB}"/>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Demo target: €900k buyer qualifies. €400k buyer fails.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Synthetic issuers. Real verification on Stellar Testnet.</a:t>
            </a:r>
            <a:endParaRPr/>
          </a:p>
        </p:txBody>
      </p:sp>
      <p:sp>
        <p:nvSpPr>
          <p:cNvPr id="115" name="Google Shape;115;p14">
            <a:extLst xmlns:a="http://schemas.openxmlformats.org/drawingml/2006/main">
              <a:ext uri="{FF2B5EF4-FFF2-40B4-BE49-F238E27FC236}">
                <a16:creationId xmlns:a16="http://schemas.microsoft.com/office/drawing/2014/main" id="{0907B409-EB4C-4A63-8288-9089BBF80F81}"/>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6" name="Google Shape;116;p14">
            <a:extLst xmlns:a="http://schemas.openxmlformats.org/drawingml/2006/main">
              <a:ext uri="{FF2B5EF4-FFF2-40B4-BE49-F238E27FC236}">
                <a16:creationId xmlns:a16="http://schemas.microsoft.com/office/drawing/2014/main" id="{CADFC95E-9482-46B0-AABD-F263E4F8097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7" name="Google Shape;117;p14">
            <a:extLst xmlns:a="http://schemas.openxmlformats.org/drawingml/2006/main">
              <a:ext uri="{FF2B5EF4-FFF2-40B4-BE49-F238E27FC236}">
                <a16:creationId xmlns:a16="http://schemas.microsoft.com/office/drawing/2014/main" id="{9CD542A6-8DEB-4898-A281-8402746B1D0E}"/>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8" name="Google Shape;118;p14">
            <a:extLst xmlns:a="http://schemas.openxmlformats.org/drawingml/2006/main">
              <a:ext uri="{FF2B5EF4-FFF2-40B4-BE49-F238E27FC236}">
                <a16:creationId xmlns:a16="http://schemas.microsoft.com/office/drawing/2014/main" id="{A3FE0BC3-2E75-4D4E-9B66-C1A94E6646F2}"/>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19" name="Google Shape;119;p14">
            <a:extLst xmlns:a="http://schemas.openxmlformats.org/drawingml/2006/main">
              <a:ext uri="{FF2B5EF4-FFF2-40B4-BE49-F238E27FC236}">
                <a16:creationId xmlns:a16="http://schemas.microsoft.com/office/drawing/2014/main" id="{6A459216-0876-486B-B38E-114B6197E706}"/>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0" name="Google Shape;120;p14">
            <a:extLst xmlns:a="http://schemas.openxmlformats.org/drawingml/2006/main">
              <a:ext uri="{FF2B5EF4-FFF2-40B4-BE49-F238E27FC236}">
                <a16:creationId xmlns:a16="http://schemas.microsoft.com/office/drawing/2014/main" id="{D457603E-45EF-4622-9F0F-76F2C3D6BE00}"/>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1" name="Google Shape;121;p14">
            <a:extLst xmlns:a="http://schemas.openxmlformats.org/drawingml/2006/main">
              <a:ext uri="{FF2B5EF4-FFF2-40B4-BE49-F238E27FC236}">
                <a16:creationId xmlns:a16="http://schemas.microsoft.com/office/drawing/2014/main" id="{A9CA88B7-E994-43ED-8C8D-34932C8B4232}"/>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2" name="Google Shape;122;p14">
            <a:extLst xmlns:a="http://schemas.openxmlformats.org/drawingml/2006/main">
              <a:ext uri="{FF2B5EF4-FFF2-40B4-BE49-F238E27FC236}">
                <a16:creationId xmlns:a16="http://schemas.microsoft.com/office/drawing/2014/main" id="{4BDFE980-D927-4EE4-ADDC-EA1789DB6742}"/>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23" name="Google Shape;123;p14">
            <a:extLst xmlns:a="http://schemas.openxmlformats.org/drawingml/2006/main">
              <a:ext uri="{FF2B5EF4-FFF2-40B4-BE49-F238E27FC236}">
                <a16:creationId xmlns:a16="http://schemas.microsoft.com/office/drawing/2014/main" id="{79429AE1-F779-4C30-B0BB-667AA08912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f41e10d7a7c47e9">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24" name="MVP target / Synthetic credentials / Res">
            <a:extLst xmlns:a="http://schemas.openxmlformats.org/drawingml/2006/main">
              <a:ext uri="{FF2B5EF4-FFF2-40B4-BE49-F238E27FC236}">
                <a16:creationId xmlns:a16="http://schemas.microsoft.com/office/drawing/2014/main" id="{CDDD72DE-ED6D-40A2-B14F-4852985CDD99}"/>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164759222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03 / 06</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MARKET &amp; NOVELTY</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PMF</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Private deals stall when neither side wants to reveal first.</a:t>
            </a:r>
            <a:endParaRPr/>
          </a:p>
        </p:txBody>
      </p:sp>
      <p:sp>
        <p:nvSpPr>
          <p:cNvPr id="135" name="Google Shape;135;p15">
            <a:extLst xmlns:a="http://schemas.openxmlformats.org/drawingml/2006/main">
              <a:ext uri="{FF2B5EF4-FFF2-40B4-BE49-F238E27FC236}">
                <a16:creationId xmlns:a16="http://schemas.microsoft.com/office/drawing/2014/main" id="{C9CD2F9F-16B4-4510-9D95-C313CC3C4553}"/>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Customer: off-market platforms and licensed brokers in Portugal.</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Pain: repeated proof-of-funds checks and premature document sharing.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Pilot pricing hypothesis: €89/month or per-verification fees.</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Portugal, 2025: 169,812 home sales / €41.2B</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All home sales. Market context only. PMF remains unvalidated.</a:t>
            </a:r>
            <a:endParaRPr/>
          </a:p>
        </p:txBody>
      </p:sp>
      <p:sp>
        <p:nvSpPr>
          <p:cNvPr id="137" name="Google Shape;137;p15">
            <a:extLst xmlns:a="http://schemas.openxmlformats.org/drawingml/2006/main">
              <a:ext uri="{FF2B5EF4-FFF2-40B4-BE49-F238E27FC236}">
                <a16:creationId xmlns:a16="http://schemas.microsoft.com/office/drawing/2014/main" id="{74F228A4-C746-4172-9FB0-86AEC9DA356F}"/>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8" name="Google Shape;138;p15">
            <a:extLst xmlns:a="http://schemas.openxmlformats.org/drawingml/2006/main">
              <a:ext uri="{FF2B5EF4-FFF2-40B4-BE49-F238E27FC236}">
                <a16:creationId xmlns:a16="http://schemas.microsoft.com/office/drawing/2014/main" id="{2E0B6FF8-3448-46FD-9EA1-839F36DB9CA0}"/>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39" name="Google Shape;139;p15">
            <a:extLst xmlns:a="http://schemas.openxmlformats.org/drawingml/2006/main">
              <a:ext uri="{FF2B5EF4-FFF2-40B4-BE49-F238E27FC236}">
                <a16:creationId xmlns:a16="http://schemas.microsoft.com/office/drawing/2014/main" id="{B8FB9B13-CCB3-4F02-B634-D4975EA775EB}"/>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0" name="Google Shape;140;p15">
            <a:extLst xmlns:a="http://schemas.openxmlformats.org/drawingml/2006/main">
              <a:ext uri="{FF2B5EF4-FFF2-40B4-BE49-F238E27FC236}">
                <a16:creationId xmlns:a16="http://schemas.microsoft.com/office/drawing/2014/main" id="{C412191C-F8EC-4378-B412-8AB4044C6565}"/>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1" name="Google Shape;141;p15">
            <a:extLst xmlns:a="http://schemas.openxmlformats.org/drawingml/2006/main">
              <a:ext uri="{FF2B5EF4-FFF2-40B4-BE49-F238E27FC236}">
                <a16:creationId xmlns:a16="http://schemas.microsoft.com/office/drawing/2014/main" id="{9CE10CBE-059A-4300-9838-5EDF75E014D4}"/>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2" name="Google Shape;142;p15">
            <a:extLst xmlns:a="http://schemas.openxmlformats.org/drawingml/2006/main">
              <a:ext uri="{FF2B5EF4-FFF2-40B4-BE49-F238E27FC236}">
                <a16:creationId xmlns:a16="http://schemas.microsoft.com/office/drawing/2014/main" id="{A49E3154-44FA-4DE3-AD6F-8DA03BD006BD}"/>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ACCF7E95-59B0-44B8-BD53-964E4716823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b88137b15dd43b8">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605699683"/>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8" name="Google Shape;128;p15">
            <a:extLst xmlns:a="http://schemas.openxmlformats.org/drawingml/2006/main">
              <a:ext uri="{FF2B5EF4-FFF2-40B4-BE49-F238E27FC236}">
                <a16:creationId xmlns:a16="http://schemas.microsoft.com/office/drawing/2014/main" id="{1CACCFF2-0859-4175-AD1A-FDB4040A99E5}"/>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29" name="Google Shape;129;p15">
            <a:extLst xmlns:a="http://schemas.openxmlformats.org/drawingml/2006/main">
              <a:ext uri="{FF2B5EF4-FFF2-40B4-BE49-F238E27FC236}">
                <a16:creationId xmlns:a16="http://schemas.microsoft.com/office/drawing/2014/main" id="{EA7AACF9-18C1-46D0-B3CF-6B42825C6B64}"/>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04 / 06</a:t>
            </a:r>
            <a:endParaRPr/>
          </a:p>
        </p:txBody>
      </p:sp>
      <p:sp>
        <p:nvSpPr>
          <p:cNvPr id="130" name="Google Shape;130;p15">
            <a:extLst xmlns:a="http://schemas.openxmlformats.org/drawingml/2006/main">
              <a:ext uri="{FF2B5EF4-FFF2-40B4-BE49-F238E27FC236}">
                <a16:creationId xmlns:a16="http://schemas.microsoft.com/office/drawing/2014/main" id="{FE8A7E03-136E-4755-9831-C18A1B7BE522}"/>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31" name="Google Shape;131;p15">
            <a:extLst xmlns:a="http://schemas.openxmlformats.org/drawingml/2006/main">
              <a:ext uri="{FF2B5EF4-FFF2-40B4-BE49-F238E27FC236}">
                <a16:creationId xmlns:a16="http://schemas.microsoft.com/office/drawing/2014/main" id="{5BC347B0-B6EC-4692-81F3-207EACA60607}"/>
              </a:ext>
            </a:extLst>
          </p:cNvPr>
          <p:cNvSpPr>
            <a:spLocks xmlns:a="http://schemas.openxmlformats.org/drawingml/2006/main" noGrp="1"/>
          </p:cNvSpPr>
          <p:nvPr/>
        </p:nvSpPr>
        <p:spPr>
          <a:xfrm xmlns:a="http://schemas.openxmlformats.org/drawingml/2006/main">
            <a:off x="128016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TECHNICAL WORKFLOW</a:t>
            </a:r>
            <a:endParaRPr/>
          </a:p>
        </p:txBody>
      </p:sp>
      <p:sp>
        <p:nvSpPr>
          <p:cNvPr id="132" name="Google Shape;132;p15">
            <a:extLst xmlns:a="http://schemas.openxmlformats.org/drawingml/2006/main">
              <a:ext uri="{FF2B5EF4-FFF2-40B4-BE49-F238E27FC236}">
                <a16:creationId xmlns:a16="http://schemas.microsoft.com/office/drawing/2014/main" id="{F8A13CF1-A25D-4E32-8102-EFA29F5F2016}"/>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02 / 04</a:t>
            </a:r>
            <a:endParaRPr/>
          </a:p>
        </p:txBody>
      </p:sp>
      <p:sp>
        <p:nvSpPr>
          <p:cNvPr id="133" name="Google Shape;133;p15">
            <a:extLst xmlns:a="http://schemas.openxmlformats.org/drawingml/2006/main">
              <a:ext uri="{FF2B5EF4-FFF2-40B4-BE49-F238E27FC236}">
                <a16:creationId xmlns:a16="http://schemas.microsoft.com/office/drawing/2014/main" id="{F9D48B34-6046-4D6A-84F4-E543FF41D241}"/>
              </a:ext>
            </a:extLst>
          </p:cNvPr>
          <p:cNvSpPr>
            <a:spLocks xmlns:a="http://schemas.openxmlformats.org/drawingml/2006/main" noGrp="1"/>
          </p:cNvSpPr>
          <p:nvPr/>
        </p:nvSpPr>
        <p:spPr>
          <a:xfrm xmlns:a="http://schemas.openxmlformats.org/drawingml/2006/main">
            <a:off x="914400" y="2103120"/>
            <a:ext cx="164592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MARKET &amp; NOVELTY</a:t>
            </a:r>
            <a:endParaRPr/>
          </a:p>
        </p:txBody>
      </p:sp>
      <p:sp>
        <p:nvSpPr>
          <p:cNvPr id="134" name="Google Shape;134;p15">
            <a:extLst xmlns:a="http://schemas.openxmlformats.org/drawingml/2006/main">
              <a:ext uri="{FF2B5EF4-FFF2-40B4-BE49-F238E27FC236}">
                <a16:creationId xmlns:a16="http://schemas.microsoft.com/office/drawing/2014/main" id="{46711E22-7820-4DB1-B281-EECD6361D54B}"/>
              </a:ext>
            </a:extLst>
          </p:cNvPr>
          <p:cNvSpPr>
            <a:spLocks xmlns:a="http://schemas.openxmlformats.org/drawingml/2006/main" noGrp="1"/>
          </p:cNvSpPr>
          <p:nvPr/>
        </p:nvSpPr>
        <p:spPr>
          <a:xfrm xmlns:a="http://schemas.openxmlformats.org/drawingml/2006/main">
            <a:off x="914400" y="3931920"/>
            <a:ext cx="164592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A live market for verification. A gap in how the checks connect.</a:t>
            </a:r>
            <a:endParaRPr/>
          </a:p>
        </p:txBody>
      </p:sp>
      <p:sp>
        <p:nvSpPr>
          <p:cNvPr id="136" name="Google Shape;136;p15">
            <a:extLst xmlns:a="http://schemas.openxmlformats.org/drawingml/2006/main">
              <a:ext uri="{FF2B5EF4-FFF2-40B4-BE49-F238E27FC236}">
                <a16:creationId xmlns:a16="http://schemas.microsoft.com/office/drawing/2014/main" id="{4050DBC0-6091-47E0-B7A9-EAA8BCA99F7A}"/>
              </a:ext>
            </a:extLst>
          </p:cNvPr>
          <p:cNvSpPr>
            <a:spLocks xmlns:a="http://schemas.openxmlformats.org/drawingml/2006/main" noGrp="1"/>
          </p:cNvSpPr>
          <p:nvPr/>
        </p:nvSpPr>
        <p:spPr>
          <a:xfrm xmlns:a="http://schemas.openxmlformats.org/drawingml/2006/main">
            <a:off x="914400" y="7639050"/>
            <a:ext cx="16459200" cy="97155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Market signal: MERKAO reports 250+ verified professionals.</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Our focus: private buyer proof, property authority and mutual consent.</a:t>
            </a:r>
            <a:endParaRPr/>
          </a:p>
        </p:txBody>
      </p:sp>
      <p:sp>
        <p:nvSpPr>
          <p:cNvPr id="143" name="Google Shape;143;p15">
            <a:extLst xmlns:a="http://schemas.openxmlformats.org/drawingml/2006/main">
              <a:ext uri="{FF2B5EF4-FFF2-40B4-BE49-F238E27FC236}">
                <a16:creationId xmlns:a16="http://schemas.microsoft.com/office/drawing/2014/main" id="{5FA9BDC6-F6A3-417E-B835-64E216B97A9B}"/>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44" name="Google Shape;144;p15">
            <a:extLst xmlns:a="http://schemas.openxmlformats.org/drawingml/2006/main">
              <a:ext uri="{FF2B5EF4-FFF2-40B4-BE49-F238E27FC236}">
                <a16:creationId xmlns:a16="http://schemas.microsoft.com/office/drawing/2014/main" id="{7AA68957-D4AE-4622-9212-5A1E09A45628}"/>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45" name="Google Shape;145;p15">
            <a:extLst xmlns:a="http://schemas.openxmlformats.org/drawingml/2006/main">
              <a:ext uri="{FF2B5EF4-FFF2-40B4-BE49-F238E27FC236}">
                <a16:creationId xmlns:a16="http://schemas.microsoft.com/office/drawing/2014/main" id="{ACCF7E95-59B0-44B8-BD53-964E4716823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57db581e89246ac">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46" name="MVP target / Synthetic credentials / Res">
            <a:extLst xmlns:a="http://schemas.openxmlformats.org/drawingml/2006/main">
              <a:ext uri="{FF2B5EF4-FFF2-40B4-BE49-F238E27FC236}">
                <a16:creationId xmlns:a16="http://schemas.microsoft.com/office/drawing/2014/main" id="{D4B2C258-B5A7-4FE3-95B8-64D3820127BD}"/>
              </a:ext>
            </a:extLst>
          </p:cNvPr>
          <p:cNvSpPr>
            <a:spLocks xmlns:a="http://schemas.openxmlformats.org/drawingml/2006/main" noGrp="1"/>
          </p:cNvSpPr>
          <p:nvPr/>
        </p:nvSpPr>
        <p:spPr>
          <a:xfrm xmlns:a="http://schemas.openxmlformats.org/drawingml/2006/main">
            <a:off x="914400" y="8686800"/>
            <a:ext cx="1645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200">
                <a:solidFill>
                  <a:srgbClr val="5C5C5C"/>
                </a:solidFill>
                <a:latin typeface="JetBrains Mono"/>
                <a:ea typeface="JetBrains Mono"/>
                <a:cs typeface="JetBrains Mono"/>
              </a:defRPr>
            </a:pPr>
            <a:r>
              <a:rPr sz="1200">
                <a:solidFill>
                  <a:srgbClr val="5C5C5C"/>
                </a:solidFill>
                <a:latin typeface="JetBrains Mono"/>
                <a:ea typeface="JetBrains Mono"/>
                <a:cs typeface="JetBrains Mono"/>
              </a:rPr>
              <a:t>Vendor claims are not audited. Deal Passport demand remains unvalidated.</a:t>
            </a:r>
          </a:p>
        </p:txBody>
      </p:sp>
      <p:graphicFrame>
        <p:nvGraphicFramePr>
          <p:cNvPr id="147" name="">
            <a:extLst xmlns:a="http://schemas.openxmlformats.org/drawingml/2006/main">
              <a:ext uri="{FF2B5EF4-FFF2-40B4-BE49-F238E27FC236}">
                <a16:creationId xmlns:a16="http://schemas.microsoft.com/office/drawing/2014/main" id="{854763A8-AB6B-4BD7-B1B2-CFCEAAAB29B1}"/>
              </a:ext>
            </a:extLst>
          </p:cNvPr>
          <p:cNvGraphicFramePr/>
          <p:nvPr/>
        </p:nvGraphicFramePr>
        <p:xfrm>
          <a:off xmlns:a="http://schemas.openxmlformats.org/drawingml/2006/main" x="914400" y="4709160"/>
          <a:ext xmlns:a="http://schemas.openxmlformats.org/drawingml/2006/main" cx="16459200" cy="2628900"/>
        </p:xfrm>
        <a:graphic xmlns:a="http://schemas.openxmlformats.org/drawingml/2006/main">
          <a:graphicData uri="http://schemas.openxmlformats.org/drawingml/2006/table">
            <a:tbl>
              <a:tblPr firstRow="0" bandRow="0"/>
              <a:tblGrid>
                <a:gridCol w="2476500"/>
                <a:gridCol w="5905500"/>
                <a:gridCol w="8077200"/>
              </a:tblGrid>
              <a:tr h="514350">
                <a:tc>
                  <a:txBody>
                    <a:bodyPr lIns="171450" tIns="76200" rIns="171450" bIns="76200">
                      <a:noAutofit/>
                    </a:bodyPr>
                    <a:lstStyle/>
                    <a:p>
                      <a:r>
                        <a:rPr sz="2000" b="1">
                          <a:solidFill>
                            <a:srgbClr val="FDDA24"/>
                          </a:solidFill>
                          <a:latin typeface="Instrument Sans"/>
                          <a:ea typeface="Instrument Sans"/>
                          <a:cs typeface="Instrument Sans"/>
                        </a:rPr>
                        <a:t>Product</a:t>
                      </a:r>
                    </a:p>
                  </a:txBody>
                  <a:tcPr marL="91440" marR="91440" marT="45720" marB="45720" anchor="ctr">
                    <a:lnL w="9525">
                      <a:solidFill>
                        <a:srgbClr val="DFDDD6"/>
                      </a:solidFill>
                      <a:prstDash val="solid"/>
                    </a:lnL>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71450" tIns="76200" rIns="171450" bIns="76200">
                      <a:noAutofit/>
                    </a:bodyPr>
                    <a:lstStyle/>
                    <a:p>
                      <a:r>
                        <a:rPr sz="2000" b="1">
                          <a:solidFill>
                            <a:srgbClr val="FDDA24"/>
                          </a:solidFill>
                          <a:latin typeface="Instrument Sans"/>
                          <a:ea typeface="Instrument Sans"/>
                          <a:cs typeface="Instrument Sans"/>
                        </a:rPr>
                        <a:t>Existing offer</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c>
                  <a:txBody>
                    <a:bodyPr lIns="171450" tIns="76200" rIns="171450" bIns="76200">
                      <a:noAutofit/>
                    </a:bodyPr>
                    <a:lstStyle/>
                    <a:p>
                      <a:r>
                        <a:rPr sz="2000" b="1">
                          <a:solidFill>
                            <a:srgbClr val="FDDA24"/>
                          </a:solidFill>
                          <a:latin typeface="Instrument Sans"/>
                          <a:ea typeface="Instrument Sans"/>
                          <a:cs typeface="Instrument Sans"/>
                        </a:rPr>
                        <a:t>Our proposed addition</a:t>
                      </a:r>
                    </a:p>
                  </a:txBody>
                  <a:tcPr marL="91440" marR="91440" marT="45720" marB="45720" anchor="ctr">
                    <a:lnR w="9525">
                      <a:solidFill>
                        <a:srgbClr val="DFDDD6"/>
                      </a:solidFill>
                      <a:prstDash val="solid"/>
                    </a:lnR>
                    <a:lnT w="9525">
                      <a:solidFill>
                        <a:srgbClr val="DFDDD6"/>
                      </a:solidFill>
                      <a:prstDash val="solid"/>
                    </a:lnT>
                    <a:lnB w="9525">
                      <a:solidFill>
                        <a:srgbClr val="DFDDD6"/>
                      </a:solidFill>
                      <a:prstDash val="solid"/>
                    </a:lnB>
                    <a:solidFill>
                      <a:srgbClr val="0F0F0F"/>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RealOpen</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Crypto buyer verification</a:t>
                      </a:r>
                    </a:p>
                    <a:p>
                      <a:r>
                        <a:rPr sz="2000" b="0">
                          <a:solidFill>
                            <a:srgbClr val="2A2A2A"/>
                          </a:solidFill>
                          <a:latin typeface="Instrument Sans"/>
                          <a:ea typeface="Instrument Sans"/>
                          <a:cs typeface="Instrument Sans"/>
                        </a:rPr>
                        <a:t>Balance-disclosing funds letter</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Prove a threshold while hiding the exact balance</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IntegraLayer</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Attested property data</a:t>
                      </a:r>
                    </a:p>
                    <a:p>
                      <a:r>
                        <a:rPr sz="2000" b="0">
                          <a:solidFill>
                            <a:srgbClr val="2A2A2A"/>
                          </a:solidFill>
                          <a:latin typeface="Instrument Sans"/>
                          <a:ea typeface="Instrument Sans"/>
                          <a:cs typeface="Instrument Sans"/>
                        </a:rPr>
                        <a:t>Onchain Asset Passport</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Use a property claim to qualify a specific deal</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r h="704850">
                <a:tc>
                  <a:txBody>
                    <a:bodyPr lIns="171450" tIns="76200" rIns="171450" bIns="76200">
                      <a:noAutofit/>
                    </a:bodyPr>
                    <a:lstStyle/>
                    <a:p>
                      <a:r>
                        <a:rPr sz="2000" b="1">
                          <a:solidFill>
                            <a:srgbClr val="2A2A2A"/>
                          </a:solidFill>
                          <a:latin typeface="Instrument Sans"/>
                          <a:ea typeface="Instrument Sans"/>
                          <a:cs typeface="Instrument Sans"/>
                        </a:rPr>
                        <a:t>MERKAO</a:t>
                      </a:r>
                    </a:p>
                  </a:txBody>
                  <a:tcPr marL="91440" marR="91440" marT="45720" marB="45720" anchor="ctr">
                    <a:lnL w="9525">
                      <a:solidFill>
                        <a:srgbClr val="DFDDD6"/>
                      </a:solidFill>
                      <a:prstDash val="solid"/>
                    </a:lnL>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Verified counterparties</a:t>
                      </a:r>
                    </a:p>
                    <a:p>
                      <a:r>
                        <a:rPr sz="2000" b="0">
                          <a:solidFill>
                            <a:srgbClr val="2A2A2A"/>
                          </a:solidFill>
                          <a:latin typeface="Instrument Sans"/>
                          <a:ea typeface="Instrument Sans"/>
                          <a:cs typeface="Instrument Sans"/>
                        </a:rPr>
                        <a:t>NDA and private data rooms</a:t>
                      </a:r>
                    </a:p>
                  </a:txBody>
                  <a:tcPr marL="91440" marR="91440" marT="45720" marB="45720" anchor="ctr">
                    <a:lnR w="9525">
                      <a:solidFill>
                        <a:srgbClr val="DFDDD6"/>
                      </a:solidFill>
                      <a:prstDash val="solid"/>
                    </a:lnR>
                    <a:lnB w="9525">
                      <a:solidFill>
                        <a:srgbClr val="DFDDD6"/>
                      </a:solidFill>
                      <a:prstDash val="solid"/>
                    </a:lnB>
                    <a:solidFill>
                      <a:srgbClr val="F7F6F2"/>
                    </a:solidFill>
                  </a:tcPr>
                </a:tc>
                <a:tc>
                  <a:txBody>
                    <a:bodyPr lIns="171450" tIns="76200" rIns="171450" bIns="76200">
                      <a:noAutofit/>
                    </a:bodyPr>
                    <a:lstStyle/>
                    <a:p>
                      <a:r>
                        <a:rPr sz="2000" b="0">
                          <a:solidFill>
                            <a:srgbClr val="2A2A2A"/>
                          </a:solidFill>
                          <a:latin typeface="Instrument Sans"/>
                          <a:ea typeface="Instrument Sans"/>
                          <a:cs typeface="Instrument Sans"/>
                        </a:rPr>
                        <a:t>Enforce one mutual policy with Stellar verification</a:t>
                      </a:r>
                    </a:p>
                  </a:txBody>
                  <a:tcPr marL="91440" marR="91440" marT="45720" marB="45720" anchor="ctr">
                    <a:lnR w="9525">
                      <a:solidFill>
                        <a:srgbClr val="DFDDD6"/>
                      </a:solidFill>
                      <a:prstDash val="solid"/>
                    </a:lnR>
                    <a:lnB w="9525">
                      <a:solidFill>
                        <a:srgbClr val="DFDDD6"/>
                      </a:solidFill>
                      <a:prstDash val="solid"/>
                    </a:lnB>
                    <a:solidFill>
                      <a:srgbClr val="F7F6F2"/>
                    </a:solidFill>
                  </a:tcPr>
                </a:tc>
              </a:tr>
            </a:tbl>
          </a:graphicData>
        </a:graphic>
      </p:graphicFrame>
    </p:spTree>
    <p:extLst>
      <p:ext uri="{BB962C8B-B14F-4D97-AF65-F5344CB8AC3E}">
        <p14:creationId xmlns:p14="http://schemas.microsoft.com/office/powerpoint/2010/main" val="605699683"/>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0" name="Google Shape;150;p16">
            <a:extLst xmlns:a="http://schemas.openxmlformats.org/drawingml/2006/main">
              <a:ext uri="{FF2B5EF4-FFF2-40B4-BE49-F238E27FC236}">
                <a16:creationId xmlns:a16="http://schemas.microsoft.com/office/drawing/2014/main" id="{85C5989C-8846-4E3B-B50D-094140EABE6A}"/>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51" name="Google Shape;151;p16">
            <a:extLst xmlns:a="http://schemas.openxmlformats.org/drawingml/2006/main">
              <a:ext uri="{FF2B5EF4-FFF2-40B4-BE49-F238E27FC236}">
                <a16:creationId xmlns:a16="http://schemas.microsoft.com/office/drawing/2014/main" id="{F00A8A7B-FFA5-4E89-8C3F-E8F5353DF9DD}"/>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05 / 06</a:t>
            </a:r>
            <a:endParaRPr/>
          </a:p>
        </p:txBody>
      </p:sp>
      <p:sp>
        <p:nvSpPr>
          <p:cNvPr id="152" name="Google Shape;152;p16">
            <a:extLst xmlns:a="http://schemas.openxmlformats.org/drawingml/2006/main">
              <a:ext uri="{FF2B5EF4-FFF2-40B4-BE49-F238E27FC236}">
                <a16:creationId xmlns:a16="http://schemas.microsoft.com/office/drawing/2014/main" id="{CD34A260-CF33-49E2-84D1-C699D5B2A6F6}"/>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53" name="Google Shape;153;p16">
            <a:extLst xmlns:a="http://schemas.openxmlformats.org/drawingml/2006/main">
              <a:ext uri="{FF2B5EF4-FFF2-40B4-BE49-F238E27FC236}">
                <a16:creationId xmlns:a16="http://schemas.microsoft.com/office/drawing/2014/main" id="{7A35BA08-81A7-42ED-B825-39793C0216DF}"/>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NEXT ▸ THE TEAM</a:t>
            </a:r>
            <a:endParaRPr/>
          </a:p>
        </p:txBody>
      </p:sp>
      <p:sp>
        <p:nvSpPr>
          <p:cNvPr id="154" name="Google Shape;154;p16">
            <a:extLst xmlns:a="http://schemas.openxmlformats.org/drawingml/2006/main">
              <a:ext uri="{FF2B5EF4-FFF2-40B4-BE49-F238E27FC236}">
                <a16:creationId xmlns:a16="http://schemas.microsoft.com/office/drawing/2014/main" id="{E27254A5-EED6-4B59-9DD7-31D3C56D172B}"/>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03 / 04</a:t>
            </a:r>
            <a:endParaRPr/>
          </a:p>
        </p:txBody>
      </p:sp>
      <p:sp>
        <p:nvSpPr>
          <p:cNvPr id="155" name="Google Shape;155;p16">
            <a:extLst xmlns:a="http://schemas.openxmlformats.org/drawingml/2006/main">
              <a:ext uri="{FF2B5EF4-FFF2-40B4-BE49-F238E27FC236}">
                <a16:creationId xmlns:a16="http://schemas.microsoft.com/office/drawing/2014/main" id="{E483756A-1762-4828-884A-E49505290C43}"/>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TECHNICAL WORKFLOW</a:t>
            </a:r>
            <a:endParaRPr/>
          </a:p>
        </p:txBody>
      </p:sp>
      <p:sp>
        <p:nvSpPr>
          <p:cNvPr id="156" name="Google Shape;156;p16">
            <a:extLst xmlns:a="http://schemas.openxmlformats.org/drawingml/2006/main">
              <a:ext uri="{FF2B5EF4-FFF2-40B4-BE49-F238E27FC236}">
                <a16:creationId xmlns:a16="http://schemas.microsoft.com/office/drawing/2014/main" id="{CA0E6CDD-3EB4-4254-809E-2FE090F966A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Issuer-backed ZK verification controls room access.</a:t>
            </a:r>
            <a:endParaRPr/>
          </a:p>
        </p:txBody>
      </p:sp>
      <p:sp>
        <p:nvSpPr>
          <p:cNvPr id="157" name="Google Shape;157;p16">
            <a:extLst xmlns:a="http://schemas.openxmlformats.org/drawingml/2006/main">
              <a:ext uri="{FF2B5EF4-FFF2-40B4-BE49-F238E27FC236}">
                <a16:creationId xmlns:a16="http://schemas.microsoft.com/office/drawing/2014/main" id="{3780A7D6-3C8C-428E-97D0-8DE277659E5B}"/>
              </a:ext>
            </a:extLst>
          </p:cNvPr>
          <p:cNvSpPr>
            <a:spLocks xmlns:a="http://schemas.openxmlformats.org/drawingml/2006/main" noGrp="1"/>
          </p:cNvSpPr>
          <p:nvPr/>
        </p:nvSpPr>
        <p:spPr>
          <a:xfrm xmlns:a="http://schemas.openxmlformats.org/drawingml/2006/main">
            <a:off x="914400" y="4709160"/>
            <a:ext cx="11612880" cy="1844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Issuers register a financial root and a property-authority claim.</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Circom / snarkjs proves balance, membership, expiry and deal binding.</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Soroban verifies Groth16 with BN254 and rejects reused nullifiers.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Worker checks chain state and both consents before serving the dossier.</a:t>
            </a:r>
            <a:endParaRPr/>
          </a:p>
        </p:txBody>
      </p:sp>
      <p:sp>
        <p:nvSpPr>
          <p:cNvPr id="158" name="Google Shape;158;p16">
            <a:extLst xmlns:a="http://schemas.openxmlformats.org/drawingml/2006/main">
              <a:ext uri="{FF2B5EF4-FFF2-40B4-BE49-F238E27FC236}">
                <a16:creationId xmlns:a16="http://schemas.microsoft.com/office/drawing/2014/main" id="{9E580F45-3BC9-4FD8-AAA0-9BF7110165A8}"/>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Verified: issuer-bound buyer proof passes on Stellar Testnet.</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Next: seller attestation and consent-controlled dossier access.</a:t>
            </a:r>
            <a:endParaRPr/>
          </a:p>
        </p:txBody>
      </p:sp>
      <p:sp>
        <p:nvSpPr>
          <p:cNvPr id="159" name="Google Shape;159;p16">
            <a:extLst xmlns:a="http://schemas.openxmlformats.org/drawingml/2006/main">
              <a:ext uri="{FF2B5EF4-FFF2-40B4-BE49-F238E27FC236}">
                <a16:creationId xmlns:a16="http://schemas.microsoft.com/office/drawing/2014/main" id="{5E25FB48-E0C5-4FD0-BE64-19BB799284E5}"/>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0" name="Google Shape;160;p16">
            <a:extLst xmlns:a="http://schemas.openxmlformats.org/drawingml/2006/main">
              <a:ext uri="{FF2B5EF4-FFF2-40B4-BE49-F238E27FC236}">
                <a16:creationId xmlns:a16="http://schemas.microsoft.com/office/drawing/2014/main" id="{225DC292-25C9-4C1B-BFF1-D9867A9A3809}"/>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1" name="Google Shape;161;p16">
            <a:extLst xmlns:a="http://schemas.openxmlformats.org/drawingml/2006/main">
              <a:ext uri="{FF2B5EF4-FFF2-40B4-BE49-F238E27FC236}">
                <a16:creationId xmlns:a16="http://schemas.microsoft.com/office/drawing/2014/main" id="{2EA02A3F-5C96-4A69-8B08-75A949EB7C73}"/>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2" name="Google Shape;162;p16">
            <a:extLst xmlns:a="http://schemas.openxmlformats.org/drawingml/2006/main">
              <a:ext uri="{FF2B5EF4-FFF2-40B4-BE49-F238E27FC236}">
                <a16:creationId xmlns:a16="http://schemas.microsoft.com/office/drawing/2014/main" id="{C6EECAC9-2613-4D82-AAD6-712842CD8D81}"/>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3" name="Google Shape;163;p16">
            <a:extLst xmlns:a="http://schemas.openxmlformats.org/drawingml/2006/main">
              <a:ext uri="{FF2B5EF4-FFF2-40B4-BE49-F238E27FC236}">
                <a16:creationId xmlns:a16="http://schemas.microsoft.com/office/drawing/2014/main" id="{B86BDDB9-00F3-4666-BD15-818A68DA84ED}"/>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4" name="Google Shape;164;p16">
            <a:extLst xmlns:a="http://schemas.openxmlformats.org/drawingml/2006/main">
              <a:ext uri="{FF2B5EF4-FFF2-40B4-BE49-F238E27FC236}">
                <a16:creationId xmlns:a16="http://schemas.microsoft.com/office/drawing/2014/main" id="{A6772044-DF10-4EFE-83D1-1CCCD6C1AB2B}"/>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5" name="Google Shape;165;p16">
            <a:extLst xmlns:a="http://schemas.openxmlformats.org/drawingml/2006/main">
              <a:ext uri="{FF2B5EF4-FFF2-40B4-BE49-F238E27FC236}">
                <a16:creationId xmlns:a16="http://schemas.microsoft.com/office/drawing/2014/main" id="{163CDBDC-9112-4D61-A40D-A65102F4A86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66" name="Google Shape;166;p16">
            <a:extLst xmlns:a="http://schemas.openxmlformats.org/drawingml/2006/main">
              <a:ext uri="{FF2B5EF4-FFF2-40B4-BE49-F238E27FC236}">
                <a16:creationId xmlns:a16="http://schemas.microsoft.com/office/drawing/2014/main" id="{122CBE82-5757-4450-BC19-BDEDAACCAFA7}"/>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67" name="Google Shape;167;p16">
            <a:extLst xmlns:a="http://schemas.openxmlformats.org/drawingml/2006/main">
              <a:ext uri="{FF2B5EF4-FFF2-40B4-BE49-F238E27FC236}">
                <a16:creationId xmlns:a16="http://schemas.microsoft.com/office/drawing/2014/main" id="{9B7719B8-8D9A-4A95-92ED-1B0D671511E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6fde37850594388">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68" name="MVP target / Synthetic credentials / Res">
            <a:extLst xmlns:a="http://schemas.openxmlformats.org/drawingml/2006/main">
              <a:ext uri="{FF2B5EF4-FFF2-40B4-BE49-F238E27FC236}">
                <a16:creationId xmlns:a16="http://schemas.microsoft.com/office/drawing/2014/main" id="{9DD9E96E-2EB2-492A-99E2-5FE7CFDECCA8}"/>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Buyer ZK verified on Testnet / Seller and disclosure workflow in progress</a:t>
            </a:r>
          </a:p>
        </p:txBody>
      </p:sp>
    </p:spTree>
    <p:extLst>
      <p:ext uri="{BB962C8B-B14F-4D97-AF65-F5344CB8AC3E}">
        <p14:creationId xmlns:p14="http://schemas.microsoft.com/office/powerpoint/2010/main" val="697853663"/>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2" name="Google Shape;172;p17">
            <a:extLst xmlns:a="http://schemas.openxmlformats.org/drawingml/2006/main">
              <a:ext uri="{FF2B5EF4-FFF2-40B4-BE49-F238E27FC236}">
                <a16:creationId xmlns:a16="http://schemas.microsoft.com/office/drawing/2014/main" id="{7D3EBED5-A39C-4D54-9B1B-2EE35C86EB96}"/>
              </a:ext>
            </a:extLst>
          </p:cNvPr>
          <p:cNvSpPr>
            <a:spLocks xmlns:a="http://schemas.openxmlformats.org/drawingml/2006/main" noGrp="1"/>
          </p:cNvSpPr>
          <p:nvPr/>
        </p:nvSpPr>
        <p:spPr>
          <a:xfrm xmlns:a="http://schemas.openxmlformats.org/drawingml/2006/main">
            <a:off x="0" y="0"/>
            <a:ext cx="18288000" cy="731520"/>
          </a:xfrm>
          <a:prstGeom xmlns:a="http://schemas.openxmlformats.org/drawingml/2006/main" prst="rect">
            <a:avLst/>
          </a:prstGeom>
          <a:solidFill xmlns:a="http://schemas.openxmlformats.org/drawingml/2006/main">
            <a:srgbClr val="0F0F0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73" name="Google Shape;173;p17">
            <a:extLst xmlns:a="http://schemas.openxmlformats.org/drawingml/2006/main">
              <a:ext uri="{FF2B5EF4-FFF2-40B4-BE49-F238E27FC236}">
                <a16:creationId xmlns:a16="http://schemas.microsoft.com/office/drawing/2014/main" id="{B6942BC0-7BB3-4ED3-BFA2-800719DEC8D5}"/>
              </a:ext>
            </a:extLst>
          </p:cNvPr>
          <p:cNvSpPr>
            <a:spLocks xmlns:a="http://schemas.openxmlformats.org/drawingml/2006/main" noGrp="1"/>
          </p:cNvSpPr>
          <p:nvPr/>
        </p:nvSpPr>
        <p:spPr>
          <a:xfrm xmlns:a="http://schemas.openxmlformats.org/drawingml/2006/main">
            <a:off x="914400" y="201168"/>
            <a:ext cx="4572000" cy="21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400" b="1" i="0" u="none" strike="noStrike" cap="none">
                <a:solidFill>
                  <a:srgbClr val="FDDA24"/>
                </a:solidFill>
                <a:latin typeface="JetBrains Mono"/>
                <a:ea typeface="JetBrains Mono"/>
                <a:cs typeface="JetBrains Mono"/>
              </a:rPr>
              <a:t>PLATFORM 06 / 06</a:t>
            </a:r>
            <a:endParaRPr/>
          </a:p>
        </p:txBody>
      </p:sp>
      <p:sp>
        <p:nvSpPr>
          <p:cNvPr id="174" name="Google Shape;174;p17">
            <a:extLst xmlns:a="http://schemas.openxmlformats.org/drawingml/2006/main">
              <a:ext uri="{FF2B5EF4-FFF2-40B4-BE49-F238E27FC236}">
                <a16:creationId xmlns:a16="http://schemas.microsoft.com/office/drawing/2014/main" id="{01357805-7734-4188-B64F-8AB1AA620B80}"/>
              </a:ext>
            </a:extLst>
          </p:cNvPr>
          <p:cNvSpPr>
            <a:spLocks xmlns:a="http://schemas.openxmlformats.org/drawingml/2006/main" noGrp="1"/>
          </p:cNvSpPr>
          <p:nvPr/>
        </p:nvSpPr>
        <p:spPr>
          <a:xfrm xmlns:a="http://schemas.openxmlformats.org/drawingml/2006/main">
            <a:off x="5486400" y="201168"/>
            <a:ext cx="73152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spcBef>
                <a:spcPts val="0"/>
              </a:spcBef>
              <a:spcAft>
                <a:spcPts val="0"/>
              </a:spcAft>
              <a:buNone/>
            </a:pPr>
            <a:r>
              <a:rPr sz="1400" b="1" i="0" u="none" strike="noStrike" cap="none">
                <a:solidFill>
                  <a:srgbClr val="FFFFFF"/>
                </a:solidFill>
                <a:latin typeface="JetBrains Mono"/>
                <a:ea typeface="JetBrains Mono"/>
                <a:cs typeface="JetBrains Mono"/>
              </a:rPr>
              <a:t>HACKMERIDIAN 2026 · LISBON</a:t>
            </a:r>
            <a:endParaRPr/>
          </a:p>
        </p:txBody>
      </p:sp>
      <p:sp>
        <p:nvSpPr>
          <p:cNvPr id="175" name="Google Shape;175;p17">
            <a:extLst xmlns:a="http://schemas.openxmlformats.org/drawingml/2006/main">
              <a:ext uri="{FF2B5EF4-FFF2-40B4-BE49-F238E27FC236}">
                <a16:creationId xmlns:a16="http://schemas.microsoft.com/office/drawing/2014/main" id="{542C1F76-E1C2-4C92-97A2-1BB724409F05}"/>
              </a:ext>
            </a:extLst>
          </p:cNvPr>
          <p:cNvSpPr>
            <a:spLocks xmlns:a="http://schemas.openxmlformats.org/drawingml/2006/main" noGrp="1"/>
          </p:cNvSpPr>
          <p:nvPr/>
        </p:nvSpPr>
        <p:spPr>
          <a:xfrm xmlns:a="http://schemas.openxmlformats.org/drawingml/2006/main">
            <a:off x="12801600" y="201168"/>
            <a:ext cx="4572000" cy="329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r">
              <a:spcBef>
                <a:spcPts val="0"/>
              </a:spcBef>
              <a:spcAft>
                <a:spcPts val="0"/>
              </a:spcAft>
              <a:buNone/>
            </a:pPr>
            <a:r>
              <a:rPr sz="1400" b="1" i="0" u="none" strike="noStrike" cap="none">
                <a:solidFill>
                  <a:srgbClr val="FFFFFF"/>
                </a:solidFill>
                <a:latin typeface="JetBrains Mono"/>
                <a:ea typeface="JetBrains Mono"/>
                <a:cs typeface="JetBrains Mono"/>
              </a:rPr>
              <a:t>FINAL STOP</a:t>
            </a:r>
            <a:endParaRPr/>
          </a:p>
        </p:txBody>
      </p:sp>
      <p:sp>
        <p:nvSpPr>
          <p:cNvPr id="176" name="Google Shape;176;p17">
            <a:extLst xmlns:a="http://schemas.openxmlformats.org/drawingml/2006/main">
              <a:ext uri="{FF2B5EF4-FFF2-40B4-BE49-F238E27FC236}">
                <a16:creationId xmlns:a16="http://schemas.microsoft.com/office/drawing/2014/main" id="{7F2DC12A-4C10-45E9-BC2A-90657FE294FF}"/>
              </a:ext>
            </a:extLst>
          </p:cNvPr>
          <p:cNvSpPr>
            <a:spLocks xmlns:a="http://schemas.openxmlformats.org/drawingml/2006/main" noGrp="1"/>
          </p:cNvSpPr>
          <p:nvPr/>
        </p:nvSpPr>
        <p:spPr>
          <a:xfrm xmlns:a="http://schemas.openxmlformats.org/drawingml/2006/main">
            <a:off x="914400" y="1417320"/>
            <a:ext cx="2651760" cy="475488"/>
          </a:xfrm>
          <a:prstGeom xmlns:a="http://schemas.openxmlformats.org/drawingml/2006/main" prst="roundRect">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None/>
            </a:pPr>
            <a:r>
              <a:rPr sz="1200" b="1" i="0" u="none" strike="noStrike" cap="none">
                <a:solidFill>
                  <a:srgbClr val="0F0F0F"/>
                </a:solidFill>
                <a:latin typeface="JetBrains Mono"/>
                <a:ea typeface="JetBrains Mono"/>
                <a:cs typeface="JetBrains Mono"/>
              </a:rPr>
              <a:t>PITCH STEP 04 / 04</a:t>
            </a:r>
            <a:endParaRPr/>
          </a:p>
        </p:txBody>
      </p:sp>
      <p:sp>
        <p:nvSpPr>
          <p:cNvPr id="177" name="Google Shape;177;p17">
            <a:extLst xmlns:a="http://schemas.openxmlformats.org/drawingml/2006/main">
              <a:ext uri="{FF2B5EF4-FFF2-40B4-BE49-F238E27FC236}">
                <a16:creationId xmlns:a16="http://schemas.microsoft.com/office/drawing/2014/main" id="{6A8F7DCB-4E34-4EB3-9720-8FBA8683AE5D}"/>
              </a:ext>
            </a:extLst>
          </p:cNvPr>
          <p:cNvSpPr>
            <a:spLocks xmlns:a="http://schemas.openxmlformats.org/drawingml/2006/main" noGrp="1"/>
          </p:cNvSpPr>
          <p:nvPr/>
        </p:nvSpPr>
        <p:spPr>
          <a:xfrm xmlns:a="http://schemas.openxmlformats.org/drawingml/2006/main">
            <a:off x="914400" y="2103120"/>
            <a:ext cx="164592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10000" b="1" i="0" u="none" strike="noStrike" cap="none">
                <a:solidFill>
                  <a:srgbClr val="0F0F0F"/>
                </a:solidFill>
                <a:latin typeface="Inter Tight"/>
                <a:ea typeface="Inter Tight"/>
                <a:cs typeface="Inter Tight"/>
              </a:rPr>
              <a:t>THE TEAM</a:t>
            </a:r>
            <a:endParaRPr/>
          </a:p>
        </p:txBody>
      </p:sp>
      <p:sp>
        <p:nvSpPr>
          <p:cNvPr id="178" name="Google Shape;178;p17">
            <a:extLst xmlns:a="http://schemas.openxmlformats.org/drawingml/2006/main">
              <a:ext uri="{FF2B5EF4-FFF2-40B4-BE49-F238E27FC236}">
                <a16:creationId xmlns:a16="http://schemas.microsoft.com/office/drawing/2014/main" id="{AA494132-E033-4DE6-8898-89FA0F1019F4}"/>
              </a:ext>
            </a:extLst>
          </p:cNvPr>
          <p:cNvSpPr>
            <a:spLocks xmlns:a="http://schemas.openxmlformats.org/drawingml/2006/main" noGrp="1"/>
          </p:cNvSpPr>
          <p:nvPr/>
        </p:nvSpPr>
        <p:spPr>
          <a:xfrm xmlns:a="http://schemas.openxmlformats.org/drawingml/2006/main">
            <a:off x="914400" y="3931920"/>
            <a:ext cx="10972800"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spcBef>
                <a:spcPts val="0"/>
              </a:spcBef>
              <a:spcAft>
                <a:spcPts val="0"/>
              </a:spcAft>
              <a:buNone/>
            </a:pPr>
            <a:r>
              <a:rPr sz="2800" b="1" i="0" u="none" strike="noStrike" cap="none">
                <a:solidFill>
                  <a:srgbClr val="0F0F0F"/>
                </a:solidFill>
                <a:latin typeface="Instrument Sans"/>
                <a:ea typeface="Instrument Sans"/>
                <a:cs typeface="Instrument Sans"/>
              </a:rPr>
              <a:t>EasyAI / Oleksiy Onishchenko / Solo builder</a:t>
            </a:r>
            <a:endParaRPr/>
          </a:p>
        </p:txBody>
      </p:sp>
      <p:sp>
        <p:nvSpPr>
          <p:cNvPr id="179" name="Google Shape;179;p17">
            <a:extLst xmlns:a="http://schemas.openxmlformats.org/drawingml/2006/main">
              <a:ext uri="{FF2B5EF4-FFF2-40B4-BE49-F238E27FC236}">
                <a16:creationId xmlns:a16="http://schemas.microsoft.com/office/drawing/2014/main" id="{35D6B7B7-FA3E-4A8D-B511-03A2E588A0A5}"/>
              </a:ext>
            </a:extLst>
          </p:cNvPr>
          <p:cNvSpPr>
            <a:spLocks xmlns:a="http://schemas.openxmlformats.org/drawingml/2006/main" noGrp="1"/>
          </p:cNvSpPr>
          <p:nvPr/>
        </p:nvSpPr>
        <p:spPr>
          <a:xfrm xmlns:a="http://schemas.openxmlformats.org/drawingml/2006/main">
            <a:off x="914400" y="4709160"/>
            <a:ext cx="11612880" cy="1351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2400">
                <a:solidFill>
                  <a:srgbClr val="2A2A2A"/>
                </a:solidFill>
                <a:latin typeface="Instrument Sans"/>
                <a:ea typeface="Instrument Sans"/>
                <a:cs typeface="Instrument Sans"/>
              </a:defRPr>
            </a:defPPr>
            <a:lvl1pPr>
              <a:buNone/>
              <a:defRPr sz="2400">
                <a:solidFill>
                  <a:srgbClr val="2A2A2A"/>
                </a:solidFill>
                <a:latin typeface="Instrument Sans"/>
                <a:ea typeface="Instrument Sans"/>
                <a:cs typeface="Instrument Sans"/>
              </a:defRPr>
            </a:lvl1pPr>
            <a:lvl2pPr>
              <a:buNone/>
              <a:defRPr sz="2400">
                <a:solidFill>
                  <a:srgbClr val="2A2A2A"/>
                </a:solidFill>
                <a:latin typeface="Instrument Sans"/>
                <a:ea typeface="Instrument Sans"/>
                <a:cs typeface="Instrument Sans"/>
              </a:defRPr>
            </a:lvl2pPr>
            <a:lvl3pPr>
              <a:buNone/>
              <a:defRPr sz="2400">
                <a:solidFill>
                  <a:srgbClr val="2A2A2A"/>
                </a:solidFill>
                <a:latin typeface="Instrument Sans"/>
                <a:ea typeface="Instrument Sans"/>
                <a:cs typeface="Instrument Sans"/>
              </a:defRPr>
            </a:lvl3pPr>
            <a:lvl4pPr>
              <a:buNone/>
              <a:defRPr sz="2400">
                <a:solidFill>
                  <a:srgbClr val="2A2A2A"/>
                </a:solidFill>
                <a:latin typeface="Instrument Sans"/>
                <a:ea typeface="Instrument Sans"/>
                <a:cs typeface="Instrument Sans"/>
              </a:defRPr>
            </a:lvl4pPr>
            <a:lvl5pPr>
              <a:buNone/>
              <a:defRPr sz="2400">
                <a:solidFill>
                  <a:srgbClr val="2A2A2A"/>
                </a:solidFill>
                <a:latin typeface="Instrument Sans"/>
                <a:ea typeface="Instrument Sans"/>
                <a:cs typeface="Instrument Sans"/>
              </a:defRPr>
            </a:lvl5pPr>
            <a:lvl6pPr>
              <a:buNone/>
              <a:defRPr sz="2400">
                <a:solidFill>
                  <a:srgbClr val="2A2A2A"/>
                </a:solidFill>
                <a:latin typeface="Instrument Sans"/>
                <a:ea typeface="Instrument Sans"/>
                <a:cs typeface="Instrument Sans"/>
              </a:defRPr>
            </a:lvl6pPr>
            <a:lvl7pPr>
              <a:buNone/>
              <a:defRPr sz="2400">
                <a:solidFill>
                  <a:srgbClr val="2A2A2A"/>
                </a:solidFill>
                <a:latin typeface="Instrument Sans"/>
                <a:ea typeface="Instrument Sans"/>
                <a:cs typeface="Instrument Sans"/>
              </a:defRPr>
            </a:lvl7pPr>
            <a:lvl8pPr>
              <a:buNone/>
              <a:defRPr sz="2400">
                <a:solidFill>
                  <a:srgbClr val="2A2A2A"/>
                </a:solidFill>
                <a:latin typeface="Instrument Sans"/>
                <a:ea typeface="Instrument Sans"/>
                <a:cs typeface="Instrument Sans"/>
              </a:defRPr>
            </a:lvl8pPr>
            <a:lvl9pPr>
              <a:buNone/>
              <a:defRPr sz="2400">
                <a:solidFill>
                  <a:srgbClr val="2A2A2A"/>
                </a:solidFill>
                <a:latin typeface="Instrument Sans"/>
                <a:ea typeface="Instrument Sans"/>
                <a:cs typeface="Instrument Sans"/>
              </a:defRPr>
            </a:lvl9pPr>
          </a:lstStyle>
          <a:p xmlns:a="http://schemas.openxmlformats.org/drawingml/2006/main">
            <a:pPr marL="411480" marR="0" lvl="0" indent="-411480" algn="l">
              <a:spcBef>
                <a:spcPts val="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25+ years in software, including fintech and cloud systems.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Solo engineer behind empiro.io and gleamit.io production marketplaces.</a:t>
            </a:r>
            <a:endParaRPr/>
          </a:p>
          <a:p xmlns:a="http://schemas.openxmlformats.org/drawingml/2006/main">
            <a:pPr marL="411480" marR="0" lvl="0" indent="-411480" algn="l">
              <a:spcBef>
                <a:spcPts val="1000"/>
              </a:spcBef>
              <a:spcAft>
                <a:spcPts val="0"/>
              </a:spcAft>
              <a:buClr>
                <a:srgbClr val="0F0F0F"/>
              </a:buClr>
              <a:buSzPts val="2400"/>
              <a:buFont typeface="Arial"/>
              <a:buChar char="►"/>
              <a:defRPr sz="2400">
                <a:solidFill>
                  <a:srgbClr val="2A2A2A"/>
                </a:solidFill>
                <a:latin typeface="Instrument Sans"/>
                <a:ea typeface="Instrument Sans"/>
                <a:cs typeface="Instrument Sans"/>
              </a:defRPr>
            </a:pPr>
            <a:r>
              <a:rPr sz="2400" b="0" i="0" u="none" strike="noStrike" cap="none">
                <a:solidFill>
                  <a:srgbClr val="2A2A2A"/>
                </a:solidFill>
                <a:latin typeface="Instrument Sans"/>
                <a:ea typeface="Instrument Sans"/>
                <a:cs typeface="Instrument Sans"/>
              </a:rPr>
              <a:t>Former 3Commas Engineering Manager and R&amp;D Engineering Director.</a:t>
            </a:r>
            <a:endParaRPr/>
          </a:p>
        </p:txBody>
      </p:sp>
      <p:sp>
        <p:nvSpPr>
          <p:cNvPr id="180" name="Google Shape;180;p17">
            <a:extLst xmlns:a="http://schemas.openxmlformats.org/drawingml/2006/main">
              <a:ext uri="{FF2B5EF4-FFF2-40B4-BE49-F238E27FC236}">
                <a16:creationId xmlns:a16="http://schemas.microsoft.com/office/drawing/2014/main" id="{20BBFE67-E7D7-4DA5-A12C-DB5FCDDD0046}"/>
              </a:ext>
            </a:extLst>
          </p:cNvPr>
          <p:cNvSpPr>
            <a:spLocks xmlns:a="http://schemas.openxmlformats.org/drawingml/2006/main" noGrp="1"/>
          </p:cNvSpPr>
          <p:nvPr/>
        </p:nvSpPr>
        <p:spPr>
          <a:xfrm xmlns:a="http://schemas.openxmlformats.org/drawingml/2006/main">
            <a:off x="914400" y="7086600"/>
            <a:ext cx="10789920" cy="1051560"/>
          </a:xfrm>
          <a:prstGeom xmlns:a="http://schemas.openxmlformats.org/drawingml/2006/main" prst="roundRect">
            <a:avLst>
              <a:gd name="adj" fmla="val 22000"/>
            </a:avLst>
          </a:prstGeom>
          <a:solidFill xmlns:a="http://schemas.openxmlformats.org/drawingml/2006/main">
            <a:srgbClr val="FFFFFF"/>
          </a:solidFill>
          <a:ln xmlns:a="http://schemas.openxmlformats.org/drawingml/2006/main" w="38100" cap="flat" cmpd="sng">
            <a:solidFill>
              <a:srgbClr val="FDDA24"/>
            </a:solidFill>
            <a:prstDash val="solid"/>
            <a:round/>
            <a:headEnd type="none" w="sm" len="sm"/>
            <a:tailEnd type="none" w="sm" len="sm"/>
          </a:ln>
        </p:spPr>
        <p:txBody>
          <a:bodyPr xmlns:a="http://schemas.openxmlformats.org/drawingml/2006/main" spcFirstLastPara="1" wrap="square" lIns="365750" tIns="0" rIns="365750" bIns="0" anchor="ctr">
            <a:noAutofit/>
          </a:bodyPr>
          <a:lstStyle xmlns:a="http://schemas.openxmlformats.org/drawingml/2006/main"/>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Hackathon role: idea, implementation and MVP demo.</a:t>
            </a:r>
            <a:endParaRPr/>
          </a:p>
          <a:p xmlns:a="http://schemas.openxmlformats.org/drawingml/2006/main">
            <a:pPr marL="0" marR="0" lvl="0" indent="0" algn="l">
              <a:spcBef>
                <a:spcPts val="0"/>
              </a:spcBef>
              <a:spcAft>
                <a:spcPts val="0"/>
              </a:spcAft>
              <a:buNone/>
            </a:pPr>
            <a:r>
              <a:rPr sz="2400" b="1" i="0" u="none" strike="noStrike" cap="none">
                <a:solidFill>
                  <a:srgbClr val="0F0F0F"/>
                </a:solidFill>
                <a:latin typeface="Instrument Sans"/>
                <a:ea typeface="Instrument Sans"/>
                <a:cs typeface="Instrument Sans"/>
              </a:rPr>
              <a:t>AI support: ChatGPT planning and Codex engineering.</a:t>
            </a:r>
            <a:endParaRPr/>
          </a:p>
        </p:txBody>
      </p:sp>
      <p:sp>
        <p:nvSpPr>
          <p:cNvPr id="181" name="Google Shape;181;p17">
            <a:extLst xmlns:a="http://schemas.openxmlformats.org/drawingml/2006/main">
              <a:ext uri="{FF2B5EF4-FFF2-40B4-BE49-F238E27FC236}">
                <a16:creationId xmlns:a16="http://schemas.microsoft.com/office/drawing/2014/main" id="{4E6824C6-79EC-4B05-B1A8-90676CE9D402}"/>
              </a:ext>
            </a:extLst>
          </p:cNvPr>
          <p:cNvSpPr>
            <a:spLocks xmlns:a="http://schemas.openxmlformats.org/drawingml/2006/main" noGrp="1"/>
          </p:cNvSpPr>
          <p:nvPr/>
        </p:nvSpPr>
        <p:spPr>
          <a:xfrm xmlns:a="http://schemas.openxmlformats.org/drawingml/2006/main">
            <a:off x="12893040" y="4023360"/>
            <a:ext cx="4480560" cy="2597771"/>
          </a:xfrm>
          <a:custGeom xmlns:a="http://schemas.openxmlformats.org/drawingml/2006/main">
            <a:rect l="l" t="t" r="r" b="b"/>
            <a:pathLst>
              <a:path w="4480560" h="2597771">
                <a:moveTo>
                  <a:pt x="0" y="0"/>
                </a:moveTo>
                <a:lnTo>
                  <a:pt x="0" y="1000976"/>
                </a:lnTo>
                <a:lnTo>
                  <a:pt x="2240280" y="2597771"/>
                </a:lnTo>
                <a:lnTo>
                  <a:pt x="4480560" y="1000976"/>
                </a:lnTo>
                <a:lnTo>
                  <a:pt x="4480560" y="0"/>
                </a:lnTo>
                <a:lnTo>
                  <a:pt x="2240280" y="1358467"/>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2" name="Google Shape;182;p17">
            <a:extLst xmlns:a="http://schemas.openxmlformats.org/drawingml/2006/main">
              <a:ext uri="{FF2B5EF4-FFF2-40B4-BE49-F238E27FC236}">
                <a16:creationId xmlns:a16="http://schemas.microsoft.com/office/drawing/2014/main" id="{79D5CF23-AC89-4CAA-A941-2FD485BE86B3}"/>
              </a:ext>
            </a:extLst>
          </p:cNvPr>
          <p:cNvSpPr>
            <a:spLocks xmlns:a="http://schemas.openxmlformats.org/drawingml/2006/main" noGrp="1"/>
          </p:cNvSpPr>
          <p:nvPr/>
        </p:nvSpPr>
        <p:spPr>
          <a:xfrm xmlns:a="http://schemas.openxmlformats.org/drawingml/2006/main">
            <a:off x="12893040" y="5882315"/>
            <a:ext cx="1310802" cy="1620628"/>
          </a:xfrm>
          <a:custGeom xmlns:a="http://schemas.openxmlformats.org/drawingml/2006/main">
            <a:rect l="l" t="t" r="r" b="b"/>
            <a:pathLst>
              <a:path w="1310802" h="1620628">
                <a:moveTo>
                  <a:pt x="0" y="0"/>
                </a:moveTo>
                <a:lnTo>
                  <a:pt x="0" y="1620628"/>
                </a:lnTo>
                <a:lnTo>
                  <a:pt x="1310802"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3" name="Google Shape;183;p17">
            <a:extLst xmlns:a="http://schemas.openxmlformats.org/drawingml/2006/main">
              <a:ext uri="{FF2B5EF4-FFF2-40B4-BE49-F238E27FC236}">
                <a16:creationId xmlns:a16="http://schemas.microsoft.com/office/drawing/2014/main" id="{C28643D1-FE0A-4CAA-ADAC-3844982CEE2C}"/>
              </a:ext>
            </a:extLst>
          </p:cNvPr>
          <p:cNvSpPr>
            <a:spLocks xmlns:a="http://schemas.openxmlformats.org/drawingml/2006/main" noGrp="1"/>
          </p:cNvSpPr>
          <p:nvPr/>
        </p:nvSpPr>
        <p:spPr>
          <a:xfrm xmlns:a="http://schemas.openxmlformats.org/drawingml/2006/main">
            <a:off x="16062797" y="5882315"/>
            <a:ext cx="1310803" cy="1620628"/>
          </a:xfrm>
          <a:custGeom xmlns:a="http://schemas.openxmlformats.org/drawingml/2006/main">
            <a:rect l="l" t="t" r="r" b="b"/>
            <a:pathLst>
              <a:path w="1310803" h="1620628">
                <a:moveTo>
                  <a:pt x="1310803" y="0"/>
                </a:moveTo>
                <a:lnTo>
                  <a:pt x="1310803" y="1620628"/>
                </a:lnTo>
                <a:lnTo>
                  <a:pt x="0" y="786482"/>
                </a:lnTo>
                <a:close/>
              </a:path>
            </a:pathLst>
          </a:custGeom>
          <a:solidFill xmlns:a="http://schemas.openxmlformats.org/drawingml/2006/main">
            <a:srgbClr val="0F0F0F">
              <a:alpha val="7059"/>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4" name="Google Shape;184;p17">
            <a:extLst xmlns:a="http://schemas.openxmlformats.org/drawingml/2006/main">
              <a:ext uri="{FF2B5EF4-FFF2-40B4-BE49-F238E27FC236}">
                <a16:creationId xmlns:a16="http://schemas.microsoft.com/office/drawing/2014/main" id="{0B4A3FF3-8CD1-4D36-8C49-C4A9DD13E917}"/>
              </a:ext>
            </a:extLst>
          </p:cNvPr>
          <p:cNvSpPr>
            <a:spLocks xmlns:a="http://schemas.openxmlformats.org/drawingml/2006/main" noGrp="1"/>
          </p:cNvSpPr>
          <p:nvPr/>
        </p:nvSpPr>
        <p:spPr>
          <a:xfrm xmlns:a="http://schemas.openxmlformats.org/drawingml/2006/main" rot="5400000">
            <a:off x="15133320" y="7498079"/>
            <a:ext cx="502920" cy="502920"/>
          </a:xfrm>
          <a:prstGeom xmlns:a="http://schemas.openxmlformats.org/drawingml/2006/main" prst="triangle">
            <a:avLst>
              <a:gd name="adj" fmla="val 50000"/>
            </a:avLst>
          </a:prstGeom>
          <a:solidFill xmlns:a="http://schemas.openxmlformats.org/drawingml/2006/main">
            <a:srgbClr val="FDDA2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5" name="Google Shape;185;p17">
            <a:extLst xmlns:a="http://schemas.openxmlformats.org/drawingml/2006/main">
              <a:ext uri="{FF2B5EF4-FFF2-40B4-BE49-F238E27FC236}">
                <a16:creationId xmlns:a16="http://schemas.microsoft.com/office/drawing/2014/main" id="{1AED71B4-E6C7-441A-9074-165BDE7062C8}"/>
              </a:ext>
            </a:extLst>
          </p:cNvPr>
          <p:cNvSpPr>
            <a:spLocks xmlns:a="http://schemas.openxmlformats.org/drawingml/2006/main" noGrp="1"/>
          </p:cNvSpPr>
          <p:nvPr/>
        </p:nvSpPr>
        <p:spPr>
          <a:xfrm xmlns:a="http://schemas.openxmlformats.org/drawingml/2006/main" rot="5400000">
            <a:off x="15611094" y="7498079"/>
            <a:ext cx="502920" cy="502920"/>
          </a:xfrm>
          <a:prstGeom xmlns:a="http://schemas.openxmlformats.org/drawingml/2006/main" prst="triangle">
            <a:avLst>
              <a:gd name="adj" fmla="val 50000"/>
            </a:avLst>
          </a:prstGeom>
          <a:solidFill xmlns:a="http://schemas.openxmlformats.org/drawingml/2006/main">
            <a:srgbClr val="FDDA24">
              <a:alpha val="60000"/>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6" name="Google Shape;186;p17">
            <a:extLst xmlns:a="http://schemas.openxmlformats.org/drawingml/2006/main">
              <a:ext uri="{FF2B5EF4-FFF2-40B4-BE49-F238E27FC236}">
                <a16:creationId xmlns:a16="http://schemas.microsoft.com/office/drawing/2014/main" id="{3425FFAF-AD96-460D-A358-EEC17E39B7EC}"/>
              </a:ext>
            </a:extLst>
          </p:cNvPr>
          <p:cNvSpPr>
            <a:spLocks xmlns:a="http://schemas.openxmlformats.org/drawingml/2006/main" noGrp="1"/>
          </p:cNvSpPr>
          <p:nvPr/>
        </p:nvSpPr>
        <p:spPr>
          <a:xfrm xmlns:a="http://schemas.openxmlformats.org/drawingml/2006/main" rot="5400000">
            <a:off x="16088867" y="7498079"/>
            <a:ext cx="502920" cy="502920"/>
          </a:xfrm>
          <a:prstGeom xmlns:a="http://schemas.openxmlformats.org/drawingml/2006/main" prst="triangle">
            <a:avLst>
              <a:gd name="adj" fmla="val 50000"/>
            </a:avLst>
          </a:prstGeom>
          <a:solidFill xmlns:a="http://schemas.openxmlformats.org/drawingml/2006/main">
            <a:srgbClr val="FDDA24">
              <a:alpha val="30196"/>
            </a:srgb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7" name="Google Shape;187;p17">
            <a:extLst xmlns:a="http://schemas.openxmlformats.org/drawingml/2006/main">
              <a:ext uri="{FF2B5EF4-FFF2-40B4-BE49-F238E27FC236}">
                <a16:creationId xmlns:a16="http://schemas.microsoft.com/office/drawing/2014/main" id="{35FD91CA-BBB3-4339-9424-ACAD4E6088B9}"/>
              </a:ext>
            </a:extLst>
          </p:cNvPr>
          <p:cNvSpPr>
            <a:spLocks xmlns:a="http://schemas.openxmlformats.org/drawingml/2006/main" noGrp="1"/>
          </p:cNvSpPr>
          <p:nvPr/>
        </p:nvSpPr>
        <p:spPr>
          <a:xfrm xmlns:a="http://schemas.openxmlformats.org/drawingml/2006/main">
            <a:off x="914400" y="8915400"/>
            <a:ext cx="16459200" cy="13716"/>
          </a:xfrm>
          <a:prstGeom xmlns:a="http://schemas.openxmlformats.org/drawingml/2006/main" prst="rect">
            <a:avLst/>
          </a:prstGeom>
          <a:solidFill xmlns:a="http://schemas.openxmlformats.org/drawingml/2006/main">
            <a:srgbClr val="DFDDD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800" b="0" i="0" u="none" strike="noStrike" cap="none">
              <a:solidFill>
                <a:schemeClr val="dk1"/>
              </a:solidFill>
              <a:latin typeface="Instrument Sans"/>
              <a:ea typeface="Instrument Sans"/>
              <a:cs typeface="Instrument Sans"/>
            </a:endParaRPr>
          </a:p>
        </p:txBody>
      </p:sp>
      <p:sp>
        <p:nvSpPr>
          <p:cNvPr id="188" name="Google Shape;188;p17">
            <a:extLst xmlns:a="http://schemas.openxmlformats.org/drawingml/2006/main">
              <a:ext uri="{FF2B5EF4-FFF2-40B4-BE49-F238E27FC236}">
                <a16:creationId xmlns:a16="http://schemas.microsoft.com/office/drawing/2014/main" id="{C23EDC0D-2B1F-43C9-A157-7F044362B986}"/>
              </a:ext>
            </a:extLst>
          </p:cNvPr>
          <p:cNvSpPr>
            <a:spLocks xmlns:a="http://schemas.openxmlformats.org/drawingml/2006/main" noGrp="1"/>
          </p:cNvSpPr>
          <p:nvPr/>
        </p:nvSpPr>
        <p:spPr>
          <a:xfrm xmlns:a="http://schemas.openxmlformats.org/drawingml/2006/main">
            <a:off x="914400" y="9253728"/>
            <a:ext cx="9144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l">
              <a:spcBef>
                <a:spcPts val="0"/>
              </a:spcBef>
              <a:spcAft>
                <a:spcPts val="0"/>
              </a:spcAft>
              <a:buNone/>
            </a:pPr>
            <a:r>
              <a:rPr sz="1200" b="0" i="0" u="none" strike="noStrike" cap="none">
                <a:solidFill>
                  <a:srgbClr val="5C5C5C"/>
                </a:solidFill>
                <a:latin typeface="JetBrains Mono"/>
                <a:ea typeface="JetBrains Mono"/>
                <a:cs typeface="JetBrains Mono"/>
              </a:rPr>
              <a:t>© 2026 HackMeridian · Lisbon  ·  #HackMeridian26</a:t>
            </a:r>
            <a:endParaRPr/>
          </a:p>
        </p:txBody>
      </p:sp>
      <p:pic>
        <p:nvPicPr>
          <p:cNvPr id="189" name="Google Shape;189;p17">
            <a:extLst xmlns:a="http://schemas.openxmlformats.org/drawingml/2006/main">
              <a:ext uri="{FF2B5EF4-FFF2-40B4-BE49-F238E27FC236}">
                <a16:creationId xmlns:a16="http://schemas.microsoft.com/office/drawing/2014/main" id="{1358CD7C-9FED-4128-A9E4-F9737F303F2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a9ebcb5425a4d1e">
            <a:alphaModFix/>
          </a:blip>
          <a:srcRect xmlns:a="http://schemas.openxmlformats.org/drawingml/2006/main" l="0" t="0" r="0" b="0"/>
          <a:stretch xmlns:a="http://schemas.openxmlformats.org/drawingml/2006/main"/>
        </p:blipFill>
        <p:spPr>
          <a:xfrm xmlns:a="http://schemas.openxmlformats.org/drawingml/2006/main">
            <a:off x="14859000" y="9171432"/>
            <a:ext cx="2517969" cy="438912"/>
          </a:xfrm>
          <a:prstGeom xmlns:a="http://schemas.openxmlformats.org/drawingml/2006/main" prst="rect">
            <a:avLst/>
          </a:prstGeom>
          <a:ln xmlns:a="http://schemas.openxmlformats.org/drawingml/2006/main">
            <a:noFill/>
          </a:ln>
        </p:spPr>
      </p:pic>
      <p:sp>
        <p:nvSpPr>
          <p:cNvPr id="190" name="MVP target / Synthetic credentials / Res">
            <a:extLst xmlns:a="http://schemas.openxmlformats.org/drawingml/2006/main">
              <a:ext uri="{FF2B5EF4-FFF2-40B4-BE49-F238E27FC236}">
                <a16:creationId xmlns:a16="http://schemas.microsoft.com/office/drawing/2014/main" id="{ABE81326-9827-4678-A205-78A69B8672E5}"/>
              </a:ext>
            </a:extLst>
          </p:cNvPr>
          <p:cNvSpPr>
            <a:spLocks xmlns:a="http://schemas.openxmlformats.org/drawingml/2006/main" noGrp="1"/>
          </p:cNvSpPr>
          <p:nvPr/>
        </p:nvSpPr>
        <p:spPr>
          <a:xfrm xmlns:a="http://schemas.openxmlformats.org/drawingml/2006/main">
            <a:off x="914400" y="84201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00">
                <a:solidFill>
                  <a:srgbClr val="5C5C5C"/>
                </a:solidFill>
                <a:latin typeface="JetBrains Mono"/>
                <a:ea typeface="JetBrains Mono"/>
                <a:cs typeface="JetBrains Mono"/>
              </a:defRPr>
            </a:defPPr>
            <a:lvl1pPr>
              <a:buNone/>
              <a:defRPr sz="1400">
                <a:solidFill>
                  <a:srgbClr val="5C5C5C"/>
                </a:solidFill>
                <a:latin typeface="JetBrains Mono"/>
                <a:ea typeface="JetBrains Mono"/>
                <a:cs typeface="JetBrains Mono"/>
              </a:defRPr>
            </a:lvl1pPr>
            <a:lvl2pPr>
              <a:buNone/>
              <a:defRPr sz="1400">
                <a:solidFill>
                  <a:srgbClr val="5C5C5C"/>
                </a:solidFill>
                <a:latin typeface="JetBrains Mono"/>
                <a:ea typeface="JetBrains Mono"/>
                <a:cs typeface="JetBrains Mono"/>
              </a:defRPr>
            </a:lvl2pPr>
            <a:lvl3pPr>
              <a:buNone/>
              <a:defRPr sz="1400">
                <a:solidFill>
                  <a:srgbClr val="5C5C5C"/>
                </a:solidFill>
                <a:latin typeface="JetBrains Mono"/>
                <a:ea typeface="JetBrains Mono"/>
                <a:cs typeface="JetBrains Mono"/>
              </a:defRPr>
            </a:lvl3pPr>
            <a:lvl4pPr>
              <a:buNone/>
              <a:defRPr sz="1400">
                <a:solidFill>
                  <a:srgbClr val="5C5C5C"/>
                </a:solidFill>
                <a:latin typeface="JetBrains Mono"/>
                <a:ea typeface="JetBrains Mono"/>
                <a:cs typeface="JetBrains Mono"/>
              </a:defRPr>
            </a:lvl4pPr>
            <a:lvl5pPr>
              <a:buNone/>
              <a:defRPr sz="1400">
                <a:solidFill>
                  <a:srgbClr val="5C5C5C"/>
                </a:solidFill>
                <a:latin typeface="JetBrains Mono"/>
                <a:ea typeface="JetBrains Mono"/>
                <a:cs typeface="JetBrains Mono"/>
              </a:defRPr>
            </a:lvl5pPr>
            <a:lvl6pPr>
              <a:buNone/>
              <a:defRPr sz="1400">
                <a:solidFill>
                  <a:srgbClr val="5C5C5C"/>
                </a:solidFill>
                <a:latin typeface="JetBrains Mono"/>
                <a:ea typeface="JetBrains Mono"/>
                <a:cs typeface="JetBrains Mono"/>
              </a:defRPr>
            </a:lvl6pPr>
            <a:lvl7pPr>
              <a:buNone/>
              <a:defRPr sz="1400">
                <a:solidFill>
                  <a:srgbClr val="5C5C5C"/>
                </a:solidFill>
                <a:latin typeface="JetBrains Mono"/>
                <a:ea typeface="JetBrains Mono"/>
                <a:cs typeface="JetBrains Mono"/>
              </a:defRPr>
            </a:lvl7pPr>
            <a:lvl8pPr>
              <a:buNone/>
              <a:defRPr sz="1400">
                <a:solidFill>
                  <a:srgbClr val="5C5C5C"/>
                </a:solidFill>
                <a:latin typeface="JetBrains Mono"/>
                <a:ea typeface="JetBrains Mono"/>
                <a:cs typeface="JetBrains Mono"/>
              </a:defRPr>
            </a:lvl8pPr>
            <a:lvl9pPr>
              <a:buNone/>
              <a:defRPr sz="1400">
                <a:solidFill>
                  <a:srgbClr val="5C5C5C"/>
                </a:solidFill>
                <a:latin typeface="JetBrains Mono"/>
                <a:ea typeface="JetBrains Mono"/>
                <a:cs typeface="JetBrains Mono"/>
              </a:defRPr>
            </a:lvl9pPr>
          </a:lstStyle>
          <a:p xmlns:a="http://schemas.openxmlformats.org/drawingml/2006/main">
            <a:pPr>
              <a:buNone/>
              <a:defRPr sz="1400">
                <a:solidFill>
                  <a:srgbClr val="5C5C5C"/>
                </a:solidFill>
                <a:latin typeface="JetBrains Mono"/>
                <a:ea typeface="JetBrains Mono"/>
                <a:cs typeface="JetBrains Mono"/>
              </a:defRPr>
            </a:pPr>
            <a:r>
              <a:rPr sz="1400">
                <a:solidFill>
                  <a:srgbClr val="5C5C5C"/>
                </a:solidFill>
                <a:latin typeface="JetBrains Mono"/>
                <a:ea typeface="JetBrains Mono"/>
                <a:cs typeface="JetBrains Mono"/>
              </a:rPr>
              <a:t>MVP target / Synthetic credentials / Results pending implementation</a:t>
            </a:r>
          </a:p>
        </p:txBody>
      </p:sp>
    </p:spTree>
    <p:extLst>
      <p:ext uri="{BB962C8B-B14F-4D97-AF65-F5344CB8AC3E}">
        <p14:creationId xmlns:p14="http://schemas.microsoft.com/office/powerpoint/2010/main" val="139900767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2026-10-25T23:23:31.6400000Z</dcterms:created>
  <dcterms:modified xsi:type="dcterms:W3CDTF">2026-10-25T23:23:31.6400000Z</dcterms:modified>
</coreProperties>
</file>